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5" r:id="rId1"/>
  </p:sldMasterIdLst>
  <p:sldIdLst>
    <p:sldId id="256" r:id="rId2"/>
    <p:sldId id="308" r:id="rId3"/>
    <p:sldId id="288" r:id="rId4"/>
    <p:sldId id="257" r:id="rId5"/>
    <p:sldId id="258" r:id="rId6"/>
    <p:sldId id="286" r:id="rId7"/>
    <p:sldId id="289" r:id="rId8"/>
    <p:sldId id="290" r:id="rId9"/>
    <p:sldId id="291" r:id="rId10"/>
    <p:sldId id="292" r:id="rId11"/>
    <p:sldId id="260" r:id="rId12"/>
    <p:sldId id="287" r:id="rId13"/>
    <p:sldId id="293" r:id="rId14"/>
    <p:sldId id="294" r:id="rId15"/>
    <p:sldId id="295" r:id="rId16"/>
    <p:sldId id="296" r:id="rId17"/>
    <p:sldId id="297" r:id="rId18"/>
    <p:sldId id="298" r:id="rId19"/>
    <p:sldId id="299" r:id="rId20"/>
    <p:sldId id="301" r:id="rId21"/>
    <p:sldId id="302" r:id="rId22"/>
    <p:sldId id="300" r:id="rId23"/>
    <p:sldId id="303" r:id="rId24"/>
    <p:sldId id="304" r:id="rId25"/>
    <p:sldId id="305" r:id="rId26"/>
    <p:sldId id="306" r:id="rId27"/>
    <p:sldId id="307" r:id="rId28"/>
    <p:sldId id="309" r:id="rId29"/>
    <p:sldId id="310" r:id="rId30"/>
    <p:sldId id="313" r:id="rId31"/>
    <p:sldId id="311" r:id="rId32"/>
    <p:sldId id="312" r:id="rId33"/>
    <p:sldId id="315" r:id="rId34"/>
    <p:sldId id="314" r:id="rId35"/>
    <p:sldId id="316" r:id="rId36"/>
    <p:sldId id="319" r:id="rId37"/>
    <p:sldId id="317" r:id="rId38"/>
    <p:sldId id="318" r:id="rId39"/>
    <p:sldId id="264" r:id="rId40"/>
    <p:sldId id="320" r:id="rId41"/>
    <p:sldId id="323" r:id="rId42"/>
    <p:sldId id="321" r:id="rId43"/>
    <p:sldId id="322" r:id="rId44"/>
    <p:sldId id="263" r:id="rId45"/>
    <p:sldId id="328" r:id="rId46"/>
    <p:sldId id="327" r:id="rId47"/>
    <p:sldId id="325" r:id="rId48"/>
    <p:sldId id="329" r:id="rId49"/>
    <p:sldId id="341" r:id="rId50"/>
    <p:sldId id="330" r:id="rId51"/>
    <p:sldId id="331" r:id="rId52"/>
    <p:sldId id="342" r:id="rId53"/>
    <p:sldId id="335" r:id="rId54"/>
    <p:sldId id="332" r:id="rId55"/>
    <p:sldId id="333" r:id="rId56"/>
    <p:sldId id="334" r:id="rId57"/>
    <p:sldId id="336" r:id="rId58"/>
    <p:sldId id="337" r:id="rId59"/>
    <p:sldId id="338" r:id="rId60"/>
    <p:sldId id="339" r:id="rId61"/>
    <p:sldId id="343" r:id="rId62"/>
    <p:sldId id="344" r:id="rId63"/>
    <p:sldId id="345" r:id="rId64"/>
    <p:sldId id="347" r:id="rId65"/>
    <p:sldId id="348" r:id="rId66"/>
    <p:sldId id="349" r:id="rId67"/>
    <p:sldId id="35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BC225D-351D-475B-90A8-5C923538C9ED}" type="doc">
      <dgm:prSet loTypeId="urn:microsoft.com/office/officeart/2005/8/layout/radial5" loCatId="cycle" qsTypeId="urn:microsoft.com/office/officeart/2005/8/quickstyle/3d1" qsCatId="3D" csTypeId="urn:microsoft.com/office/officeart/2005/8/colors/accent1_2" csCatId="accent1" phldr="1"/>
      <dgm:spPr/>
      <dgm:t>
        <a:bodyPr/>
        <a:lstStyle/>
        <a:p>
          <a:endParaRPr lang="en-IN"/>
        </a:p>
      </dgm:t>
    </dgm:pt>
    <dgm:pt modelId="{6C8FF7B0-EC4D-4F4B-8C6D-85145FAC79BF}">
      <dgm:prSet phldrT="[Text]" custT="1"/>
      <dgm:spPr/>
      <dgm:t>
        <a:bodyPr/>
        <a:lstStyle/>
        <a:p>
          <a:r>
            <a:rPr lang="en-IN" sz="1600" dirty="0" smtClean="0">
              <a:solidFill>
                <a:schemeClr val="tx1"/>
              </a:solidFill>
            </a:rPr>
            <a:t>Vulcanization rate</a:t>
          </a:r>
          <a:endParaRPr lang="en-IN" sz="1600" dirty="0">
            <a:solidFill>
              <a:schemeClr val="tx1"/>
            </a:solidFill>
          </a:endParaRPr>
        </a:p>
      </dgm:t>
    </dgm:pt>
    <dgm:pt modelId="{238F3DFC-0D9E-4DC6-B6F0-F7E3D0698616}" type="parTrans" cxnId="{DA68BBB0-CB26-4117-A29C-76A598BCAC1D}">
      <dgm:prSet/>
      <dgm:spPr/>
      <dgm:t>
        <a:bodyPr/>
        <a:lstStyle/>
        <a:p>
          <a:endParaRPr lang="en-IN"/>
        </a:p>
      </dgm:t>
    </dgm:pt>
    <dgm:pt modelId="{C69B6D0B-A85F-4BCD-8612-AB73931553BE}" type="sibTrans" cxnId="{DA68BBB0-CB26-4117-A29C-76A598BCAC1D}">
      <dgm:prSet/>
      <dgm:spPr/>
      <dgm:t>
        <a:bodyPr/>
        <a:lstStyle/>
        <a:p>
          <a:endParaRPr lang="en-IN"/>
        </a:p>
      </dgm:t>
    </dgm:pt>
    <dgm:pt modelId="{B83E484C-36C5-4528-8C23-74E287575517}">
      <dgm:prSet phldrT="[Text]" custT="1"/>
      <dgm:spPr/>
      <dgm:t>
        <a:bodyPr/>
        <a:lstStyle/>
        <a:p>
          <a:r>
            <a:rPr lang="en-IN" sz="1600" dirty="0" smtClean="0">
              <a:solidFill>
                <a:schemeClr val="tx1"/>
              </a:solidFill>
            </a:rPr>
            <a:t>Delayed action</a:t>
          </a:r>
          <a:endParaRPr lang="en-IN" sz="1600" dirty="0">
            <a:solidFill>
              <a:schemeClr val="tx1"/>
            </a:solidFill>
          </a:endParaRPr>
        </a:p>
      </dgm:t>
    </dgm:pt>
    <dgm:pt modelId="{036CB057-2480-49D7-8CC6-EE2AE036D246}" type="parTrans" cxnId="{8CF3F8DF-2C82-4D18-895F-835BFCE722A3}">
      <dgm:prSet/>
      <dgm:spPr/>
      <dgm:t>
        <a:bodyPr/>
        <a:lstStyle/>
        <a:p>
          <a:endParaRPr lang="en-IN"/>
        </a:p>
      </dgm:t>
    </dgm:pt>
    <dgm:pt modelId="{24750089-F2AA-4888-9AB1-B7D2D2016A02}" type="sibTrans" cxnId="{8CF3F8DF-2C82-4D18-895F-835BFCE722A3}">
      <dgm:prSet/>
      <dgm:spPr/>
      <dgm:t>
        <a:bodyPr/>
        <a:lstStyle/>
        <a:p>
          <a:endParaRPr lang="en-IN"/>
        </a:p>
      </dgm:t>
    </dgm:pt>
    <dgm:pt modelId="{742D2890-17BC-471F-BDEC-0CDABA83BD0A}">
      <dgm:prSet phldrT="[Text]" custT="1"/>
      <dgm:spPr/>
      <dgm:t>
        <a:bodyPr/>
        <a:lstStyle/>
        <a:p>
          <a:r>
            <a:rPr lang="en-IN" sz="1600" dirty="0" smtClean="0">
              <a:solidFill>
                <a:schemeClr val="tx1"/>
              </a:solidFill>
            </a:rPr>
            <a:t>Slow</a:t>
          </a:r>
          <a:endParaRPr lang="en-IN" sz="1600" dirty="0">
            <a:solidFill>
              <a:schemeClr val="tx1"/>
            </a:solidFill>
          </a:endParaRPr>
        </a:p>
      </dgm:t>
    </dgm:pt>
    <dgm:pt modelId="{0B0DA08D-945F-4EF8-9515-B84FF861FFA9}" type="parTrans" cxnId="{AED7D962-629F-43E4-B4D9-C3A20F79724B}">
      <dgm:prSet/>
      <dgm:spPr/>
      <dgm:t>
        <a:bodyPr/>
        <a:lstStyle/>
        <a:p>
          <a:endParaRPr lang="en-IN"/>
        </a:p>
      </dgm:t>
    </dgm:pt>
    <dgm:pt modelId="{3DCDEF52-BC74-45E9-BA39-E9AD73B600D5}" type="sibTrans" cxnId="{AED7D962-629F-43E4-B4D9-C3A20F79724B}">
      <dgm:prSet/>
      <dgm:spPr/>
      <dgm:t>
        <a:bodyPr/>
        <a:lstStyle/>
        <a:p>
          <a:endParaRPr lang="en-IN"/>
        </a:p>
      </dgm:t>
    </dgm:pt>
    <dgm:pt modelId="{6B203A77-84E1-43D2-A13B-41D280EE7DB1}">
      <dgm:prSet phldrT="[Text]" custT="1"/>
      <dgm:spPr/>
      <dgm:t>
        <a:bodyPr/>
        <a:lstStyle/>
        <a:p>
          <a:r>
            <a:rPr lang="en-IN" sz="1600" dirty="0" smtClean="0">
              <a:solidFill>
                <a:schemeClr val="tx1"/>
              </a:solidFill>
            </a:rPr>
            <a:t>Medium</a:t>
          </a:r>
          <a:endParaRPr lang="en-IN" sz="1600" dirty="0">
            <a:solidFill>
              <a:schemeClr val="tx1"/>
            </a:solidFill>
          </a:endParaRPr>
        </a:p>
      </dgm:t>
    </dgm:pt>
    <dgm:pt modelId="{5CB39D48-311D-48BA-80DF-D55BB7988DE8}" type="parTrans" cxnId="{B11011BE-79C5-489B-B866-9E8F958734F4}">
      <dgm:prSet/>
      <dgm:spPr/>
      <dgm:t>
        <a:bodyPr/>
        <a:lstStyle/>
        <a:p>
          <a:endParaRPr lang="en-IN"/>
        </a:p>
      </dgm:t>
    </dgm:pt>
    <dgm:pt modelId="{951FD4C4-F026-405C-814F-6E194389FD6B}" type="sibTrans" cxnId="{B11011BE-79C5-489B-B866-9E8F958734F4}">
      <dgm:prSet/>
      <dgm:spPr/>
      <dgm:t>
        <a:bodyPr/>
        <a:lstStyle/>
        <a:p>
          <a:endParaRPr lang="en-IN"/>
        </a:p>
      </dgm:t>
    </dgm:pt>
    <dgm:pt modelId="{94923157-3E43-4D50-9653-BF03A0FD2A31}">
      <dgm:prSet phldrT="[Text]" custT="1"/>
      <dgm:spPr/>
      <dgm:t>
        <a:bodyPr/>
        <a:lstStyle/>
        <a:p>
          <a:r>
            <a:rPr lang="en-IN" sz="1600" dirty="0" smtClean="0">
              <a:solidFill>
                <a:schemeClr val="tx1"/>
              </a:solidFill>
            </a:rPr>
            <a:t>Fast / Ultrafast</a:t>
          </a:r>
          <a:endParaRPr lang="en-IN" sz="1600" dirty="0">
            <a:solidFill>
              <a:schemeClr val="tx1"/>
            </a:solidFill>
          </a:endParaRPr>
        </a:p>
      </dgm:t>
    </dgm:pt>
    <dgm:pt modelId="{DC8D8B91-4689-41BA-AFB1-CAE5122A73E1}" type="parTrans" cxnId="{541BD3BC-FFF3-421C-81D2-E952F277233A}">
      <dgm:prSet/>
      <dgm:spPr/>
      <dgm:t>
        <a:bodyPr/>
        <a:lstStyle/>
        <a:p>
          <a:endParaRPr lang="en-IN"/>
        </a:p>
      </dgm:t>
    </dgm:pt>
    <dgm:pt modelId="{F30E314D-ED4E-4C4A-8163-7F99DD058EDB}" type="sibTrans" cxnId="{541BD3BC-FFF3-421C-81D2-E952F277233A}">
      <dgm:prSet/>
      <dgm:spPr/>
      <dgm:t>
        <a:bodyPr/>
        <a:lstStyle/>
        <a:p>
          <a:endParaRPr lang="en-IN"/>
        </a:p>
      </dgm:t>
    </dgm:pt>
    <dgm:pt modelId="{24EF64BA-F04B-43F2-A17E-76016F1E3FF3}" type="pres">
      <dgm:prSet presAssocID="{FFBC225D-351D-475B-90A8-5C923538C9ED}" presName="Name0" presStyleCnt="0">
        <dgm:presLayoutVars>
          <dgm:chMax val="1"/>
          <dgm:dir/>
          <dgm:animLvl val="ctr"/>
          <dgm:resizeHandles val="exact"/>
        </dgm:presLayoutVars>
      </dgm:prSet>
      <dgm:spPr/>
      <dgm:t>
        <a:bodyPr/>
        <a:lstStyle/>
        <a:p>
          <a:endParaRPr lang="en-IN"/>
        </a:p>
      </dgm:t>
    </dgm:pt>
    <dgm:pt modelId="{3C0FE763-8D23-4E69-A360-5E53A4F77CCA}" type="pres">
      <dgm:prSet presAssocID="{6C8FF7B0-EC4D-4F4B-8C6D-85145FAC79BF}" presName="centerShape" presStyleLbl="node0" presStyleIdx="0" presStyleCnt="1" custScaleX="196966"/>
      <dgm:spPr/>
      <dgm:t>
        <a:bodyPr/>
        <a:lstStyle/>
        <a:p>
          <a:endParaRPr lang="en-IN"/>
        </a:p>
      </dgm:t>
    </dgm:pt>
    <dgm:pt modelId="{43C320F6-4FE3-4DED-8F8B-20C1676D0984}" type="pres">
      <dgm:prSet presAssocID="{036CB057-2480-49D7-8CC6-EE2AE036D246}" presName="parTrans" presStyleLbl="sibTrans2D1" presStyleIdx="0" presStyleCnt="4"/>
      <dgm:spPr/>
      <dgm:t>
        <a:bodyPr/>
        <a:lstStyle/>
        <a:p>
          <a:endParaRPr lang="en-IN"/>
        </a:p>
      </dgm:t>
    </dgm:pt>
    <dgm:pt modelId="{1FC1B045-6675-40AF-B657-91E8A219DF8B}" type="pres">
      <dgm:prSet presAssocID="{036CB057-2480-49D7-8CC6-EE2AE036D246}" presName="connectorText" presStyleLbl="sibTrans2D1" presStyleIdx="0" presStyleCnt="4"/>
      <dgm:spPr/>
      <dgm:t>
        <a:bodyPr/>
        <a:lstStyle/>
        <a:p>
          <a:endParaRPr lang="en-IN"/>
        </a:p>
      </dgm:t>
    </dgm:pt>
    <dgm:pt modelId="{DD6C2CEE-757D-49B2-83BB-B901D4A9CC4D}" type="pres">
      <dgm:prSet presAssocID="{B83E484C-36C5-4528-8C23-74E287575517}" presName="node" presStyleLbl="node1" presStyleIdx="0" presStyleCnt="4" custScaleX="140354">
        <dgm:presLayoutVars>
          <dgm:bulletEnabled val="1"/>
        </dgm:presLayoutVars>
      </dgm:prSet>
      <dgm:spPr/>
      <dgm:t>
        <a:bodyPr/>
        <a:lstStyle/>
        <a:p>
          <a:endParaRPr lang="en-IN"/>
        </a:p>
      </dgm:t>
    </dgm:pt>
    <dgm:pt modelId="{73776AE6-3FC5-411F-A548-88BB30C02523}" type="pres">
      <dgm:prSet presAssocID="{0B0DA08D-945F-4EF8-9515-B84FF861FFA9}" presName="parTrans" presStyleLbl="sibTrans2D1" presStyleIdx="1" presStyleCnt="4"/>
      <dgm:spPr/>
      <dgm:t>
        <a:bodyPr/>
        <a:lstStyle/>
        <a:p>
          <a:endParaRPr lang="en-IN"/>
        </a:p>
      </dgm:t>
    </dgm:pt>
    <dgm:pt modelId="{483FFCFB-9E69-43A9-91E0-75119F511F56}" type="pres">
      <dgm:prSet presAssocID="{0B0DA08D-945F-4EF8-9515-B84FF861FFA9}" presName="connectorText" presStyleLbl="sibTrans2D1" presStyleIdx="1" presStyleCnt="4"/>
      <dgm:spPr/>
      <dgm:t>
        <a:bodyPr/>
        <a:lstStyle/>
        <a:p>
          <a:endParaRPr lang="en-IN"/>
        </a:p>
      </dgm:t>
    </dgm:pt>
    <dgm:pt modelId="{DD3526FD-21AF-4DCE-A0D4-D1216E09021F}" type="pres">
      <dgm:prSet presAssocID="{742D2890-17BC-471F-BDEC-0CDABA83BD0A}" presName="node" presStyleLbl="node1" presStyleIdx="1" presStyleCnt="4" custRadScaleRad="114745">
        <dgm:presLayoutVars>
          <dgm:bulletEnabled val="1"/>
        </dgm:presLayoutVars>
      </dgm:prSet>
      <dgm:spPr/>
      <dgm:t>
        <a:bodyPr/>
        <a:lstStyle/>
        <a:p>
          <a:endParaRPr lang="en-IN"/>
        </a:p>
      </dgm:t>
    </dgm:pt>
    <dgm:pt modelId="{9ABED5D8-CE14-42E1-B9E2-0B3A48E1E278}" type="pres">
      <dgm:prSet presAssocID="{5CB39D48-311D-48BA-80DF-D55BB7988DE8}" presName="parTrans" presStyleLbl="sibTrans2D1" presStyleIdx="2" presStyleCnt="4"/>
      <dgm:spPr/>
      <dgm:t>
        <a:bodyPr/>
        <a:lstStyle/>
        <a:p>
          <a:endParaRPr lang="en-IN"/>
        </a:p>
      </dgm:t>
    </dgm:pt>
    <dgm:pt modelId="{8C7765C1-8A22-419A-A3C7-3B0902FB43B6}" type="pres">
      <dgm:prSet presAssocID="{5CB39D48-311D-48BA-80DF-D55BB7988DE8}" presName="connectorText" presStyleLbl="sibTrans2D1" presStyleIdx="2" presStyleCnt="4"/>
      <dgm:spPr/>
      <dgm:t>
        <a:bodyPr/>
        <a:lstStyle/>
        <a:p>
          <a:endParaRPr lang="en-IN"/>
        </a:p>
      </dgm:t>
    </dgm:pt>
    <dgm:pt modelId="{57177B94-19BB-4FB5-97C2-ACF3381B3592}" type="pres">
      <dgm:prSet presAssocID="{6B203A77-84E1-43D2-A13B-41D280EE7DB1}" presName="node" presStyleLbl="node1" presStyleIdx="2" presStyleCnt="4" custScaleX="128259">
        <dgm:presLayoutVars>
          <dgm:bulletEnabled val="1"/>
        </dgm:presLayoutVars>
      </dgm:prSet>
      <dgm:spPr/>
      <dgm:t>
        <a:bodyPr/>
        <a:lstStyle/>
        <a:p>
          <a:endParaRPr lang="en-IN"/>
        </a:p>
      </dgm:t>
    </dgm:pt>
    <dgm:pt modelId="{AA0A4F1F-6A4F-4A24-9E47-B048AA0A4E0F}" type="pres">
      <dgm:prSet presAssocID="{DC8D8B91-4689-41BA-AFB1-CAE5122A73E1}" presName="parTrans" presStyleLbl="sibTrans2D1" presStyleIdx="3" presStyleCnt="4"/>
      <dgm:spPr/>
      <dgm:t>
        <a:bodyPr/>
        <a:lstStyle/>
        <a:p>
          <a:endParaRPr lang="en-IN"/>
        </a:p>
      </dgm:t>
    </dgm:pt>
    <dgm:pt modelId="{F17E8DA9-B8A1-408C-8A43-84553883859B}" type="pres">
      <dgm:prSet presAssocID="{DC8D8B91-4689-41BA-AFB1-CAE5122A73E1}" presName="connectorText" presStyleLbl="sibTrans2D1" presStyleIdx="3" presStyleCnt="4"/>
      <dgm:spPr/>
      <dgm:t>
        <a:bodyPr/>
        <a:lstStyle/>
        <a:p>
          <a:endParaRPr lang="en-IN"/>
        </a:p>
      </dgm:t>
    </dgm:pt>
    <dgm:pt modelId="{732A8367-53FD-47E0-8CEC-795DB7A262C2}" type="pres">
      <dgm:prSet presAssocID="{94923157-3E43-4D50-9653-BF03A0FD2A31}" presName="node" presStyleLbl="node1" presStyleIdx="3" presStyleCnt="4" custScaleX="124190" custRadScaleRad="127517">
        <dgm:presLayoutVars>
          <dgm:bulletEnabled val="1"/>
        </dgm:presLayoutVars>
      </dgm:prSet>
      <dgm:spPr/>
      <dgm:t>
        <a:bodyPr/>
        <a:lstStyle/>
        <a:p>
          <a:endParaRPr lang="en-IN"/>
        </a:p>
      </dgm:t>
    </dgm:pt>
  </dgm:ptLst>
  <dgm:cxnLst>
    <dgm:cxn modelId="{40AB426C-9E12-4433-BC2C-9DA246F6675B}" type="presOf" srcId="{036CB057-2480-49D7-8CC6-EE2AE036D246}" destId="{43C320F6-4FE3-4DED-8F8B-20C1676D0984}" srcOrd="0" destOrd="0" presId="urn:microsoft.com/office/officeart/2005/8/layout/radial5"/>
    <dgm:cxn modelId="{AED7D962-629F-43E4-B4D9-C3A20F79724B}" srcId="{6C8FF7B0-EC4D-4F4B-8C6D-85145FAC79BF}" destId="{742D2890-17BC-471F-BDEC-0CDABA83BD0A}" srcOrd="1" destOrd="0" parTransId="{0B0DA08D-945F-4EF8-9515-B84FF861FFA9}" sibTransId="{3DCDEF52-BC74-45E9-BA39-E9AD73B600D5}"/>
    <dgm:cxn modelId="{541BD3BC-FFF3-421C-81D2-E952F277233A}" srcId="{6C8FF7B0-EC4D-4F4B-8C6D-85145FAC79BF}" destId="{94923157-3E43-4D50-9653-BF03A0FD2A31}" srcOrd="3" destOrd="0" parTransId="{DC8D8B91-4689-41BA-AFB1-CAE5122A73E1}" sibTransId="{F30E314D-ED4E-4C4A-8163-7F99DD058EDB}"/>
    <dgm:cxn modelId="{DA68BBB0-CB26-4117-A29C-76A598BCAC1D}" srcId="{FFBC225D-351D-475B-90A8-5C923538C9ED}" destId="{6C8FF7B0-EC4D-4F4B-8C6D-85145FAC79BF}" srcOrd="0" destOrd="0" parTransId="{238F3DFC-0D9E-4DC6-B6F0-F7E3D0698616}" sibTransId="{C69B6D0B-A85F-4BCD-8612-AB73931553BE}"/>
    <dgm:cxn modelId="{B11011BE-79C5-489B-B866-9E8F958734F4}" srcId="{6C8FF7B0-EC4D-4F4B-8C6D-85145FAC79BF}" destId="{6B203A77-84E1-43D2-A13B-41D280EE7DB1}" srcOrd="2" destOrd="0" parTransId="{5CB39D48-311D-48BA-80DF-D55BB7988DE8}" sibTransId="{951FD4C4-F026-405C-814F-6E194389FD6B}"/>
    <dgm:cxn modelId="{4BBB493E-D8F1-408A-94AC-9CF60698065D}" type="presOf" srcId="{DC8D8B91-4689-41BA-AFB1-CAE5122A73E1}" destId="{F17E8DA9-B8A1-408C-8A43-84553883859B}" srcOrd="1" destOrd="0" presId="urn:microsoft.com/office/officeart/2005/8/layout/radial5"/>
    <dgm:cxn modelId="{CFEAEE09-61CE-4D0F-A5D0-7FA1C6F8B3F6}" type="presOf" srcId="{5CB39D48-311D-48BA-80DF-D55BB7988DE8}" destId="{9ABED5D8-CE14-42E1-B9E2-0B3A48E1E278}" srcOrd="0" destOrd="0" presId="urn:microsoft.com/office/officeart/2005/8/layout/radial5"/>
    <dgm:cxn modelId="{AC72CBD9-C5FB-4DCC-AE53-A6FB6A7D461F}" type="presOf" srcId="{0B0DA08D-945F-4EF8-9515-B84FF861FFA9}" destId="{483FFCFB-9E69-43A9-91E0-75119F511F56}" srcOrd="1" destOrd="0" presId="urn:microsoft.com/office/officeart/2005/8/layout/radial5"/>
    <dgm:cxn modelId="{5397B648-2882-4C21-BA35-FCFF2780CCF5}" type="presOf" srcId="{6C8FF7B0-EC4D-4F4B-8C6D-85145FAC79BF}" destId="{3C0FE763-8D23-4E69-A360-5E53A4F77CCA}" srcOrd="0" destOrd="0" presId="urn:microsoft.com/office/officeart/2005/8/layout/radial5"/>
    <dgm:cxn modelId="{15ECB7FB-1097-4910-943C-B14DD8356B52}" type="presOf" srcId="{6B203A77-84E1-43D2-A13B-41D280EE7DB1}" destId="{57177B94-19BB-4FB5-97C2-ACF3381B3592}" srcOrd="0" destOrd="0" presId="urn:microsoft.com/office/officeart/2005/8/layout/radial5"/>
    <dgm:cxn modelId="{D60F3D0B-D2B1-4F03-86EC-DAFEF2EC4948}" type="presOf" srcId="{036CB057-2480-49D7-8CC6-EE2AE036D246}" destId="{1FC1B045-6675-40AF-B657-91E8A219DF8B}" srcOrd="1" destOrd="0" presId="urn:microsoft.com/office/officeart/2005/8/layout/radial5"/>
    <dgm:cxn modelId="{D9688B34-4F92-4F54-B80A-2D91C5896F4D}" type="presOf" srcId="{94923157-3E43-4D50-9653-BF03A0FD2A31}" destId="{732A8367-53FD-47E0-8CEC-795DB7A262C2}" srcOrd="0" destOrd="0" presId="urn:microsoft.com/office/officeart/2005/8/layout/radial5"/>
    <dgm:cxn modelId="{38696A55-C9CC-4B61-9610-CDD764292450}" type="presOf" srcId="{0B0DA08D-945F-4EF8-9515-B84FF861FFA9}" destId="{73776AE6-3FC5-411F-A548-88BB30C02523}" srcOrd="0" destOrd="0" presId="urn:microsoft.com/office/officeart/2005/8/layout/radial5"/>
    <dgm:cxn modelId="{633E2CF9-2111-4F4C-9793-E62AA991BF92}" type="presOf" srcId="{742D2890-17BC-471F-BDEC-0CDABA83BD0A}" destId="{DD3526FD-21AF-4DCE-A0D4-D1216E09021F}" srcOrd="0" destOrd="0" presId="urn:microsoft.com/office/officeart/2005/8/layout/radial5"/>
    <dgm:cxn modelId="{99191E6D-14CD-4B5C-BCDC-BAAD71A0082B}" type="presOf" srcId="{5CB39D48-311D-48BA-80DF-D55BB7988DE8}" destId="{8C7765C1-8A22-419A-A3C7-3B0902FB43B6}" srcOrd="1" destOrd="0" presId="urn:microsoft.com/office/officeart/2005/8/layout/radial5"/>
    <dgm:cxn modelId="{C99C5407-F533-42F3-979B-69007B788B0D}" type="presOf" srcId="{FFBC225D-351D-475B-90A8-5C923538C9ED}" destId="{24EF64BA-F04B-43F2-A17E-76016F1E3FF3}" srcOrd="0" destOrd="0" presId="urn:microsoft.com/office/officeart/2005/8/layout/radial5"/>
    <dgm:cxn modelId="{9F2D521E-BE8B-4938-9C38-AAE5B82EA915}" type="presOf" srcId="{DC8D8B91-4689-41BA-AFB1-CAE5122A73E1}" destId="{AA0A4F1F-6A4F-4A24-9E47-B048AA0A4E0F}" srcOrd="0" destOrd="0" presId="urn:microsoft.com/office/officeart/2005/8/layout/radial5"/>
    <dgm:cxn modelId="{B4C60141-312F-467D-8821-2C2B7B09FFDD}" type="presOf" srcId="{B83E484C-36C5-4528-8C23-74E287575517}" destId="{DD6C2CEE-757D-49B2-83BB-B901D4A9CC4D}" srcOrd="0" destOrd="0" presId="urn:microsoft.com/office/officeart/2005/8/layout/radial5"/>
    <dgm:cxn modelId="{8CF3F8DF-2C82-4D18-895F-835BFCE722A3}" srcId="{6C8FF7B0-EC4D-4F4B-8C6D-85145FAC79BF}" destId="{B83E484C-36C5-4528-8C23-74E287575517}" srcOrd="0" destOrd="0" parTransId="{036CB057-2480-49D7-8CC6-EE2AE036D246}" sibTransId="{24750089-F2AA-4888-9AB1-B7D2D2016A02}"/>
    <dgm:cxn modelId="{FD786BAF-0DF0-4E09-8B97-DDB4D88EF01C}" type="presParOf" srcId="{24EF64BA-F04B-43F2-A17E-76016F1E3FF3}" destId="{3C0FE763-8D23-4E69-A360-5E53A4F77CCA}" srcOrd="0" destOrd="0" presId="urn:microsoft.com/office/officeart/2005/8/layout/radial5"/>
    <dgm:cxn modelId="{BBF0A535-4A96-4E89-935C-D20F73C518E9}" type="presParOf" srcId="{24EF64BA-F04B-43F2-A17E-76016F1E3FF3}" destId="{43C320F6-4FE3-4DED-8F8B-20C1676D0984}" srcOrd="1" destOrd="0" presId="urn:microsoft.com/office/officeart/2005/8/layout/radial5"/>
    <dgm:cxn modelId="{308545EF-A49F-4673-8901-B729337159A4}" type="presParOf" srcId="{43C320F6-4FE3-4DED-8F8B-20C1676D0984}" destId="{1FC1B045-6675-40AF-B657-91E8A219DF8B}" srcOrd="0" destOrd="0" presId="urn:microsoft.com/office/officeart/2005/8/layout/radial5"/>
    <dgm:cxn modelId="{465FFB60-1719-4DA0-A71C-B2FF2903876D}" type="presParOf" srcId="{24EF64BA-F04B-43F2-A17E-76016F1E3FF3}" destId="{DD6C2CEE-757D-49B2-83BB-B901D4A9CC4D}" srcOrd="2" destOrd="0" presId="urn:microsoft.com/office/officeart/2005/8/layout/radial5"/>
    <dgm:cxn modelId="{0FED91C1-F30E-4226-A258-0BB714E2CB2A}" type="presParOf" srcId="{24EF64BA-F04B-43F2-A17E-76016F1E3FF3}" destId="{73776AE6-3FC5-411F-A548-88BB30C02523}" srcOrd="3" destOrd="0" presId="urn:microsoft.com/office/officeart/2005/8/layout/radial5"/>
    <dgm:cxn modelId="{4FED0373-0686-4D8F-8D42-3EE8024E2559}" type="presParOf" srcId="{73776AE6-3FC5-411F-A548-88BB30C02523}" destId="{483FFCFB-9E69-43A9-91E0-75119F511F56}" srcOrd="0" destOrd="0" presId="urn:microsoft.com/office/officeart/2005/8/layout/radial5"/>
    <dgm:cxn modelId="{D17CEB66-14AA-4190-9047-91329A301422}" type="presParOf" srcId="{24EF64BA-F04B-43F2-A17E-76016F1E3FF3}" destId="{DD3526FD-21AF-4DCE-A0D4-D1216E09021F}" srcOrd="4" destOrd="0" presId="urn:microsoft.com/office/officeart/2005/8/layout/radial5"/>
    <dgm:cxn modelId="{D85C3367-40F0-447E-A889-A7B0984F0B70}" type="presParOf" srcId="{24EF64BA-F04B-43F2-A17E-76016F1E3FF3}" destId="{9ABED5D8-CE14-42E1-B9E2-0B3A48E1E278}" srcOrd="5" destOrd="0" presId="urn:microsoft.com/office/officeart/2005/8/layout/radial5"/>
    <dgm:cxn modelId="{4BD8844D-6068-4A40-B116-D3D36B25039E}" type="presParOf" srcId="{9ABED5D8-CE14-42E1-B9E2-0B3A48E1E278}" destId="{8C7765C1-8A22-419A-A3C7-3B0902FB43B6}" srcOrd="0" destOrd="0" presId="urn:microsoft.com/office/officeart/2005/8/layout/radial5"/>
    <dgm:cxn modelId="{B00A0218-224D-431C-84D0-E7D854FE0548}" type="presParOf" srcId="{24EF64BA-F04B-43F2-A17E-76016F1E3FF3}" destId="{57177B94-19BB-4FB5-97C2-ACF3381B3592}" srcOrd="6" destOrd="0" presId="urn:microsoft.com/office/officeart/2005/8/layout/radial5"/>
    <dgm:cxn modelId="{7367D046-6A60-4475-9C4A-4796AD61978D}" type="presParOf" srcId="{24EF64BA-F04B-43F2-A17E-76016F1E3FF3}" destId="{AA0A4F1F-6A4F-4A24-9E47-B048AA0A4E0F}" srcOrd="7" destOrd="0" presId="urn:microsoft.com/office/officeart/2005/8/layout/radial5"/>
    <dgm:cxn modelId="{AEF7C88B-0FDE-4B65-9FF2-AAF134B050F1}" type="presParOf" srcId="{AA0A4F1F-6A4F-4A24-9E47-B048AA0A4E0F}" destId="{F17E8DA9-B8A1-408C-8A43-84553883859B}" srcOrd="0" destOrd="0" presId="urn:microsoft.com/office/officeart/2005/8/layout/radial5"/>
    <dgm:cxn modelId="{B6A64CC1-3AC5-433A-B9BB-8813F84C7EDD}" type="presParOf" srcId="{24EF64BA-F04B-43F2-A17E-76016F1E3FF3}" destId="{732A8367-53FD-47E0-8CEC-795DB7A262C2}"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0F3EFB-2085-422C-A991-0815B4CE4797}" type="doc">
      <dgm:prSet loTypeId="urn:microsoft.com/office/officeart/2008/layout/VerticalAccentList" loCatId="list" qsTypeId="urn:microsoft.com/office/officeart/2005/8/quickstyle/simple1" qsCatId="simple" csTypeId="urn:microsoft.com/office/officeart/2005/8/colors/colorful1" csCatId="colorful" phldr="1"/>
      <dgm:spPr/>
      <dgm:t>
        <a:bodyPr/>
        <a:lstStyle/>
        <a:p>
          <a:endParaRPr lang="en-IN"/>
        </a:p>
      </dgm:t>
    </dgm:pt>
    <dgm:pt modelId="{6D816C8B-1749-43EE-A68C-19296F7D15DB}">
      <dgm:prSet phldrT="[Text]"/>
      <dgm:spPr/>
      <dgm:t>
        <a:bodyPr/>
        <a:lstStyle/>
        <a:p>
          <a:r>
            <a:rPr lang="en-IN" dirty="0" smtClean="0"/>
            <a:t>Degradation of Rubber</a:t>
          </a:r>
          <a:endParaRPr lang="en-IN" dirty="0"/>
        </a:p>
      </dgm:t>
    </dgm:pt>
    <dgm:pt modelId="{5333E3A9-52F2-4BEE-A98A-AD8764063F87}" type="parTrans" cxnId="{FD388E67-DC7F-4B94-91D3-FD1B7C63B6BF}">
      <dgm:prSet/>
      <dgm:spPr/>
      <dgm:t>
        <a:bodyPr/>
        <a:lstStyle/>
        <a:p>
          <a:endParaRPr lang="en-IN"/>
        </a:p>
      </dgm:t>
    </dgm:pt>
    <dgm:pt modelId="{42B64258-A7DA-4746-BAD4-700044F12A22}" type="sibTrans" cxnId="{FD388E67-DC7F-4B94-91D3-FD1B7C63B6BF}">
      <dgm:prSet/>
      <dgm:spPr/>
      <dgm:t>
        <a:bodyPr/>
        <a:lstStyle/>
        <a:p>
          <a:endParaRPr lang="en-IN"/>
        </a:p>
      </dgm:t>
    </dgm:pt>
    <dgm:pt modelId="{1C96C950-2161-48FF-B3B9-8F0B287F17C3}">
      <dgm:prSet phldrT="[Text]" custT="1"/>
      <dgm:spPr/>
      <dgm:t>
        <a:bodyPr/>
        <a:lstStyle/>
        <a:p>
          <a:r>
            <a:rPr lang="en-IN" sz="1600" dirty="0" smtClean="0"/>
            <a:t> </a:t>
          </a:r>
          <a:r>
            <a:rPr lang="en-IN" sz="1800" dirty="0" smtClean="0">
              <a:solidFill>
                <a:srgbClr val="FF0000"/>
              </a:solidFill>
            </a:rPr>
            <a:t>Chain scission resulting in shorter chains and lower molecular weight ( NR &amp; IIR – softened stock showing tackiness ).</a:t>
          </a:r>
          <a:endParaRPr lang="en-IN" sz="1800" dirty="0">
            <a:solidFill>
              <a:srgbClr val="FF0000"/>
            </a:solidFill>
          </a:endParaRPr>
        </a:p>
      </dgm:t>
    </dgm:pt>
    <dgm:pt modelId="{A6CA9B5B-2735-40DA-A1D8-065049CFF178}" type="parTrans" cxnId="{BCB8AAF3-DA75-4440-9970-397075BAE208}">
      <dgm:prSet/>
      <dgm:spPr/>
      <dgm:t>
        <a:bodyPr/>
        <a:lstStyle/>
        <a:p>
          <a:endParaRPr lang="en-IN"/>
        </a:p>
      </dgm:t>
    </dgm:pt>
    <dgm:pt modelId="{6D96D232-B928-4BFE-BFC7-4BBB64C17738}" type="sibTrans" cxnId="{BCB8AAF3-DA75-4440-9970-397075BAE208}">
      <dgm:prSet/>
      <dgm:spPr/>
      <dgm:t>
        <a:bodyPr/>
        <a:lstStyle/>
        <a:p>
          <a:endParaRPr lang="en-IN"/>
        </a:p>
      </dgm:t>
    </dgm:pt>
    <dgm:pt modelId="{C56AB7AB-7EBD-413B-9792-6D439F865F28}">
      <dgm:prSet phldrT="[Text]" custT="1"/>
      <dgm:spPr/>
      <dgm:t>
        <a:bodyPr/>
        <a:lstStyle/>
        <a:p>
          <a:r>
            <a:rPr lang="en-IN" sz="1800" dirty="0" smtClean="0">
              <a:solidFill>
                <a:srgbClr val="7030A0"/>
              </a:solidFill>
            </a:rPr>
            <a:t>Cross-linking resulting in three dimensional structures and higher molecular weight (SBR &amp; NBR – brittle stocks with poor flexibility and elongation)</a:t>
          </a:r>
          <a:endParaRPr lang="en-IN" sz="1800" dirty="0">
            <a:solidFill>
              <a:srgbClr val="7030A0"/>
            </a:solidFill>
          </a:endParaRPr>
        </a:p>
      </dgm:t>
    </dgm:pt>
    <dgm:pt modelId="{FAB1E68E-252B-47F5-937C-B094F2AD196E}" type="parTrans" cxnId="{D018F5EB-B9DC-4E32-AF43-3BEEBA6A0BF7}">
      <dgm:prSet/>
      <dgm:spPr/>
      <dgm:t>
        <a:bodyPr/>
        <a:lstStyle/>
        <a:p>
          <a:endParaRPr lang="en-IN"/>
        </a:p>
      </dgm:t>
    </dgm:pt>
    <dgm:pt modelId="{665A5449-D420-4052-9C5A-66C78D6AF1C7}" type="sibTrans" cxnId="{D018F5EB-B9DC-4E32-AF43-3BEEBA6A0BF7}">
      <dgm:prSet/>
      <dgm:spPr/>
      <dgm:t>
        <a:bodyPr/>
        <a:lstStyle/>
        <a:p>
          <a:endParaRPr lang="en-IN"/>
        </a:p>
      </dgm:t>
    </dgm:pt>
    <dgm:pt modelId="{63363A4F-82C4-48D7-97C6-1EB42418D11F}">
      <dgm:prSet phldrT="[Text]" custT="1"/>
      <dgm:spPr/>
      <dgm:t>
        <a:bodyPr/>
        <a:lstStyle/>
        <a:p>
          <a:r>
            <a:rPr lang="en-IN" sz="1800" dirty="0" smtClean="0"/>
            <a:t> </a:t>
          </a:r>
          <a:r>
            <a:rPr lang="en-IN" sz="1800" dirty="0" smtClean="0">
              <a:solidFill>
                <a:schemeClr val="accent6">
                  <a:lumMod val="50000"/>
                </a:schemeClr>
              </a:solidFill>
            </a:rPr>
            <a:t>Chemical alteration</a:t>
          </a:r>
          <a:endParaRPr lang="en-IN" sz="1800" dirty="0">
            <a:solidFill>
              <a:schemeClr val="accent6">
                <a:lumMod val="50000"/>
              </a:schemeClr>
            </a:solidFill>
          </a:endParaRPr>
        </a:p>
      </dgm:t>
    </dgm:pt>
    <dgm:pt modelId="{6F68AFAB-0EDF-4F87-BB08-7648EC8D1E89}" type="parTrans" cxnId="{18A44521-C15A-4546-B160-3332B9DF2B6B}">
      <dgm:prSet/>
      <dgm:spPr/>
      <dgm:t>
        <a:bodyPr/>
        <a:lstStyle/>
        <a:p>
          <a:endParaRPr lang="en-IN"/>
        </a:p>
      </dgm:t>
    </dgm:pt>
    <dgm:pt modelId="{7E7FAFCE-8F84-4D6F-B754-73A8A85C5F04}" type="sibTrans" cxnId="{18A44521-C15A-4546-B160-3332B9DF2B6B}">
      <dgm:prSet/>
      <dgm:spPr/>
      <dgm:t>
        <a:bodyPr/>
        <a:lstStyle/>
        <a:p>
          <a:endParaRPr lang="en-IN"/>
        </a:p>
      </dgm:t>
    </dgm:pt>
    <dgm:pt modelId="{A5C8C113-8D7E-4BB3-9B8E-82FA1ADA9884}" type="pres">
      <dgm:prSet presAssocID="{720F3EFB-2085-422C-A991-0815B4CE4797}" presName="Name0" presStyleCnt="0">
        <dgm:presLayoutVars>
          <dgm:chMax/>
          <dgm:chPref/>
          <dgm:dir/>
        </dgm:presLayoutVars>
      </dgm:prSet>
      <dgm:spPr/>
      <dgm:t>
        <a:bodyPr/>
        <a:lstStyle/>
        <a:p>
          <a:endParaRPr lang="en-IN"/>
        </a:p>
      </dgm:t>
    </dgm:pt>
    <dgm:pt modelId="{1960F368-3AC7-4AC0-B24D-702442B2B26D}" type="pres">
      <dgm:prSet presAssocID="{6D816C8B-1749-43EE-A68C-19296F7D15DB}" presName="parenttextcomposite" presStyleCnt="0"/>
      <dgm:spPr/>
    </dgm:pt>
    <dgm:pt modelId="{2729EC51-26B1-4A8F-8BF0-A061EBB8FEE1}" type="pres">
      <dgm:prSet presAssocID="{6D816C8B-1749-43EE-A68C-19296F7D15DB}" presName="parenttext" presStyleLbl="revTx" presStyleIdx="0" presStyleCnt="1">
        <dgm:presLayoutVars>
          <dgm:chMax/>
          <dgm:chPref val="2"/>
          <dgm:bulletEnabled val="1"/>
        </dgm:presLayoutVars>
      </dgm:prSet>
      <dgm:spPr/>
      <dgm:t>
        <a:bodyPr/>
        <a:lstStyle/>
        <a:p>
          <a:endParaRPr lang="en-IN"/>
        </a:p>
      </dgm:t>
    </dgm:pt>
    <dgm:pt modelId="{50091D77-AA62-427A-B90D-4C05237018B4}" type="pres">
      <dgm:prSet presAssocID="{6D816C8B-1749-43EE-A68C-19296F7D15DB}" presName="composite" presStyleCnt="0"/>
      <dgm:spPr/>
    </dgm:pt>
    <dgm:pt modelId="{281E1100-B613-4918-95EC-621F5DC74879}" type="pres">
      <dgm:prSet presAssocID="{6D816C8B-1749-43EE-A68C-19296F7D15DB}" presName="chevron1" presStyleLbl="alignNode1" presStyleIdx="0" presStyleCnt="7"/>
      <dgm:spPr/>
    </dgm:pt>
    <dgm:pt modelId="{0B4CB024-B338-412D-A08E-E818AB15C9C5}" type="pres">
      <dgm:prSet presAssocID="{6D816C8B-1749-43EE-A68C-19296F7D15DB}" presName="chevron2" presStyleLbl="alignNode1" presStyleIdx="1" presStyleCnt="7"/>
      <dgm:spPr/>
    </dgm:pt>
    <dgm:pt modelId="{C4FEA8A0-9889-4605-847C-05878B3CA1F2}" type="pres">
      <dgm:prSet presAssocID="{6D816C8B-1749-43EE-A68C-19296F7D15DB}" presName="chevron3" presStyleLbl="alignNode1" presStyleIdx="2" presStyleCnt="7"/>
      <dgm:spPr/>
    </dgm:pt>
    <dgm:pt modelId="{C7F34A7E-D735-4ED2-86EB-ED86071D2C57}" type="pres">
      <dgm:prSet presAssocID="{6D816C8B-1749-43EE-A68C-19296F7D15DB}" presName="chevron4" presStyleLbl="alignNode1" presStyleIdx="3" presStyleCnt="7"/>
      <dgm:spPr/>
    </dgm:pt>
    <dgm:pt modelId="{F88734B0-44C1-4F05-99C4-480154D6D985}" type="pres">
      <dgm:prSet presAssocID="{6D816C8B-1749-43EE-A68C-19296F7D15DB}" presName="chevron5" presStyleLbl="alignNode1" presStyleIdx="4" presStyleCnt="7"/>
      <dgm:spPr/>
    </dgm:pt>
    <dgm:pt modelId="{AAD5CAF8-A347-4AE9-8F03-12A2750D012B}" type="pres">
      <dgm:prSet presAssocID="{6D816C8B-1749-43EE-A68C-19296F7D15DB}" presName="chevron6" presStyleLbl="alignNode1" presStyleIdx="5" presStyleCnt="7"/>
      <dgm:spPr/>
    </dgm:pt>
    <dgm:pt modelId="{6E734891-AEB4-49E3-A959-84A0022806B9}" type="pres">
      <dgm:prSet presAssocID="{6D816C8B-1749-43EE-A68C-19296F7D15DB}" presName="chevron7" presStyleLbl="alignNode1" presStyleIdx="6" presStyleCnt="7"/>
      <dgm:spPr/>
    </dgm:pt>
    <dgm:pt modelId="{F9B6B819-A6F1-42C1-B995-96385A836905}" type="pres">
      <dgm:prSet presAssocID="{6D816C8B-1749-43EE-A68C-19296F7D15DB}" presName="childtext" presStyleLbl="solidFgAcc1" presStyleIdx="0" presStyleCnt="1">
        <dgm:presLayoutVars>
          <dgm:chMax/>
          <dgm:chPref val="0"/>
          <dgm:bulletEnabled val="1"/>
        </dgm:presLayoutVars>
      </dgm:prSet>
      <dgm:spPr/>
      <dgm:t>
        <a:bodyPr/>
        <a:lstStyle/>
        <a:p>
          <a:endParaRPr lang="en-IN"/>
        </a:p>
      </dgm:t>
    </dgm:pt>
  </dgm:ptLst>
  <dgm:cxnLst>
    <dgm:cxn modelId="{18A44521-C15A-4546-B160-3332B9DF2B6B}" srcId="{6D816C8B-1749-43EE-A68C-19296F7D15DB}" destId="{63363A4F-82C4-48D7-97C6-1EB42418D11F}" srcOrd="2" destOrd="0" parTransId="{6F68AFAB-0EDF-4F87-BB08-7648EC8D1E89}" sibTransId="{7E7FAFCE-8F84-4D6F-B754-73A8A85C5F04}"/>
    <dgm:cxn modelId="{1FA4544C-4BB0-4428-9C5C-34EC12C61C51}" type="presOf" srcId="{6D816C8B-1749-43EE-A68C-19296F7D15DB}" destId="{2729EC51-26B1-4A8F-8BF0-A061EBB8FEE1}" srcOrd="0" destOrd="0" presId="urn:microsoft.com/office/officeart/2008/layout/VerticalAccentList"/>
    <dgm:cxn modelId="{F5385E5F-D121-43AD-8968-E957B25D5322}" type="presOf" srcId="{1C96C950-2161-48FF-B3B9-8F0B287F17C3}" destId="{F9B6B819-A6F1-42C1-B995-96385A836905}" srcOrd="0" destOrd="0" presId="urn:microsoft.com/office/officeart/2008/layout/VerticalAccentList"/>
    <dgm:cxn modelId="{D018F5EB-B9DC-4E32-AF43-3BEEBA6A0BF7}" srcId="{6D816C8B-1749-43EE-A68C-19296F7D15DB}" destId="{C56AB7AB-7EBD-413B-9792-6D439F865F28}" srcOrd="1" destOrd="0" parTransId="{FAB1E68E-252B-47F5-937C-B094F2AD196E}" sibTransId="{665A5449-D420-4052-9C5A-66C78D6AF1C7}"/>
    <dgm:cxn modelId="{0BFCE01B-B573-443B-8998-AEC4BAD64FE8}" type="presOf" srcId="{C56AB7AB-7EBD-413B-9792-6D439F865F28}" destId="{F9B6B819-A6F1-42C1-B995-96385A836905}" srcOrd="0" destOrd="1" presId="urn:microsoft.com/office/officeart/2008/layout/VerticalAccentList"/>
    <dgm:cxn modelId="{996F28F3-BA76-407C-A8E0-EF6A87D47C2E}" type="presOf" srcId="{63363A4F-82C4-48D7-97C6-1EB42418D11F}" destId="{F9B6B819-A6F1-42C1-B995-96385A836905}" srcOrd="0" destOrd="2" presId="urn:microsoft.com/office/officeart/2008/layout/VerticalAccentList"/>
    <dgm:cxn modelId="{BCB8AAF3-DA75-4440-9970-397075BAE208}" srcId="{6D816C8B-1749-43EE-A68C-19296F7D15DB}" destId="{1C96C950-2161-48FF-B3B9-8F0B287F17C3}" srcOrd="0" destOrd="0" parTransId="{A6CA9B5B-2735-40DA-A1D8-065049CFF178}" sibTransId="{6D96D232-B928-4BFE-BFC7-4BBB64C17738}"/>
    <dgm:cxn modelId="{2988BDC8-5083-4169-8532-55EEEB21C487}" type="presOf" srcId="{720F3EFB-2085-422C-A991-0815B4CE4797}" destId="{A5C8C113-8D7E-4BB3-9B8E-82FA1ADA9884}" srcOrd="0" destOrd="0" presId="urn:microsoft.com/office/officeart/2008/layout/VerticalAccentList"/>
    <dgm:cxn modelId="{FD388E67-DC7F-4B94-91D3-FD1B7C63B6BF}" srcId="{720F3EFB-2085-422C-A991-0815B4CE4797}" destId="{6D816C8B-1749-43EE-A68C-19296F7D15DB}" srcOrd="0" destOrd="0" parTransId="{5333E3A9-52F2-4BEE-A98A-AD8764063F87}" sibTransId="{42B64258-A7DA-4746-BAD4-700044F12A22}"/>
    <dgm:cxn modelId="{83530196-E20A-4B14-BC4F-2841D2059952}" type="presParOf" srcId="{A5C8C113-8D7E-4BB3-9B8E-82FA1ADA9884}" destId="{1960F368-3AC7-4AC0-B24D-702442B2B26D}" srcOrd="0" destOrd="0" presId="urn:microsoft.com/office/officeart/2008/layout/VerticalAccentList"/>
    <dgm:cxn modelId="{6E9BF1D2-C674-4F6E-A453-E3DDB8048E41}" type="presParOf" srcId="{1960F368-3AC7-4AC0-B24D-702442B2B26D}" destId="{2729EC51-26B1-4A8F-8BF0-A061EBB8FEE1}" srcOrd="0" destOrd="0" presId="urn:microsoft.com/office/officeart/2008/layout/VerticalAccentList"/>
    <dgm:cxn modelId="{72483F3B-8A94-427E-AD74-796DD096CFBE}" type="presParOf" srcId="{A5C8C113-8D7E-4BB3-9B8E-82FA1ADA9884}" destId="{50091D77-AA62-427A-B90D-4C05237018B4}" srcOrd="1" destOrd="0" presId="urn:microsoft.com/office/officeart/2008/layout/VerticalAccentList"/>
    <dgm:cxn modelId="{A5E37D83-ADD3-47D2-B31A-C05F66A41F68}" type="presParOf" srcId="{50091D77-AA62-427A-B90D-4C05237018B4}" destId="{281E1100-B613-4918-95EC-621F5DC74879}" srcOrd="0" destOrd="0" presId="urn:microsoft.com/office/officeart/2008/layout/VerticalAccentList"/>
    <dgm:cxn modelId="{5F14A73C-8B13-480B-A4F4-94A3782CFE60}" type="presParOf" srcId="{50091D77-AA62-427A-B90D-4C05237018B4}" destId="{0B4CB024-B338-412D-A08E-E818AB15C9C5}" srcOrd="1" destOrd="0" presId="urn:microsoft.com/office/officeart/2008/layout/VerticalAccentList"/>
    <dgm:cxn modelId="{133A7224-49B5-40B3-8FC8-9A3C18C5288E}" type="presParOf" srcId="{50091D77-AA62-427A-B90D-4C05237018B4}" destId="{C4FEA8A0-9889-4605-847C-05878B3CA1F2}" srcOrd="2" destOrd="0" presId="urn:microsoft.com/office/officeart/2008/layout/VerticalAccentList"/>
    <dgm:cxn modelId="{AA2BD1AB-65E9-4EA7-A0DB-1D3FD5FAE4F7}" type="presParOf" srcId="{50091D77-AA62-427A-B90D-4C05237018B4}" destId="{C7F34A7E-D735-4ED2-86EB-ED86071D2C57}" srcOrd="3" destOrd="0" presId="urn:microsoft.com/office/officeart/2008/layout/VerticalAccentList"/>
    <dgm:cxn modelId="{218378A2-F1FE-4E1A-AEC9-3EF793718875}" type="presParOf" srcId="{50091D77-AA62-427A-B90D-4C05237018B4}" destId="{F88734B0-44C1-4F05-99C4-480154D6D985}" srcOrd="4" destOrd="0" presId="urn:microsoft.com/office/officeart/2008/layout/VerticalAccentList"/>
    <dgm:cxn modelId="{713DAF51-2C1F-48FB-A95E-E69A5AD8DE93}" type="presParOf" srcId="{50091D77-AA62-427A-B90D-4C05237018B4}" destId="{AAD5CAF8-A347-4AE9-8F03-12A2750D012B}" srcOrd="5" destOrd="0" presId="urn:microsoft.com/office/officeart/2008/layout/VerticalAccentList"/>
    <dgm:cxn modelId="{BBE988FF-4CAC-4982-939A-E833E409867D}" type="presParOf" srcId="{50091D77-AA62-427A-B90D-4C05237018B4}" destId="{6E734891-AEB4-49E3-A959-84A0022806B9}" srcOrd="6" destOrd="0" presId="urn:microsoft.com/office/officeart/2008/layout/VerticalAccentList"/>
    <dgm:cxn modelId="{601A78B6-3100-415E-B4F6-5BB9591F865C}" type="presParOf" srcId="{50091D77-AA62-427A-B90D-4C05237018B4}" destId="{F9B6B819-A6F1-42C1-B995-96385A836905}" srcOrd="7"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2760191-210F-4377-AE0F-13297723B431}"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IN"/>
        </a:p>
      </dgm:t>
    </dgm:pt>
    <dgm:pt modelId="{3C4276BE-69E9-41DC-8538-07DC7D98C523}">
      <dgm:prSet phldrT="[Text]" custT="1"/>
      <dgm:spPr/>
      <dgm:t>
        <a:bodyPr/>
        <a:lstStyle/>
        <a:p>
          <a:r>
            <a:rPr lang="en-IN" sz="3200" dirty="0" smtClean="0"/>
            <a:t>Antidegradants classified into </a:t>
          </a:r>
          <a:endParaRPr lang="en-IN" sz="3200" dirty="0"/>
        </a:p>
      </dgm:t>
    </dgm:pt>
    <dgm:pt modelId="{070B9997-A92D-4649-9F38-06F0B77CFC12}" type="parTrans" cxnId="{FEB9662A-C565-4B4C-9277-1051D5D1C90F}">
      <dgm:prSet/>
      <dgm:spPr/>
      <dgm:t>
        <a:bodyPr/>
        <a:lstStyle/>
        <a:p>
          <a:endParaRPr lang="en-IN"/>
        </a:p>
      </dgm:t>
    </dgm:pt>
    <dgm:pt modelId="{5F9779F3-0C87-43E9-AF66-ACCD5C794BB3}" type="sibTrans" cxnId="{FEB9662A-C565-4B4C-9277-1051D5D1C90F}">
      <dgm:prSet/>
      <dgm:spPr/>
      <dgm:t>
        <a:bodyPr/>
        <a:lstStyle/>
        <a:p>
          <a:endParaRPr lang="en-IN"/>
        </a:p>
      </dgm:t>
    </dgm:pt>
    <dgm:pt modelId="{E19301C3-C23A-48F6-8981-D1B4E4638A3D}">
      <dgm:prSet phldrT="[Text]" custT="1"/>
      <dgm:spPr/>
      <dgm:t>
        <a:bodyPr/>
        <a:lstStyle/>
        <a:p>
          <a:r>
            <a:rPr lang="en-IN" sz="2000" dirty="0" smtClean="0"/>
            <a:t>Amines -  strong antidegradants , discolour and staining in nature</a:t>
          </a:r>
          <a:endParaRPr lang="en-IN" sz="2000" dirty="0"/>
        </a:p>
      </dgm:t>
    </dgm:pt>
    <dgm:pt modelId="{25B3B566-992D-42E2-B8B3-7518C75F683D}" type="parTrans" cxnId="{EC9AFB20-F5B7-4D66-BE50-7F314B6FF450}">
      <dgm:prSet/>
      <dgm:spPr/>
      <dgm:t>
        <a:bodyPr/>
        <a:lstStyle/>
        <a:p>
          <a:endParaRPr lang="en-IN"/>
        </a:p>
      </dgm:t>
    </dgm:pt>
    <dgm:pt modelId="{A0DA1DDD-5ACB-4E31-924B-AD79736543CC}" type="sibTrans" cxnId="{EC9AFB20-F5B7-4D66-BE50-7F314B6FF450}">
      <dgm:prSet/>
      <dgm:spPr/>
      <dgm:t>
        <a:bodyPr/>
        <a:lstStyle/>
        <a:p>
          <a:endParaRPr lang="en-IN"/>
        </a:p>
      </dgm:t>
    </dgm:pt>
    <dgm:pt modelId="{B656BADB-D3A1-4290-92D5-5F080D97A434}">
      <dgm:prSet phldrT="[Text]" custT="1"/>
      <dgm:spPr/>
      <dgm:t>
        <a:bodyPr/>
        <a:lstStyle/>
        <a:p>
          <a:r>
            <a:rPr lang="en-IN" sz="2000" dirty="0" smtClean="0"/>
            <a:t>Phenolic compounds – less effective, non –discolouring and non-staining </a:t>
          </a:r>
          <a:endParaRPr lang="en-IN" sz="2000" dirty="0"/>
        </a:p>
      </dgm:t>
    </dgm:pt>
    <dgm:pt modelId="{65BB3F8C-82BC-4FCC-A16F-B38AE9415B21}" type="parTrans" cxnId="{FEB0198F-3CA0-47B9-9EC9-933993548227}">
      <dgm:prSet/>
      <dgm:spPr/>
      <dgm:t>
        <a:bodyPr/>
        <a:lstStyle/>
        <a:p>
          <a:endParaRPr lang="en-IN"/>
        </a:p>
      </dgm:t>
    </dgm:pt>
    <dgm:pt modelId="{92B7BB43-44AA-48FA-9B87-ECD6F0A70FFA}" type="sibTrans" cxnId="{FEB0198F-3CA0-47B9-9EC9-933993548227}">
      <dgm:prSet/>
      <dgm:spPr/>
      <dgm:t>
        <a:bodyPr/>
        <a:lstStyle/>
        <a:p>
          <a:endParaRPr lang="en-IN"/>
        </a:p>
      </dgm:t>
    </dgm:pt>
    <dgm:pt modelId="{904ADE38-E3C8-4F8E-9919-AFC5A5D0401F}">
      <dgm:prSet phldrT="[Text]" custT="1"/>
      <dgm:spPr/>
      <dgm:t>
        <a:bodyPr/>
        <a:lstStyle/>
        <a:p>
          <a:endParaRPr lang="en-IN" sz="2800" dirty="0"/>
        </a:p>
      </dgm:t>
    </dgm:pt>
    <dgm:pt modelId="{6E1456C6-6626-422A-8ACD-0100C7ED88A4}" type="parTrans" cxnId="{D5D2B4B0-3A9D-4C4D-B581-B350A5BDC2C9}">
      <dgm:prSet/>
      <dgm:spPr/>
      <dgm:t>
        <a:bodyPr/>
        <a:lstStyle/>
        <a:p>
          <a:endParaRPr lang="en-IN"/>
        </a:p>
      </dgm:t>
    </dgm:pt>
    <dgm:pt modelId="{8EE78AAF-0EDC-438D-85BE-FAE18D7BCE07}" type="sibTrans" cxnId="{D5D2B4B0-3A9D-4C4D-B581-B350A5BDC2C9}">
      <dgm:prSet/>
      <dgm:spPr/>
      <dgm:t>
        <a:bodyPr/>
        <a:lstStyle/>
        <a:p>
          <a:endParaRPr lang="en-IN"/>
        </a:p>
      </dgm:t>
    </dgm:pt>
    <dgm:pt modelId="{1327597B-B1A4-4019-A99F-EAE29A5BEEC5}" type="pres">
      <dgm:prSet presAssocID="{62760191-210F-4377-AE0F-13297723B431}" presName="linear" presStyleCnt="0">
        <dgm:presLayoutVars>
          <dgm:animLvl val="lvl"/>
          <dgm:resizeHandles val="exact"/>
        </dgm:presLayoutVars>
      </dgm:prSet>
      <dgm:spPr/>
      <dgm:t>
        <a:bodyPr/>
        <a:lstStyle/>
        <a:p>
          <a:endParaRPr lang="en-IN"/>
        </a:p>
      </dgm:t>
    </dgm:pt>
    <dgm:pt modelId="{89B9E505-B6ED-4B50-A42D-5BA69C27FF89}" type="pres">
      <dgm:prSet presAssocID="{3C4276BE-69E9-41DC-8538-07DC7D98C523}" presName="parentText" presStyleLbl="node1" presStyleIdx="0" presStyleCnt="1" custScaleX="58943" custScaleY="45279" custLinFactNeighborX="-19068" custLinFactNeighborY="24460">
        <dgm:presLayoutVars>
          <dgm:chMax val="0"/>
          <dgm:bulletEnabled val="1"/>
        </dgm:presLayoutVars>
      </dgm:prSet>
      <dgm:spPr/>
      <dgm:t>
        <a:bodyPr/>
        <a:lstStyle/>
        <a:p>
          <a:endParaRPr lang="en-IN"/>
        </a:p>
      </dgm:t>
    </dgm:pt>
    <dgm:pt modelId="{461414C3-971D-4BFB-A174-9C946E6DAE0B}" type="pres">
      <dgm:prSet presAssocID="{3C4276BE-69E9-41DC-8538-07DC7D98C523}" presName="childText" presStyleLbl="revTx" presStyleIdx="0" presStyleCnt="1">
        <dgm:presLayoutVars>
          <dgm:bulletEnabled val="1"/>
        </dgm:presLayoutVars>
      </dgm:prSet>
      <dgm:spPr/>
      <dgm:t>
        <a:bodyPr/>
        <a:lstStyle/>
        <a:p>
          <a:endParaRPr lang="en-IN"/>
        </a:p>
      </dgm:t>
    </dgm:pt>
  </dgm:ptLst>
  <dgm:cxnLst>
    <dgm:cxn modelId="{FEB0198F-3CA0-47B9-9EC9-933993548227}" srcId="{3C4276BE-69E9-41DC-8538-07DC7D98C523}" destId="{B656BADB-D3A1-4290-92D5-5F080D97A434}" srcOrd="2" destOrd="0" parTransId="{65BB3F8C-82BC-4FCC-A16F-B38AE9415B21}" sibTransId="{92B7BB43-44AA-48FA-9B87-ECD6F0A70FFA}"/>
    <dgm:cxn modelId="{D5D2B4B0-3A9D-4C4D-B581-B350A5BDC2C9}" srcId="{3C4276BE-69E9-41DC-8538-07DC7D98C523}" destId="{904ADE38-E3C8-4F8E-9919-AFC5A5D0401F}" srcOrd="0" destOrd="0" parTransId="{6E1456C6-6626-422A-8ACD-0100C7ED88A4}" sibTransId="{8EE78AAF-0EDC-438D-85BE-FAE18D7BCE07}"/>
    <dgm:cxn modelId="{7BF2FB64-F73C-40AC-B362-F2E4F65B1C33}" type="presOf" srcId="{B656BADB-D3A1-4290-92D5-5F080D97A434}" destId="{461414C3-971D-4BFB-A174-9C946E6DAE0B}" srcOrd="0" destOrd="2" presId="urn:microsoft.com/office/officeart/2005/8/layout/vList2"/>
    <dgm:cxn modelId="{FEB9662A-C565-4B4C-9277-1051D5D1C90F}" srcId="{62760191-210F-4377-AE0F-13297723B431}" destId="{3C4276BE-69E9-41DC-8538-07DC7D98C523}" srcOrd="0" destOrd="0" parTransId="{070B9997-A92D-4649-9F38-06F0B77CFC12}" sibTransId="{5F9779F3-0C87-43E9-AF66-ACCD5C794BB3}"/>
    <dgm:cxn modelId="{2F8BCBA2-75AD-49DF-95A3-B4F77D609FDF}" type="presOf" srcId="{E19301C3-C23A-48F6-8981-D1B4E4638A3D}" destId="{461414C3-971D-4BFB-A174-9C946E6DAE0B}" srcOrd="0" destOrd="1" presId="urn:microsoft.com/office/officeart/2005/8/layout/vList2"/>
    <dgm:cxn modelId="{CF3F9D34-7EB6-42C1-BB16-D0731D0C13FC}" type="presOf" srcId="{3C4276BE-69E9-41DC-8538-07DC7D98C523}" destId="{89B9E505-B6ED-4B50-A42D-5BA69C27FF89}" srcOrd="0" destOrd="0" presId="urn:microsoft.com/office/officeart/2005/8/layout/vList2"/>
    <dgm:cxn modelId="{4CBF5E19-1509-410C-A777-AEC74D67E953}" type="presOf" srcId="{904ADE38-E3C8-4F8E-9919-AFC5A5D0401F}" destId="{461414C3-971D-4BFB-A174-9C946E6DAE0B}" srcOrd="0" destOrd="0" presId="urn:microsoft.com/office/officeart/2005/8/layout/vList2"/>
    <dgm:cxn modelId="{EC9AFB20-F5B7-4D66-BE50-7F314B6FF450}" srcId="{3C4276BE-69E9-41DC-8538-07DC7D98C523}" destId="{E19301C3-C23A-48F6-8981-D1B4E4638A3D}" srcOrd="1" destOrd="0" parTransId="{25B3B566-992D-42E2-B8B3-7518C75F683D}" sibTransId="{A0DA1DDD-5ACB-4E31-924B-AD79736543CC}"/>
    <dgm:cxn modelId="{1E2CEF57-E5EA-4558-9BF5-8301C824046B}" type="presOf" srcId="{62760191-210F-4377-AE0F-13297723B431}" destId="{1327597B-B1A4-4019-A99F-EAE29A5BEEC5}" srcOrd="0" destOrd="0" presId="urn:microsoft.com/office/officeart/2005/8/layout/vList2"/>
    <dgm:cxn modelId="{7E69B4AA-5DF1-497D-B5CB-5E9E2C6BA269}" type="presParOf" srcId="{1327597B-B1A4-4019-A99F-EAE29A5BEEC5}" destId="{89B9E505-B6ED-4B50-A42D-5BA69C27FF89}" srcOrd="0" destOrd="0" presId="urn:microsoft.com/office/officeart/2005/8/layout/vList2"/>
    <dgm:cxn modelId="{B70B1C63-F7BB-4A06-8C92-A34B5A8B3D40}" type="presParOf" srcId="{1327597B-B1A4-4019-A99F-EAE29A5BEEC5}" destId="{461414C3-971D-4BFB-A174-9C946E6DAE0B}"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4B75B0-91C9-49FA-9481-522DFFFDB4F5}" type="doc">
      <dgm:prSet loTypeId="urn:microsoft.com/office/officeart/2008/layout/VerticalAccentList" loCatId="list" qsTypeId="urn:microsoft.com/office/officeart/2005/8/quickstyle/3d1" qsCatId="3D" csTypeId="urn:microsoft.com/office/officeart/2005/8/colors/colorful4" csCatId="colorful" phldr="1"/>
      <dgm:spPr/>
      <dgm:t>
        <a:bodyPr/>
        <a:lstStyle/>
        <a:p>
          <a:endParaRPr lang="en-IN"/>
        </a:p>
      </dgm:t>
    </dgm:pt>
    <dgm:pt modelId="{EA56F720-A70F-41EC-9206-6ABA779080DC}">
      <dgm:prSet phldrT="[Text]" custT="1"/>
      <dgm:spPr/>
      <dgm:t>
        <a:bodyPr/>
        <a:lstStyle/>
        <a:p>
          <a:r>
            <a:rPr lang="en-IN" sz="3200" dirty="0" smtClean="0">
              <a:latin typeface="Calibri" panose="020F0502020204030204" pitchFamily="34" charset="0"/>
              <a:ea typeface="Calibri" panose="020F0502020204030204" pitchFamily="34" charset="0"/>
              <a:cs typeface="Times New Roman" panose="02020603050405020304" pitchFamily="18" charset="0"/>
            </a:rPr>
            <a:t>Diluents or extenders </a:t>
          </a:r>
          <a:endParaRPr lang="en-IN" sz="3200" dirty="0"/>
        </a:p>
      </dgm:t>
    </dgm:pt>
    <dgm:pt modelId="{D5E89773-1703-47D0-98BD-1D0F5C4B4749}" type="parTrans" cxnId="{2B9AC6F8-31F3-4237-919C-D558FF69A93D}">
      <dgm:prSet/>
      <dgm:spPr/>
      <dgm:t>
        <a:bodyPr/>
        <a:lstStyle/>
        <a:p>
          <a:endParaRPr lang="en-IN"/>
        </a:p>
      </dgm:t>
    </dgm:pt>
    <dgm:pt modelId="{2A21F169-FF5D-4537-8955-11F43475F19F}" type="sibTrans" cxnId="{2B9AC6F8-31F3-4237-919C-D558FF69A93D}">
      <dgm:prSet/>
      <dgm:spPr/>
      <dgm:t>
        <a:bodyPr/>
        <a:lstStyle/>
        <a:p>
          <a:endParaRPr lang="en-IN"/>
        </a:p>
      </dgm:t>
    </dgm:pt>
    <dgm:pt modelId="{C2E26F2B-7A9F-4DA6-A7C5-11CF4E87759D}">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Non-reinforcing filler/ inactive fillers</a:t>
          </a:r>
          <a:endParaRPr lang="en-IN" sz="1400" dirty="0"/>
        </a:p>
      </dgm:t>
    </dgm:pt>
    <dgm:pt modelId="{259CC18E-09F3-4B18-9573-7F530241ECC9}" type="parTrans" cxnId="{BE37B571-72AF-4B1C-9E09-C2D86785F779}">
      <dgm:prSet/>
      <dgm:spPr/>
      <dgm:t>
        <a:bodyPr/>
        <a:lstStyle/>
        <a:p>
          <a:endParaRPr lang="en-IN"/>
        </a:p>
      </dgm:t>
    </dgm:pt>
    <dgm:pt modelId="{A59FE12F-2A29-45F3-9755-DDC1E8A90448}" type="sibTrans" cxnId="{BE37B571-72AF-4B1C-9E09-C2D86785F779}">
      <dgm:prSet/>
      <dgm:spPr/>
      <dgm:t>
        <a:bodyPr/>
        <a:lstStyle/>
        <a:p>
          <a:endParaRPr lang="en-IN"/>
        </a:p>
      </dgm:t>
    </dgm:pt>
    <dgm:pt modelId="{97FE525C-4078-4F6F-8270-DB48C5E989AF}">
      <dgm:prSet phldrT="[Text]" custT="1"/>
      <dgm:spPr/>
      <dgm:t>
        <a:bodyPr/>
        <a:lstStyle/>
        <a:p>
          <a:r>
            <a:rPr lang="en-IN" sz="3200" dirty="0" smtClean="0"/>
            <a:t>Functional or reinforcing fillers</a:t>
          </a:r>
          <a:endParaRPr lang="en-IN" sz="3200" dirty="0"/>
        </a:p>
      </dgm:t>
    </dgm:pt>
    <dgm:pt modelId="{BA79BFD9-7C6C-42FE-9461-2BC6567B269F}" type="parTrans" cxnId="{03C101B2-89B8-403A-B562-C977A0650210}">
      <dgm:prSet/>
      <dgm:spPr/>
      <dgm:t>
        <a:bodyPr/>
        <a:lstStyle/>
        <a:p>
          <a:endParaRPr lang="en-IN"/>
        </a:p>
      </dgm:t>
    </dgm:pt>
    <dgm:pt modelId="{A3B4012A-57ED-4B9F-82CC-136EC8119548}" type="sibTrans" cxnId="{03C101B2-89B8-403A-B562-C977A0650210}">
      <dgm:prSet/>
      <dgm:spPr/>
      <dgm:t>
        <a:bodyPr/>
        <a:lstStyle/>
        <a:p>
          <a:endParaRPr lang="en-IN"/>
        </a:p>
      </dgm:t>
    </dgm:pt>
    <dgm:pt modelId="{FC4C2C0A-5372-497B-ADE9-121C8E3E1844}">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Functional or reinforcing fillers/active fillers</a:t>
          </a:r>
          <a:endParaRPr lang="en-IN" sz="1400" dirty="0"/>
        </a:p>
      </dgm:t>
    </dgm:pt>
    <dgm:pt modelId="{1BFD02D6-64FB-4FE0-B712-43B111771498}" type="parTrans" cxnId="{8A5535A3-9F8F-4CBE-80C9-B74CD17F7D54}">
      <dgm:prSet/>
      <dgm:spPr/>
      <dgm:t>
        <a:bodyPr/>
        <a:lstStyle/>
        <a:p>
          <a:endParaRPr lang="en-IN"/>
        </a:p>
      </dgm:t>
    </dgm:pt>
    <dgm:pt modelId="{4446C44D-BDC4-4A08-8F8B-A7ED63AA4247}" type="sibTrans" cxnId="{8A5535A3-9F8F-4CBE-80C9-B74CD17F7D54}">
      <dgm:prSet/>
      <dgm:spPr/>
      <dgm:t>
        <a:bodyPr/>
        <a:lstStyle/>
        <a:p>
          <a:endParaRPr lang="en-IN"/>
        </a:p>
      </dgm:t>
    </dgm:pt>
    <dgm:pt modelId="{E8082B0C-8D9D-45D7-84EC-1EB2776C14F3}">
      <dgm:prSet phldrT="[Text]" custT="1"/>
      <dgm:spPr/>
      <dgm:t>
        <a:bodyPr/>
        <a:lstStyle/>
        <a:p>
          <a:r>
            <a:rPr lang="en-IN" sz="3200" dirty="0" smtClean="0"/>
            <a:t>Semi- reinforcing fillers</a:t>
          </a:r>
          <a:endParaRPr lang="en-IN" sz="3200" dirty="0"/>
        </a:p>
      </dgm:t>
    </dgm:pt>
    <dgm:pt modelId="{6FC1E9F6-C4D7-4C15-AFE2-EC5A3690CC3F}" type="parTrans" cxnId="{2696A0D2-49E5-4A8C-A03B-07D7F8E6A0B8}">
      <dgm:prSet/>
      <dgm:spPr/>
      <dgm:t>
        <a:bodyPr/>
        <a:lstStyle/>
        <a:p>
          <a:endParaRPr lang="en-IN"/>
        </a:p>
      </dgm:t>
    </dgm:pt>
    <dgm:pt modelId="{B2C23E51-1126-46C5-A68C-2838127D915E}" type="sibTrans" cxnId="{2696A0D2-49E5-4A8C-A03B-07D7F8E6A0B8}">
      <dgm:prSet/>
      <dgm:spPr/>
      <dgm:t>
        <a:bodyPr/>
        <a:lstStyle/>
        <a:p>
          <a:endParaRPr lang="en-IN"/>
        </a:p>
      </dgm:t>
    </dgm:pt>
    <dgm:pt modelId="{8ED9F1BD-B048-4D33-8A96-D13EFC79EDFD}">
      <dgm:prSet phldrT="[Text]" custT="1"/>
      <dgm:spPr/>
      <dgm:t>
        <a:bodyPr/>
        <a:lstStyle/>
        <a:p>
          <a:r>
            <a:rPr lang="en-IN" sz="1400" dirty="0" smtClean="0"/>
            <a:t>Moderately improve the tensile strength and tear strength, but does not improve the abrasion resistance</a:t>
          </a:r>
          <a:endParaRPr lang="en-IN" sz="1400" dirty="0" smtClean="0">
            <a:latin typeface="Calibri" panose="020F0502020204030204" pitchFamily="34" charset="0"/>
            <a:ea typeface="Calibri" panose="020F0502020204030204" pitchFamily="34" charset="0"/>
            <a:cs typeface="Times New Roman" panose="02020603050405020304" pitchFamily="18" charset="0"/>
          </a:endParaRPr>
        </a:p>
        <a:p>
          <a:r>
            <a:rPr lang="en-IN" sz="1400" dirty="0" smtClean="0">
              <a:latin typeface="Calibri" panose="020F0502020204030204" pitchFamily="34" charset="0"/>
              <a:ea typeface="Calibri" panose="020F0502020204030204" pitchFamily="34" charset="0"/>
              <a:cs typeface="Times New Roman" panose="02020603050405020304" pitchFamily="18" charset="0"/>
            </a:rPr>
            <a:t>Particle size range : 100 to 1000 nm (0.1 to 1μm)</a:t>
          </a:r>
          <a:endParaRPr lang="en-IN" sz="1400" dirty="0"/>
        </a:p>
      </dgm:t>
    </dgm:pt>
    <dgm:pt modelId="{DA575C86-1624-4C6B-81FD-423503147ED5}" type="parTrans" cxnId="{E2BD28AE-F623-4EF7-BD50-436D13F62799}">
      <dgm:prSet/>
      <dgm:spPr/>
      <dgm:t>
        <a:bodyPr/>
        <a:lstStyle/>
        <a:p>
          <a:endParaRPr lang="en-IN"/>
        </a:p>
      </dgm:t>
    </dgm:pt>
    <dgm:pt modelId="{C3C48E03-D6C8-4DCA-A566-CEF85291A4C3}" type="sibTrans" cxnId="{E2BD28AE-F623-4EF7-BD50-436D13F62799}">
      <dgm:prSet/>
      <dgm:spPr/>
      <dgm:t>
        <a:bodyPr/>
        <a:lstStyle/>
        <a:p>
          <a:endParaRPr lang="en-IN"/>
        </a:p>
      </dgm:t>
    </dgm:pt>
    <dgm:pt modelId="{001450F2-1982-4E00-9A9F-D5B013488406}">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Primarily to occupy space and used to lower the formulation cost. </a:t>
          </a:r>
          <a:endParaRPr lang="en-IN" sz="1400" dirty="0"/>
        </a:p>
      </dgm:t>
    </dgm:pt>
    <dgm:pt modelId="{23A29991-3E3A-4D87-B5AC-9EE8FFC725FF}" type="parTrans" cxnId="{E6B24841-F6B6-465C-9E63-24C7C40EB6B3}">
      <dgm:prSet/>
      <dgm:spPr/>
      <dgm:t>
        <a:bodyPr/>
        <a:lstStyle/>
        <a:p>
          <a:endParaRPr lang="en-IN"/>
        </a:p>
      </dgm:t>
    </dgm:pt>
    <dgm:pt modelId="{4A6D7B7A-AF1F-4979-9AB7-9B2ECF025D09}" type="sibTrans" cxnId="{E6B24841-F6B6-465C-9E63-24C7C40EB6B3}">
      <dgm:prSet/>
      <dgm:spPr/>
      <dgm:t>
        <a:bodyPr/>
        <a:lstStyle/>
        <a:p>
          <a:endParaRPr lang="en-IN"/>
        </a:p>
      </dgm:t>
    </dgm:pt>
    <dgm:pt modelId="{5D2D2CA1-66E7-4FAD-956F-9CDDCC6727A4}">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Particle size  : 1,000 and 10,000 nm (1 to 10 μm)</a:t>
          </a:r>
          <a:endParaRPr lang="en-IN" sz="1400" dirty="0"/>
        </a:p>
      </dgm:t>
    </dgm:pt>
    <dgm:pt modelId="{7E9F169A-3E0D-4507-9290-C28081B452FE}" type="parTrans" cxnId="{1A9AACE4-76CC-4785-842D-7998093B2A6D}">
      <dgm:prSet/>
      <dgm:spPr/>
      <dgm:t>
        <a:bodyPr/>
        <a:lstStyle/>
        <a:p>
          <a:endParaRPr lang="en-IN"/>
        </a:p>
      </dgm:t>
    </dgm:pt>
    <dgm:pt modelId="{21F1A034-C917-4B54-9501-885E53D2E352}" type="sibTrans" cxnId="{1A9AACE4-76CC-4785-842D-7998093B2A6D}">
      <dgm:prSet/>
      <dgm:spPr/>
      <dgm:t>
        <a:bodyPr/>
        <a:lstStyle/>
        <a:p>
          <a:endParaRPr lang="en-IN"/>
        </a:p>
      </dgm:t>
    </dgm:pt>
    <dgm:pt modelId="{530FC8F3-3423-46FC-91A8-4F09F9C47291}">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Particle size range : 10 to 100 nm (0.01 to 01 μm)</a:t>
          </a:r>
          <a:endParaRPr lang="en-IN" sz="1400" dirty="0"/>
        </a:p>
      </dgm:t>
    </dgm:pt>
    <dgm:pt modelId="{001BAB78-F2B3-49F1-B025-BE7029FBB217}" type="parTrans" cxnId="{C4301B1F-93BA-43D4-824E-7FFB24C4C727}">
      <dgm:prSet/>
      <dgm:spPr/>
      <dgm:t>
        <a:bodyPr/>
        <a:lstStyle/>
        <a:p>
          <a:endParaRPr lang="en-IN"/>
        </a:p>
      </dgm:t>
    </dgm:pt>
    <dgm:pt modelId="{8049F3E0-D233-4267-9AB3-2AC247C2E52B}" type="sibTrans" cxnId="{C4301B1F-93BA-43D4-824E-7FFB24C4C727}">
      <dgm:prSet/>
      <dgm:spPr/>
      <dgm:t>
        <a:bodyPr/>
        <a:lstStyle/>
        <a:p>
          <a:endParaRPr lang="en-IN"/>
        </a:p>
      </dgm:t>
    </dgm:pt>
    <dgm:pt modelId="{00A6E3BD-2748-44F7-8261-BF17FF62B858}">
      <dgm:prSet phldrT="[Text]" custT="1"/>
      <dgm:spPr/>
      <dgm:t>
        <a:bodyPr/>
        <a:lstStyle/>
        <a:p>
          <a:r>
            <a:rPr lang="en-IN" sz="1400" dirty="0" smtClean="0">
              <a:latin typeface="Calibri" panose="020F0502020204030204" pitchFamily="34" charset="0"/>
              <a:ea typeface="Calibri" panose="020F0502020204030204" pitchFamily="34" charset="0"/>
              <a:cs typeface="Times New Roman" panose="02020603050405020304" pitchFamily="18" charset="0"/>
            </a:rPr>
            <a:t>Improve the modulus and failure properties (tensile strength, tear resistance and abrasion resistance) of the final vulcanizates.</a:t>
          </a:r>
          <a:endParaRPr lang="en-IN" sz="1400" dirty="0"/>
        </a:p>
      </dgm:t>
    </dgm:pt>
    <dgm:pt modelId="{E406B533-BD3E-44EE-BDFC-AC219951AF9F}" type="parTrans" cxnId="{AC8E49E0-DEE7-44E9-949F-142EEA6A2E05}">
      <dgm:prSet/>
      <dgm:spPr/>
      <dgm:t>
        <a:bodyPr/>
        <a:lstStyle/>
        <a:p>
          <a:endParaRPr lang="en-IN"/>
        </a:p>
      </dgm:t>
    </dgm:pt>
    <dgm:pt modelId="{A4DC1F59-FCA0-42E6-9369-54FE522E81F0}" type="sibTrans" cxnId="{AC8E49E0-DEE7-44E9-949F-142EEA6A2E05}">
      <dgm:prSet/>
      <dgm:spPr/>
      <dgm:t>
        <a:bodyPr/>
        <a:lstStyle/>
        <a:p>
          <a:endParaRPr lang="en-IN"/>
        </a:p>
      </dgm:t>
    </dgm:pt>
    <dgm:pt modelId="{2B87A2C3-6D24-4ECE-949A-03ECA59FA884}" type="pres">
      <dgm:prSet presAssocID="{8C4B75B0-91C9-49FA-9481-522DFFFDB4F5}" presName="Name0" presStyleCnt="0">
        <dgm:presLayoutVars>
          <dgm:chMax/>
          <dgm:chPref/>
          <dgm:dir/>
        </dgm:presLayoutVars>
      </dgm:prSet>
      <dgm:spPr/>
      <dgm:t>
        <a:bodyPr/>
        <a:lstStyle/>
        <a:p>
          <a:endParaRPr lang="en-IN"/>
        </a:p>
      </dgm:t>
    </dgm:pt>
    <dgm:pt modelId="{503CF603-023F-49AF-9017-16636020559D}" type="pres">
      <dgm:prSet presAssocID="{EA56F720-A70F-41EC-9206-6ABA779080DC}" presName="parenttextcomposite" presStyleCnt="0"/>
      <dgm:spPr/>
    </dgm:pt>
    <dgm:pt modelId="{9DC017E8-84F4-4046-B30E-C0B2991529C9}" type="pres">
      <dgm:prSet presAssocID="{EA56F720-A70F-41EC-9206-6ABA779080DC}" presName="parenttext" presStyleLbl="revTx" presStyleIdx="0" presStyleCnt="3">
        <dgm:presLayoutVars>
          <dgm:chMax/>
          <dgm:chPref val="2"/>
          <dgm:bulletEnabled val="1"/>
        </dgm:presLayoutVars>
      </dgm:prSet>
      <dgm:spPr/>
      <dgm:t>
        <a:bodyPr/>
        <a:lstStyle/>
        <a:p>
          <a:endParaRPr lang="en-IN"/>
        </a:p>
      </dgm:t>
    </dgm:pt>
    <dgm:pt modelId="{ACC0B76C-7FA9-40C4-BA68-6FC82BF32CA4}" type="pres">
      <dgm:prSet presAssocID="{EA56F720-A70F-41EC-9206-6ABA779080DC}" presName="composite" presStyleCnt="0"/>
      <dgm:spPr/>
    </dgm:pt>
    <dgm:pt modelId="{C2799663-88A1-41DE-B815-ED833E9D24DB}" type="pres">
      <dgm:prSet presAssocID="{EA56F720-A70F-41EC-9206-6ABA779080DC}" presName="chevron1" presStyleLbl="alignNode1" presStyleIdx="0" presStyleCnt="21"/>
      <dgm:spPr/>
    </dgm:pt>
    <dgm:pt modelId="{72E9D847-AA87-4F86-BF13-E6870BD0F673}" type="pres">
      <dgm:prSet presAssocID="{EA56F720-A70F-41EC-9206-6ABA779080DC}" presName="chevron2" presStyleLbl="alignNode1" presStyleIdx="1" presStyleCnt="21"/>
      <dgm:spPr/>
    </dgm:pt>
    <dgm:pt modelId="{25043CDB-34BD-46AB-81EA-64F7A9DBAF42}" type="pres">
      <dgm:prSet presAssocID="{EA56F720-A70F-41EC-9206-6ABA779080DC}" presName="chevron3" presStyleLbl="alignNode1" presStyleIdx="2" presStyleCnt="21"/>
      <dgm:spPr/>
    </dgm:pt>
    <dgm:pt modelId="{58ED977C-B4AD-4B38-A43D-10D7E37A6E57}" type="pres">
      <dgm:prSet presAssocID="{EA56F720-A70F-41EC-9206-6ABA779080DC}" presName="chevron4" presStyleLbl="alignNode1" presStyleIdx="3" presStyleCnt="21"/>
      <dgm:spPr/>
    </dgm:pt>
    <dgm:pt modelId="{93E58BEE-3E56-4D87-B085-9565E6E08924}" type="pres">
      <dgm:prSet presAssocID="{EA56F720-A70F-41EC-9206-6ABA779080DC}" presName="chevron5" presStyleLbl="alignNode1" presStyleIdx="4" presStyleCnt="21"/>
      <dgm:spPr/>
    </dgm:pt>
    <dgm:pt modelId="{72F614C4-C18A-4726-9EAD-CE156C2EAE7F}" type="pres">
      <dgm:prSet presAssocID="{EA56F720-A70F-41EC-9206-6ABA779080DC}" presName="chevron6" presStyleLbl="alignNode1" presStyleIdx="5" presStyleCnt="21"/>
      <dgm:spPr/>
    </dgm:pt>
    <dgm:pt modelId="{3293BE97-ED54-485D-A48B-143005B52B4F}" type="pres">
      <dgm:prSet presAssocID="{EA56F720-A70F-41EC-9206-6ABA779080DC}" presName="chevron7" presStyleLbl="alignNode1" presStyleIdx="6" presStyleCnt="21"/>
      <dgm:spPr/>
    </dgm:pt>
    <dgm:pt modelId="{311A0E9D-F2F9-44F7-B44C-A0B9E1B9B500}" type="pres">
      <dgm:prSet presAssocID="{EA56F720-A70F-41EC-9206-6ABA779080DC}" presName="childtext" presStyleLbl="solidFgAcc1" presStyleIdx="0" presStyleCnt="3">
        <dgm:presLayoutVars>
          <dgm:chMax/>
          <dgm:chPref val="0"/>
          <dgm:bulletEnabled val="1"/>
        </dgm:presLayoutVars>
      </dgm:prSet>
      <dgm:spPr/>
      <dgm:t>
        <a:bodyPr/>
        <a:lstStyle/>
        <a:p>
          <a:endParaRPr lang="en-IN"/>
        </a:p>
      </dgm:t>
    </dgm:pt>
    <dgm:pt modelId="{7DFE1644-993D-48CF-A0EE-0682E34353D9}" type="pres">
      <dgm:prSet presAssocID="{2A21F169-FF5D-4537-8955-11F43475F19F}" presName="sibTrans" presStyleCnt="0"/>
      <dgm:spPr/>
    </dgm:pt>
    <dgm:pt modelId="{C396F6D8-41C7-4720-A4FD-446C84C69E72}" type="pres">
      <dgm:prSet presAssocID="{97FE525C-4078-4F6F-8270-DB48C5E989AF}" presName="parenttextcomposite" presStyleCnt="0"/>
      <dgm:spPr/>
    </dgm:pt>
    <dgm:pt modelId="{E48BC7B0-644C-4D3E-AEA2-409325F6AE57}" type="pres">
      <dgm:prSet presAssocID="{97FE525C-4078-4F6F-8270-DB48C5E989AF}" presName="parenttext" presStyleLbl="revTx" presStyleIdx="1" presStyleCnt="3">
        <dgm:presLayoutVars>
          <dgm:chMax/>
          <dgm:chPref val="2"/>
          <dgm:bulletEnabled val="1"/>
        </dgm:presLayoutVars>
      </dgm:prSet>
      <dgm:spPr/>
      <dgm:t>
        <a:bodyPr/>
        <a:lstStyle/>
        <a:p>
          <a:endParaRPr lang="en-IN"/>
        </a:p>
      </dgm:t>
    </dgm:pt>
    <dgm:pt modelId="{A98CFCC5-1638-4811-A5E1-1901A0384079}" type="pres">
      <dgm:prSet presAssocID="{97FE525C-4078-4F6F-8270-DB48C5E989AF}" presName="composite" presStyleCnt="0"/>
      <dgm:spPr/>
    </dgm:pt>
    <dgm:pt modelId="{13ABD1FC-7F12-44D4-9DAC-B2D3085E2A5C}" type="pres">
      <dgm:prSet presAssocID="{97FE525C-4078-4F6F-8270-DB48C5E989AF}" presName="chevron1" presStyleLbl="alignNode1" presStyleIdx="7" presStyleCnt="21"/>
      <dgm:spPr/>
    </dgm:pt>
    <dgm:pt modelId="{3D78AE7B-C8A5-4F66-843E-D6BA1385426B}" type="pres">
      <dgm:prSet presAssocID="{97FE525C-4078-4F6F-8270-DB48C5E989AF}" presName="chevron2" presStyleLbl="alignNode1" presStyleIdx="8" presStyleCnt="21"/>
      <dgm:spPr/>
    </dgm:pt>
    <dgm:pt modelId="{B562CC2F-A89B-44EE-8AEA-C0B9E58C105F}" type="pres">
      <dgm:prSet presAssocID="{97FE525C-4078-4F6F-8270-DB48C5E989AF}" presName="chevron3" presStyleLbl="alignNode1" presStyleIdx="9" presStyleCnt="21"/>
      <dgm:spPr/>
    </dgm:pt>
    <dgm:pt modelId="{BA81F4D1-FD90-4B67-B446-E78CD275D67F}" type="pres">
      <dgm:prSet presAssocID="{97FE525C-4078-4F6F-8270-DB48C5E989AF}" presName="chevron4" presStyleLbl="alignNode1" presStyleIdx="10" presStyleCnt="21"/>
      <dgm:spPr/>
    </dgm:pt>
    <dgm:pt modelId="{0D7DD115-26C0-4729-892A-09BC26C6D50E}" type="pres">
      <dgm:prSet presAssocID="{97FE525C-4078-4F6F-8270-DB48C5E989AF}" presName="chevron5" presStyleLbl="alignNode1" presStyleIdx="11" presStyleCnt="21"/>
      <dgm:spPr/>
    </dgm:pt>
    <dgm:pt modelId="{B0F81474-5517-4904-875C-CEAD58E6CFD8}" type="pres">
      <dgm:prSet presAssocID="{97FE525C-4078-4F6F-8270-DB48C5E989AF}" presName="chevron6" presStyleLbl="alignNode1" presStyleIdx="12" presStyleCnt="21"/>
      <dgm:spPr/>
    </dgm:pt>
    <dgm:pt modelId="{CB135FFB-C026-4A9C-BE59-C619FEA0B59F}" type="pres">
      <dgm:prSet presAssocID="{97FE525C-4078-4F6F-8270-DB48C5E989AF}" presName="chevron7" presStyleLbl="alignNode1" presStyleIdx="13" presStyleCnt="21"/>
      <dgm:spPr/>
    </dgm:pt>
    <dgm:pt modelId="{14855F38-264F-46BF-BE00-F484DD8423FF}" type="pres">
      <dgm:prSet presAssocID="{97FE525C-4078-4F6F-8270-DB48C5E989AF}" presName="childtext" presStyleLbl="solidFgAcc1" presStyleIdx="1" presStyleCnt="3">
        <dgm:presLayoutVars>
          <dgm:chMax/>
          <dgm:chPref val="0"/>
          <dgm:bulletEnabled val="1"/>
        </dgm:presLayoutVars>
      </dgm:prSet>
      <dgm:spPr/>
      <dgm:t>
        <a:bodyPr/>
        <a:lstStyle/>
        <a:p>
          <a:endParaRPr lang="en-IN"/>
        </a:p>
      </dgm:t>
    </dgm:pt>
    <dgm:pt modelId="{154E812A-7980-4090-8C45-F42D0843E320}" type="pres">
      <dgm:prSet presAssocID="{A3B4012A-57ED-4B9F-82CC-136EC8119548}" presName="sibTrans" presStyleCnt="0"/>
      <dgm:spPr/>
    </dgm:pt>
    <dgm:pt modelId="{11D12AD3-1EB7-4F6A-A971-E6EFD40A6411}" type="pres">
      <dgm:prSet presAssocID="{E8082B0C-8D9D-45D7-84EC-1EB2776C14F3}" presName="parenttextcomposite" presStyleCnt="0"/>
      <dgm:spPr/>
    </dgm:pt>
    <dgm:pt modelId="{96B3D5A1-9379-4A22-9709-D70DD164AA42}" type="pres">
      <dgm:prSet presAssocID="{E8082B0C-8D9D-45D7-84EC-1EB2776C14F3}" presName="parenttext" presStyleLbl="revTx" presStyleIdx="2" presStyleCnt="3">
        <dgm:presLayoutVars>
          <dgm:chMax/>
          <dgm:chPref val="2"/>
          <dgm:bulletEnabled val="1"/>
        </dgm:presLayoutVars>
      </dgm:prSet>
      <dgm:spPr/>
      <dgm:t>
        <a:bodyPr/>
        <a:lstStyle/>
        <a:p>
          <a:endParaRPr lang="en-IN"/>
        </a:p>
      </dgm:t>
    </dgm:pt>
    <dgm:pt modelId="{FD14EF00-3B61-4AD4-AEC2-A84F0C70AB51}" type="pres">
      <dgm:prSet presAssocID="{E8082B0C-8D9D-45D7-84EC-1EB2776C14F3}" presName="composite" presStyleCnt="0"/>
      <dgm:spPr/>
    </dgm:pt>
    <dgm:pt modelId="{D70F4D5C-FABC-4623-82C7-C27D39066923}" type="pres">
      <dgm:prSet presAssocID="{E8082B0C-8D9D-45D7-84EC-1EB2776C14F3}" presName="chevron1" presStyleLbl="alignNode1" presStyleIdx="14" presStyleCnt="21"/>
      <dgm:spPr/>
    </dgm:pt>
    <dgm:pt modelId="{01602624-83C4-4DA6-95B9-CB19CDBD6BE7}" type="pres">
      <dgm:prSet presAssocID="{E8082B0C-8D9D-45D7-84EC-1EB2776C14F3}" presName="chevron2" presStyleLbl="alignNode1" presStyleIdx="15" presStyleCnt="21"/>
      <dgm:spPr/>
    </dgm:pt>
    <dgm:pt modelId="{971165D3-D842-4E94-9367-9E560DDC7EB9}" type="pres">
      <dgm:prSet presAssocID="{E8082B0C-8D9D-45D7-84EC-1EB2776C14F3}" presName="chevron3" presStyleLbl="alignNode1" presStyleIdx="16" presStyleCnt="21"/>
      <dgm:spPr/>
    </dgm:pt>
    <dgm:pt modelId="{3D6E8DCE-1046-4390-98FA-9472F9A006B1}" type="pres">
      <dgm:prSet presAssocID="{E8082B0C-8D9D-45D7-84EC-1EB2776C14F3}" presName="chevron4" presStyleLbl="alignNode1" presStyleIdx="17" presStyleCnt="21"/>
      <dgm:spPr/>
    </dgm:pt>
    <dgm:pt modelId="{13BBE582-52B1-4C40-8DCC-8979401871FE}" type="pres">
      <dgm:prSet presAssocID="{E8082B0C-8D9D-45D7-84EC-1EB2776C14F3}" presName="chevron5" presStyleLbl="alignNode1" presStyleIdx="18" presStyleCnt="21"/>
      <dgm:spPr/>
    </dgm:pt>
    <dgm:pt modelId="{F3DA966E-6A0E-42E3-AF96-557B82447159}" type="pres">
      <dgm:prSet presAssocID="{E8082B0C-8D9D-45D7-84EC-1EB2776C14F3}" presName="chevron6" presStyleLbl="alignNode1" presStyleIdx="19" presStyleCnt="21"/>
      <dgm:spPr/>
    </dgm:pt>
    <dgm:pt modelId="{D4826437-297F-4D58-AA14-A5100D64BAD2}" type="pres">
      <dgm:prSet presAssocID="{E8082B0C-8D9D-45D7-84EC-1EB2776C14F3}" presName="chevron7" presStyleLbl="alignNode1" presStyleIdx="20" presStyleCnt="21"/>
      <dgm:spPr/>
    </dgm:pt>
    <dgm:pt modelId="{AB4DF172-90B2-44C2-BDDB-7397CE0D0EB7}" type="pres">
      <dgm:prSet presAssocID="{E8082B0C-8D9D-45D7-84EC-1EB2776C14F3}" presName="childtext" presStyleLbl="solidFgAcc1" presStyleIdx="2" presStyleCnt="3">
        <dgm:presLayoutVars>
          <dgm:chMax/>
          <dgm:chPref val="0"/>
          <dgm:bulletEnabled val="1"/>
        </dgm:presLayoutVars>
      </dgm:prSet>
      <dgm:spPr/>
      <dgm:t>
        <a:bodyPr/>
        <a:lstStyle/>
        <a:p>
          <a:endParaRPr lang="en-IN"/>
        </a:p>
      </dgm:t>
    </dgm:pt>
  </dgm:ptLst>
  <dgm:cxnLst>
    <dgm:cxn modelId="{9C995EEF-2AD2-479A-BCEF-42867283799F}" type="presOf" srcId="{00A6E3BD-2748-44F7-8261-BF17FF62B858}" destId="{14855F38-264F-46BF-BE00-F484DD8423FF}" srcOrd="0" destOrd="2" presId="urn:microsoft.com/office/officeart/2008/layout/VerticalAccentList"/>
    <dgm:cxn modelId="{BC44E673-730F-4A8E-B060-D1ABCDFDB82C}" type="presOf" srcId="{FC4C2C0A-5372-497B-ADE9-121C8E3E1844}" destId="{14855F38-264F-46BF-BE00-F484DD8423FF}" srcOrd="0" destOrd="0" presId="urn:microsoft.com/office/officeart/2008/layout/VerticalAccentList"/>
    <dgm:cxn modelId="{033D20B7-C3DB-4387-8648-C027285C777E}" type="presOf" srcId="{001450F2-1982-4E00-9A9F-D5B013488406}" destId="{311A0E9D-F2F9-44F7-B44C-A0B9E1B9B500}" srcOrd="0" destOrd="1" presId="urn:microsoft.com/office/officeart/2008/layout/VerticalAccentList"/>
    <dgm:cxn modelId="{E925F9CF-69E0-4A9A-B831-C3477EB46DD2}" type="presOf" srcId="{97FE525C-4078-4F6F-8270-DB48C5E989AF}" destId="{E48BC7B0-644C-4D3E-AEA2-409325F6AE57}" srcOrd="0" destOrd="0" presId="urn:microsoft.com/office/officeart/2008/layout/VerticalAccentList"/>
    <dgm:cxn modelId="{DC885393-7283-48BB-90D2-A33630BCBA31}" type="presOf" srcId="{8ED9F1BD-B048-4D33-8A96-D13EFC79EDFD}" destId="{AB4DF172-90B2-44C2-BDDB-7397CE0D0EB7}" srcOrd="0" destOrd="0" presId="urn:microsoft.com/office/officeart/2008/layout/VerticalAccentList"/>
    <dgm:cxn modelId="{1A9AACE4-76CC-4785-842D-7998093B2A6D}" srcId="{EA56F720-A70F-41EC-9206-6ABA779080DC}" destId="{5D2D2CA1-66E7-4FAD-956F-9CDDCC6727A4}" srcOrd="2" destOrd="0" parTransId="{7E9F169A-3E0D-4507-9290-C28081B452FE}" sibTransId="{21F1A034-C917-4B54-9501-885E53D2E352}"/>
    <dgm:cxn modelId="{E2BD28AE-F623-4EF7-BD50-436D13F62799}" srcId="{E8082B0C-8D9D-45D7-84EC-1EB2776C14F3}" destId="{8ED9F1BD-B048-4D33-8A96-D13EFC79EDFD}" srcOrd="0" destOrd="0" parTransId="{DA575C86-1624-4C6B-81FD-423503147ED5}" sibTransId="{C3C48E03-D6C8-4DCA-A566-CEF85291A4C3}"/>
    <dgm:cxn modelId="{C4301B1F-93BA-43D4-824E-7FFB24C4C727}" srcId="{97FE525C-4078-4F6F-8270-DB48C5E989AF}" destId="{530FC8F3-3423-46FC-91A8-4F09F9C47291}" srcOrd="1" destOrd="0" parTransId="{001BAB78-F2B3-49F1-B025-BE7029FBB217}" sibTransId="{8049F3E0-D233-4267-9AB3-2AC247C2E52B}"/>
    <dgm:cxn modelId="{BE37B571-72AF-4B1C-9E09-C2D86785F779}" srcId="{EA56F720-A70F-41EC-9206-6ABA779080DC}" destId="{C2E26F2B-7A9F-4DA6-A7C5-11CF4E87759D}" srcOrd="0" destOrd="0" parTransId="{259CC18E-09F3-4B18-9573-7F530241ECC9}" sibTransId="{A59FE12F-2A29-45F3-9755-DDC1E8A90448}"/>
    <dgm:cxn modelId="{AE21FD91-4664-419D-8E6C-5CFB9BDCFDD8}" type="presOf" srcId="{5D2D2CA1-66E7-4FAD-956F-9CDDCC6727A4}" destId="{311A0E9D-F2F9-44F7-B44C-A0B9E1B9B500}" srcOrd="0" destOrd="2" presId="urn:microsoft.com/office/officeart/2008/layout/VerticalAccentList"/>
    <dgm:cxn modelId="{7DB4AE2A-3C57-4FD4-A47E-CA98B6BBC673}" type="presOf" srcId="{EA56F720-A70F-41EC-9206-6ABA779080DC}" destId="{9DC017E8-84F4-4046-B30E-C0B2991529C9}" srcOrd="0" destOrd="0" presId="urn:microsoft.com/office/officeart/2008/layout/VerticalAccentList"/>
    <dgm:cxn modelId="{E6B24841-F6B6-465C-9E63-24C7C40EB6B3}" srcId="{EA56F720-A70F-41EC-9206-6ABA779080DC}" destId="{001450F2-1982-4E00-9A9F-D5B013488406}" srcOrd="1" destOrd="0" parTransId="{23A29991-3E3A-4D87-B5AC-9EE8FFC725FF}" sibTransId="{4A6D7B7A-AF1F-4979-9AB7-9B2ECF025D09}"/>
    <dgm:cxn modelId="{8A5535A3-9F8F-4CBE-80C9-B74CD17F7D54}" srcId="{97FE525C-4078-4F6F-8270-DB48C5E989AF}" destId="{FC4C2C0A-5372-497B-ADE9-121C8E3E1844}" srcOrd="0" destOrd="0" parTransId="{1BFD02D6-64FB-4FE0-B712-43B111771498}" sibTransId="{4446C44D-BDC4-4A08-8F8B-A7ED63AA4247}"/>
    <dgm:cxn modelId="{3470FD6B-1D8E-4FBE-91E4-1389C7A7126C}" type="presOf" srcId="{E8082B0C-8D9D-45D7-84EC-1EB2776C14F3}" destId="{96B3D5A1-9379-4A22-9709-D70DD164AA42}" srcOrd="0" destOrd="0" presId="urn:microsoft.com/office/officeart/2008/layout/VerticalAccentList"/>
    <dgm:cxn modelId="{AC8E49E0-DEE7-44E9-949F-142EEA6A2E05}" srcId="{97FE525C-4078-4F6F-8270-DB48C5E989AF}" destId="{00A6E3BD-2748-44F7-8261-BF17FF62B858}" srcOrd="2" destOrd="0" parTransId="{E406B533-BD3E-44EE-BDFC-AC219951AF9F}" sibTransId="{A4DC1F59-FCA0-42E6-9369-54FE522E81F0}"/>
    <dgm:cxn modelId="{BD2E1FD1-AF0D-441D-8F99-32948EB6ABF2}" type="presOf" srcId="{530FC8F3-3423-46FC-91A8-4F09F9C47291}" destId="{14855F38-264F-46BF-BE00-F484DD8423FF}" srcOrd="0" destOrd="1" presId="urn:microsoft.com/office/officeart/2008/layout/VerticalAccentList"/>
    <dgm:cxn modelId="{2696A0D2-49E5-4A8C-A03B-07D7F8E6A0B8}" srcId="{8C4B75B0-91C9-49FA-9481-522DFFFDB4F5}" destId="{E8082B0C-8D9D-45D7-84EC-1EB2776C14F3}" srcOrd="2" destOrd="0" parTransId="{6FC1E9F6-C4D7-4C15-AFE2-EC5A3690CC3F}" sibTransId="{B2C23E51-1126-46C5-A68C-2838127D915E}"/>
    <dgm:cxn modelId="{2B9AC6F8-31F3-4237-919C-D558FF69A93D}" srcId="{8C4B75B0-91C9-49FA-9481-522DFFFDB4F5}" destId="{EA56F720-A70F-41EC-9206-6ABA779080DC}" srcOrd="0" destOrd="0" parTransId="{D5E89773-1703-47D0-98BD-1D0F5C4B4749}" sibTransId="{2A21F169-FF5D-4537-8955-11F43475F19F}"/>
    <dgm:cxn modelId="{A7B98732-5A9D-4C13-B4E3-7A9FFCAC6B91}" type="presOf" srcId="{8C4B75B0-91C9-49FA-9481-522DFFFDB4F5}" destId="{2B87A2C3-6D24-4ECE-949A-03ECA59FA884}" srcOrd="0" destOrd="0" presId="urn:microsoft.com/office/officeart/2008/layout/VerticalAccentList"/>
    <dgm:cxn modelId="{03C101B2-89B8-403A-B562-C977A0650210}" srcId="{8C4B75B0-91C9-49FA-9481-522DFFFDB4F5}" destId="{97FE525C-4078-4F6F-8270-DB48C5E989AF}" srcOrd="1" destOrd="0" parTransId="{BA79BFD9-7C6C-42FE-9461-2BC6567B269F}" sibTransId="{A3B4012A-57ED-4B9F-82CC-136EC8119548}"/>
    <dgm:cxn modelId="{620E8AAB-5B59-42D7-A8B0-58F0993AA5E6}" type="presOf" srcId="{C2E26F2B-7A9F-4DA6-A7C5-11CF4E87759D}" destId="{311A0E9D-F2F9-44F7-B44C-A0B9E1B9B500}" srcOrd="0" destOrd="0" presId="urn:microsoft.com/office/officeart/2008/layout/VerticalAccentList"/>
    <dgm:cxn modelId="{11F37551-76EC-4D70-8084-88446B0C9D2B}" type="presParOf" srcId="{2B87A2C3-6D24-4ECE-949A-03ECA59FA884}" destId="{503CF603-023F-49AF-9017-16636020559D}" srcOrd="0" destOrd="0" presId="urn:microsoft.com/office/officeart/2008/layout/VerticalAccentList"/>
    <dgm:cxn modelId="{55F761DD-BB73-40E7-B82B-8C91A83408E7}" type="presParOf" srcId="{503CF603-023F-49AF-9017-16636020559D}" destId="{9DC017E8-84F4-4046-B30E-C0B2991529C9}" srcOrd="0" destOrd="0" presId="urn:microsoft.com/office/officeart/2008/layout/VerticalAccentList"/>
    <dgm:cxn modelId="{723C4D83-A483-4FB8-81C3-FEF920D13D74}" type="presParOf" srcId="{2B87A2C3-6D24-4ECE-949A-03ECA59FA884}" destId="{ACC0B76C-7FA9-40C4-BA68-6FC82BF32CA4}" srcOrd="1" destOrd="0" presId="urn:microsoft.com/office/officeart/2008/layout/VerticalAccentList"/>
    <dgm:cxn modelId="{825A6184-26E8-4AD1-940B-4EAA1A6E22AE}" type="presParOf" srcId="{ACC0B76C-7FA9-40C4-BA68-6FC82BF32CA4}" destId="{C2799663-88A1-41DE-B815-ED833E9D24DB}" srcOrd="0" destOrd="0" presId="urn:microsoft.com/office/officeart/2008/layout/VerticalAccentList"/>
    <dgm:cxn modelId="{55ECA69B-6FA6-45D5-B272-F6B31AACE984}" type="presParOf" srcId="{ACC0B76C-7FA9-40C4-BA68-6FC82BF32CA4}" destId="{72E9D847-AA87-4F86-BF13-E6870BD0F673}" srcOrd="1" destOrd="0" presId="urn:microsoft.com/office/officeart/2008/layout/VerticalAccentList"/>
    <dgm:cxn modelId="{445D9EF0-C2AE-49E9-9B55-CB3AD1CBD9C4}" type="presParOf" srcId="{ACC0B76C-7FA9-40C4-BA68-6FC82BF32CA4}" destId="{25043CDB-34BD-46AB-81EA-64F7A9DBAF42}" srcOrd="2" destOrd="0" presId="urn:microsoft.com/office/officeart/2008/layout/VerticalAccentList"/>
    <dgm:cxn modelId="{3DDE6DCF-60D3-4DC2-B20F-9D226E641D92}" type="presParOf" srcId="{ACC0B76C-7FA9-40C4-BA68-6FC82BF32CA4}" destId="{58ED977C-B4AD-4B38-A43D-10D7E37A6E57}" srcOrd="3" destOrd="0" presId="urn:microsoft.com/office/officeart/2008/layout/VerticalAccentList"/>
    <dgm:cxn modelId="{1A5915F8-EFCD-40E8-9E35-555A6349A44E}" type="presParOf" srcId="{ACC0B76C-7FA9-40C4-BA68-6FC82BF32CA4}" destId="{93E58BEE-3E56-4D87-B085-9565E6E08924}" srcOrd="4" destOrd="0" presId="urn:microsoft.com/office/officeart/2008/layout/VerticalAccentList"/>
    <dgm:cxn modelId="{6D14937D-F326-4D13-9B95-201A6AC204AF}" type="presParOf" srcId="{ACC0B76C-7FA9-40C4-BA68-6FC82BF32CA4}" destId="{72F614C4-C18A-4726-9EAD-CE156C2EAE7F}" srcOrd="5" destOrd="0" presId="urn:microsoft.com/office/officeart/2008/layout/VerticalAccentList"/>
    <dgm:cxn modelId="{343CB748-2D8A-4DC4-ACE7-37C1E62750F1}" type="presParOf" srcId="{ACC0B76C-7FA9-40C4-BA68-6FC82BF32CA4}" destId="{3293BE97-ED54-485D-A48B-143005B52B4F}" srcOrd="6" destOrd="0" presId="urn:microsoft.com/office/officeart/2008/layout/VerticalAccentList"/>
    <dgm:cxn modelId="{B1EE4829-311F-424B-A409-716DD5806059}" type="presParOf" srcId="{ACC0B76C-7FA9-40C4-BA68-6FC82BF32CA4}" destId="{311A0E9D-F2F9-44F7-B44C-A0B9E1B9B500}" srcOrd="7" destOrd="0" presId="urn:microsoft.com/office/officeart/2008/layout/VerticalAccentList"/>
    <dgm:cxn modelId="{00A943E8-00BD-4000-928B-7C5572AC224A}" type="presParOf" srcId="{2B87A2C3-6D24-4ECE-949A-03ECA59FA884}" destId="{7DFE1644-993D-48CF-A0EE-0682E34353D9}" srcOrd="2" destOrd="0" presId="urn:microsoft.com/office/officeart/2008/layout/VerticalAccentList"/>
    <dgm:cxn modelId="{394ABEC8-51C3-439C-A248-99BEC64E241C}" type="presParOf" srcId="{2B87A2C3-6D24-4ECE-949A-03ECA59FA884}" destId="{C396F6D8-41C7-4720-A4FD-446C84C69E72}" srcOrd="3" destOrd="0" presId="urn:microsoft.com/office/officeart/2008/layout/VerticalAccentList"/>
    <dgm:cxn modelId="{FD6BDDFA-475F-414F-BB6A-20F7974F84B1}" type="presParOf" srcId="{C396F6D8-41C7-4720-A4FD-446C84C69E72}" destId="{E48BC7B0-644C-4D3E-AEA2-409325F6AE57}" srcOrd="0" destOrd="0" presId="urn:microsoft.com/office/officeart/2008/layout/VerticalAccentList"/>
    <dgm:cxn modelId="{AE19792C-3B41-4A59-A6C7-90655A8CAA96}" type="presParOf" srcId="{2B87A2C3-6D24-4ECE-949A-03ECA59FA884}" destId="{A98CFCC5-1638-4811-A5E1-1901A0384079}" srcOrd="4" destOrd="0" presId="urn:microsoft.com/office/officeart/2008/layout/VerticalAccentList"/>
    <dgm:cxn modelId="{9279EA2B-A1EE-4D6E-8893-339C244DEFDD}" type="presParOf" srcId="{A98CFCC5-1638-4811-A5E1-1901A0384079}" destId="{13ABD1FC-7F12-44D4-9DAC-B2D3085E2A5C}" srcOrd="0" destOrd="0" presId="urn:microsoft.com/office/officeart/2008/layout/VerticalAccentList"/>
    <dgm:cxn modelId="{149B79EE-08CF-4714-AEED-F977EE6864E7}" type="presParOf" srcId="{A98CFCC5-1638-4811-A5E1-1901A0384079}" destId="{3D78AE7B-C8A5-4F66-843E-D6BA1385426B}" srcOrd="1" destOrd="0" presId="urn:microsoft.com/office/officeart/2008/layout/VerticalAccentList"/>
    <dgm:cxn modelId="{67EDAEC3-0853-4DCD-948C-CB71D5513A0E}" type="presParOf" srcId="{A98CFCC5-1638-4811-A5E1-1901A0384079}" destId="{B562CC2F-A89B-44EE-8AEA-C0B9E58C105F}" srcOrd="2" destOrd="0" presId="urn:microsoft.com/office/officeart/2008/layout/VerticalAccentList"/>
    <dgm:cxn modelId="{EC4D941F-BE9A-4AE4-B3B7-F0E030DA218A}" type="presParOf" srcId="{A98CFCC5-1638-4811-A5E1-1901A0384079}" destId="{BA81F4D1-FD90-4B67-B446-E78CD275D67F}" srcOrd="3" destOrd="0" presId="urn:microsoft.com/office/officeart/2008/layout/VerticalAccentList"/>
    <dgm:cxn modelId="{2AB191F0-064D-4434-8815-671D19FC36D1}" type="presParOf" srcId="{A98CFCC5-1638-4811-A5E1-1901A0384079}" destId="{0D7DD115-26C0-4729-892A-09BC26C6D50E}" srcOrd="4" destOrd="0" presId="urn:microsoft.com/office/officeart/2008/layout/VerticalAccentList"/>
    <dgm:cxn modelId="{B0AF6AF2-9FF7-4D4F-8FCE-9AD89E3B2037}" type="presParOf" srcId="{A98CFCC5-1638-4811-A5E1-1901A0384079}" destId="{B0F81474-5517-4904-875C-CEAD58E6CFD8}" srcOrd="5" destOrd="0" presId="urn:microsoft.com/office/officeart/2008/layout/VerticalAccentList"/>
    <dgm:cxn modelId="{035BE41A-54FD-46AE-904F-D27567CEDAF1}" type="presParOf" srcId="{A98CFCC5-1638-4811-A5E1-1901A0384079}" destId="{CB135FFB-C026-4A9C-BE59-C619FEA0B59F}" srcOrd="6" destOrd="0" presId="urn:microsoft.com/office/officeart/2008/layout/VerticalAccentList"/>
    <dgm:cxn modelId="{B2CA181D-C09E-4365-8BA3-88E231CCB38B}" type="presParOf" srcId="{A98CFCC5-1638-4811-A5E1-1901A0384079}" destId="{14855F38-264F-46BF-BE00-F484DD8423FF}" srcOrd="7" destOrd="0" presId="urn:microsoft.com/office/officeart/2008/layout/VerticalAccentList"/>
    <dgm:cxn modelId="{1B730791-5EBC-4035-97D7-49E8B9E5CBE3}" type="presParOf" srcId="{2B87A2C3-6D24-4ECE-949A-03ECA59FA884}" destId="{154E812A-7980-4090-8C45-F42D0843E320}" srcOrd="5" destOrd="0" presId="urn:microsoft.com/office/officeart/2008/layout/VerticalAccentList"/>
    <dgm:cxn modelId="{3B95A8E5-68F8-4F3B-B2CD-9937D015B688}" type="presParOf" srcId="{2B87A2C3-6D24-4ECE-949A-03ECA59FA884}" destId="{11D12AD3-1EB7-4F6A-A971-E6EFD40A6411}" srcOrd="6" destOrd="0" presId="urn:microsoft.com/office/officeart/2008/layout/VerticalAccentList"/>
    <dgm:cxn modelId="{94227048-C971-4D09-A69C-B5C20D93562A}" type="presParOf" srcId="{11D12AD3-1EB7-4F6A-A971-E6EFD40A6411}" destId="{96B3D5A1-9379-4A22-9709-D70DD164AA42}" srcOrd="0" destOrd="0" presId="urn:microsoft.com/office/officeart/2008/layout/VerticalAccentList"/>
    <dgm:cxn modelId="{6B1B0A46-689D-4F27-BC83-1D49EFB97F1C}" type="presParOf" srcId="{2B87A2C3-6D24-4ECE-949A-03ECA59FA884}" destId="{FD14EF00-3B61-4AD4-AEC2-A84F0C70AB51}" srcOrd="7" destOrd="0" presId="urn:microsoft.com/office/officeart/2008/layout/VerticalAccentList"/>
    <dgm:cxn modelId="{844DD91C-ACC9-4F7E-997C-763BD7A77F4F}" type="presParOf" srcId="{FD14EF00-3B61-4AD4-AEC2-A84F0C70AB51}" destId="{D70F4D5C-FABC-4623-82C7-C27D39066923}" srcOrd="0" destOrd="0" presId="urn:microsoft.com/office/officeart/2008/layout/VerticalAccentList"/>
    <dgm:cxn modelId="{9B6207EE-1CA4-43B2-B124-E50A90DCA815}" type="presParOf" srcId="{FD14EF00-3B61-4AD4-AEC2-A84F0C70AB51}" destId="{01602624-83C4-4DA6-95B9-CB19CDBD6BE7}" srcOrd="1" destOrd="0" presId="urn:microsoft.com/office/officeart/2008/layout/VerticalAccentList"/>
    <dgm:cxn modelId="{894D16C0-D311-4A12-AA82-CBBB22E2E0FD}" type="presParOf" srcId="{FD14EF00-3B61-4AD4-AEC2-A84F0C70AB51}" destId="{971165D3-D842-4E94-9367-9E560DDC7EB9}" srcOrd="2" destOrd="0" presId="urn:microsoft.com/office/officeart/2008/layout/VerticalAccentList"/>
    <dgm:cxn modelId="{6409C9A5-DDE2-4615-A7DC-17745D31DB32}" type="presParOf" srcId="{FD14EF00-3B61-4AD4-AEC2-A84F0C70AB51}" destId="{3D6E8DCE-1046-4390-98FA-9472F9A006B1}" srcOrd="3" destOrd="0" presId="urn:microsoft.com/office/officeart/2008/layout/VerticalAccentList"/>
    <dgm:cxn modelId="{B88E7B11-7137-453D-A724-71F7D372C7EB}" type="presParOf" srcId="{FD14EF00-3B61-4AD4-AEC2-A84F0C70AB51}" destId="{13BBE582-52B1-4C40-8DCC-8979401871FE}" srcOrd="4" destOrd="0" presId="urn:microsoft.com/office/officeart/2008/layout/VerticalAccentList"/>
    <dgm:cxn modelId="{1547FC7E-DC4B-46B8-A1C6-E06A007483EB}" type="presParOf" srcId="{FD14EF00-3B61-4AD4-AEC2-A84F0C70AB51}" destId="{F3DA966E-6A0E-42E3-AF96-557B82447159}" srcOrd="5" destOrd="0" presId="urn:microsoft.com/office/officeart/2008/layout/VerticalAccentList"/>
    <dgm:cxn modelId="{FAF51463-6018-4E6B-9DC7-5EAC4BA9E0C5}" type="presParOf" srcId="{FD14EF00-3B61-4AD4-AEC2-A84F0C70AB51}" destId="{D4826437-297F-4D58-AA14-A5100D64BAD2}" srcOrd="6" destOrd="0" presId="urn:microsoft.com/office/officeart/2008/layout/VerticalAccentList"/>
    <dgm:cxn modelId="{85AB95FD-A1EC-4509-AD2B-5ABAE0962A3C}" type="presParOf" srcId="{FD14EF00-3B61-4AD4-AEC2-A84F0C70AB51}" destId="{AB4DF172-90B2-44C2-BDDB-7397CE0D0EB7}" srcOrd="7"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29EC51-26B1-4A8F-8BF0-A061EBB8FEE1}">
      <dsp:nvSpPr>
        <dsp:cNvPr id="0" name=""/>
        <dsp:cNvSpPr/>
      </dsp:nvSpPr>
      <dsp:spPr>
        <a:xfrm>
          <a:off x="166647" y="380341"/>
          <a:ext cx="9652155" cy="8774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b" anchorCtr="0">
          <a:noAutofit/>
        </a:bodyPr>
        <a:lstStyle/>
        <a:p>
          <a:pPr lvl="0" algn="l" defTabSz="1600200">
            <a:lnSpc>
              <a:spcPct val="90000"/>
            </a:lnSpc>
            <a:spcBef>
              <a:spcPct val="0"/>
            </a:spcBef>
            <a:spcAft>
              <a:spcPct val="35000"/>
            </a:spcAft>
          </a:pPr>
          <a:r>
            <a:rPr lang="en-IN" sz="3600" kern="1200" dirty="0" smtClean="0"/>
            <a:t>Degradation of Rubber</a:t>
          </a:r>
          <a:endParaRPr lang="en-IN" sz="3600" kern="1200" dirty="0"/>
        </a:p>
      </dsp:txBody>
      <dsp:txXfrm>
        <a:off x="166647" y="380341"/>
        <a:ext cx="9652155" cy="877468"/>
      </dsp:txXfrm>
    </dsp:sp>
    <dsp:sp modelId="{281E1100-B613-4918-95EC-621F5DC74879}">
      <dsp:nvSpPr>
        <dsp:cNvPr id="0" name=""/>
        <dsp:cNvSpPr/>
      </dsp:nvSpPr>
      <dsp:spPr>
        <a:xfrm>
          <a:off x="166647" y="1257810"/>
          <a:ext cx="2258604" cy="1787436"/>
        </a:xfrm>
        <a:prstGeom prst="chevron">
          <a:avLst>
            <a:gd name="adj" fmla="val 7061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4CB024-B338-412D-A08E-E818AB15C9C5}">
      <dsp:nvSpPr>
        <dsp:cNvPr id="0" name=""/>
        <dsp:cNvSpPr/>
      </dsp:nvSpPr>
      <dsp:spPr>
        <a:xfrm>
          <a:off x="1523311" y="1257810"/>
          <a:ext cx="2258604" cy="1787436"/>
        </a:xfrm>
        <a:prstGeom prst="chevron">
          <a:avLst>
            <a:gd name="adj" fmla="val 7061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FEA8A0-9889-4605-847C-05878B3CA1F2}">
      <dsp:nvSpPr>
        <dsp:cNvPr id="0" name=""/>
        <dsp:cNvSpPr/>
      </dsp:nvSpPr>
      <dsp:spPr>
        <a:xfrm>
          <a:off x="2881047" y="1257810"/>
          <a:ext cx="2258604" cy="1787436"/>
        </a:xfrm>
        <a:prstGeom prst="chevron">
          <a:avLst>
            <a:gd name="adj" fmla="val 7061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F34A7E-D735-4ED2-86EB-ED86071D2C57}">
      <dsp:nvSpPr>
        <dsp:cNvPr id="0" name=""/>
        <dsp:cNvSpPr/>
      </dsp:nvSpPr>
      <dsp:spPr>
        <a:xfrm>
          <a:off x="4237712" y="1257810"/>
          <a:ext cx="2258604" cy="1787436"/>
        </a:xfrm>
        <a:prstGeom prst="chevron">
          <a:avLst>
            <a:gd name="adj" fmla="val 7061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8734B0-44C1-4F05-99C4-480154D6D985}">
      <dsp:nvSpPr>
        <dsp:cNvPr id="0" name=""/>
        <dsp:cNvSpPr/>
      </dsp:nvSpPr>
      <dsp:spPr>
        <a:xfrm>
          <a:off x="5595448" y="1257810"/>
          <a:ext cx="2258604" cy="1787436"/>
        </a:xfrm>
        <a:prstGeom prst="chevron">
          <a:avLst>
            <a:gd name="adj" fmla="val 70610"/>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D5CAF8-A347-4AE9-8F03-12A2750D012B}">
      <dsp:nvSpPr>
        <dsp:cNvPr id="0" name=""/>
        <dsp:cNvSpPr/>
      </dsp:nvSpPr>
      <dsp:spPr>
        <a:xfrm>
          <a:off x="6952112" y="1257810"/>
          <a:ext cx="2258604" cy="1787436"/>
        </a:xfrm>
        <a:prstGeom prst="chevron">
          <a:avLst>
            <a:gd name="adj" fmla="val 7061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734891-AEB4-49E3-A959-84A0022806B9}">
      <dsp:nvSpPr>
        <dsp:cNvPr id="0" name=""/>
        <dsp:cNvSpPr/>
      </dsp:nvSpPr>
      <dsp:spPr>
        <a:xfrm>
          <a:off x="8309849" y="1257810"/>
          <a:ext cx="2258604" cy="1787436"/>
        </a:xfrm>
        <a:prstGeom prst="chevron">
          <a:avLst>
            <a:gd name="adj" fmla="val 70610"/>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B6B819-A6F1-42C1-B995-96385A836905}">
      <dsp:nvSpPr>
        <dsp:cNvPr id="0" name=""/>
        <dsp:cNvSpPr/>
      </dsp:nvSpPr>
      <dsp:spPr>
        <a:xfrm>
          <a:off x="166647" y="1436553"/>
          <a:ext cx="9777633" cy="1429949"/>
        </a:xfrm>
        <a:prstGeom prst="rect">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lvl="0" algn="l" defTabSz="711200">
            <a:lnSpc>
              <a:spcPct val="90000"/>
            </a:lnSpc>
            <a:spcBef>
              <a:spcPct val="0"/>
            </a:spcBef>
            <a:spcAft>
              <a:spcPct val="35000"/>
            </a:spcAft>
          </a:pPr>
          <a:r>
            <a:rPr lang="en-IN" sz="1600" kern="1200" dirty="0" smtClean="0"/>
            <a:t> </a:t>
          </a:r>
          <a:r>
            <a:rPr lang="en-IN" sz="1800" kern="1200" dirty="0" smtClean="0">
              <a:solidFill>
                <a:srgbClr val="FF0000"/>
              </a:solidFill>
            </a:rPr>
            <a:t>Chain scission resulting in shorter chains and lower molecular weight ( NR &amp; IIR – softened stock showing tackiness ).</a:t>
          </a:r>
          <a:endParaRPr lang="en-IN" sz="1800" kern="1200" dirty="0">
            <a:solidFill>
              <a:srgbClr val="FF0000"/>
            </a:solidFill>
          </a:endParaRPr>
        </a:p>
        <a:p>
          <a:pPr lvl="0" algn="l" defTabSz="800100">
            <a:lnSpc>
              <a:spcPct val="90000"/>
            </a:lnSpc>
            <a:spcBef>
              <a:spcPct val="0"/>
            </a:spcBef>
            <a:spcAft>
              <a:spcPct val="35000"/>
            </a:spcAft>
          </a:pPr>
          <a:r>
            <a:rPr lang="en-IN" sz="1800" kern="1200" dirty="0" smtClean="0">
              <a:solidFill>
                <a:srgbClr val="7030A0"/>
              </a:solidFill>
            </a:rPr>
            <a:t>Cross-linking resulting in three dimensional structures and higher molecular weight (SBR &amp; NBR – brittle stocks with poor flexibility and elongation)</a:t>
          </a:r>
          <a:endParaRPr lang="en-IN" sz="1800" kern="1200" dirty="0">
            <a:solidFill>
              <a:srgbClr val="7030A0"/>
            </a:solidFill>
          </a:endParaRPr>
        </a:p>
        <a:p>
          <a:pPr lvl="0" algn="l" defTabSz="800100">
            <a:lnSpc>
              <a:spcPct val="90000"/>
            </a:lnSpc>
            <a:spcBef>
              <a:spcPct val="0"/>
            </a:spcBef>
            <a:spcAft>
              <a:spcPct val="35000"/>
            </a:spcAft>
          </a:pPr>
          <a:r>
            <a:rPr lang="en-IN" sz="1800" kern="1200" dirty="0" smtClean="0"/>
            <a:t> </a:t>
          </a:r>
          <a:r>
            <a:rPr lang="en-IN" sz="1800" kern="1200" dirty="0" smtClean="0">
              <a:solidFill>
                <a:schemeClr val="accent6">
                  <a:lumMod val="50000"/>
                </a:schemeClr>
              </a:solidFill>
            </a:rPr>
            <a:t>Chemical alteration</a:t>
          </a:r>
          <a:endParaRPr lang="en-IN" sz="1800" kern="1200" dirty="0">
            <a:solidFill>
              <a:schemeClr val="accent6">
                <a:lumMod val="50000"/>
              </a:schemeClr>
            </a:solidFill>
          </a:endParaRPr>
        </a:p>
      </dsp:txBody>
      <dsp:txXfrm>
        <a:off x="166647" y="1436553"/>
        <a:ext cx="9777633" cy="14299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C017E8-84F4-4046-B30E-C0B2991529C9}">
      <dsp:nvSpPr>
        <dsp:cNvPr id="0" name=""/>
        <dsp:cNvSpPr/>
      </dsp:nvSpPr>
      <dsp:spPr>
        <a:xfrm>
          <a:off x="2155238" y="3598"/>
          <a:ext cx="6156845" cy="559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b" anchorCtr="0">
          <a:noAutofit/>
        </a:bodyPr>
        <a:lstStyle/>
        <a:p>
          <a:pPr lvl="0" algn="l" defTabSz="1422400">
            <a:lnSpc>
              <a:spcPct val="90000"/>
            </a:lnSpc>
            <a:spcBef>
              <a:spcPct val="0"/>
            </a:spcBef>
            <a:spcAft>
              <a:spcPct val="35000"/>
            </a:spcAft>
          </a:pPr>
          <a:r>
            <a:rPr lang="en-IN" sz="3200" kern="1200" dirty="0" smtClean="0">
              <a:latin typeface="Calibri" panose="020F0502020204030204" pitchFamily="34" charset="0"/>
              <a:ea typeface="Calibri" panose="020F0502020204030204" pitchFamily="34" charset="0"/>
              <a:cs typeface="Times New Roman" panose="02020603050405020304" pitchFamily="18" charset="0"/>
            </a:rPr>
            <a:t>Diluents or extenders </a:t>
          </a:r>
          <a:endParaRPr lang="en-IN" sz="3200" kern="1200" dirty="0"/>
        </a:p>
      </dsp:txBody>
      <dsp:txXfrm>
        <a:off x="2155238" y="3598"/>
        <a:ext cx="6156845" cy="559713"/>
      </dsp:txXfrm>
    </dsp:sp>
    <dsp:sp modelId="{C2799663-88A1-41DE-B815-ED833E9D24DB}">
      <dsp:nvSpPr>
        <dsp:cNvPr id="0" name=""/>
        <dsp:cNvSpPr/>
      </dsp:nvSpPr>
      <dsp:spPr>
        <a:xfrm>
          <a:off x="2155238" y="563311"/>
          <a:ext cx="1440701" cy="1140156"/>
        </a:xfrm>
        <a:prstGeom prst="chevron">
          <a:avLst>
            <a:gd name="adj" fmla="val 7061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2E9D847-AA87-4F86-BF13-E6870BD0F673}">
      <dsp:nvSpPr>
        <dsp:cNvPr id="0" name=""/>
        <dsp:cNvSpPr/>
      </dsp:nvSpPr>
      <dsp:spPr>
        <a:xfrm>
          <a:off x="3020617" y="563311"/>
          <a:ext cx="1440701" cy="1140156"/>
        </a:xfrm>
        <a:prstGeom prst="chevron">
          <a:avLst>
            <a:gd name="adj" fmla="val 70610"/>
          </a:avLst>
        </a:prstGeom>
        <a:gradFill rotWithShape="0">
          <a:gsLst>
            <a:gs pos="0">
              <a:schemeClr val="accent4">
                <a:hueOff val="519785"/>
                <a:satOff val="-2398"/>
                <a:lumOff val="88"/>
                <a:alphaOff val="0"/>
                <a:satMod val="103000"/>
                <a:lumMod val="102000"/>
                <a:tint val="94000"/>
              </a:schemeClr>
            </a:gs>
            <a:gs pos="50000">
              <a:schemeClr val="accent4">
                <a:hueOff val="519785"/>
                <a:satOff val="-2398"/>
                <a:lumOff val="88"/>
                <a:alphaOff val="0"/>
                <a:satMod val="110000"/>
                <a:lumMod val="100000"/>
                <a:shade val="100000"/>
              </a:schemeClr>
            </a:gs>
            <a:gs pos="100000">
              <a:schemeClr val="accent4">
                <a:hueOff val="519785"/>
                <a:satOff val="-2398"/>
                <a:lumOff val="88"/>
                <a:alphaOff val="0"/>
                <a:lumMod val="99000"/>
                <a:satMod val="120000"/>
                <a:shade val="78000"/>
              </a:schemeClr>
            </a:gs>
          </a:gsLst>
          <a:lin ang="5400000" scaled="0"/>
        </a:gradFill>
        <a:ln w="6350" cap="flat" cmpd="sng" algn="ctr">
          <a:solidFill>
            <a:schemeClr val="accent4">
              <a:hueOff val="519785"/>
              <a:satOff val="-2398"/>
              <a:lumOff val="88"/>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25043CDB-34BD-46AB-81EA-64F7A9DBAF42}">
      <dsp:nvSpPr>
        <dsp:cNvPr id="0" name=""/>
        <dsp:cNvSpPr/>
      </dsp:nvSpPr>
      <dsp:spPr>
        <a:xfrm>
          <a:off x="3886680" y="563311"/>
          <a:ext cx="1440701" cy="1140156"/>
        </a:xfrm>
        <a:prstGeom prst="chevron">
          <a:avLst>
            <a:gd name="adj" fmla="val 70610"/>
          </a:avLst>
        </a:prstGeom>
        <a:gradFill rotWithShape="0">
          <a:gsLst>
            <a:gs pos="0">
              <a:schemeClr val="accent4">
                <a:hueOff val="1039569"/>
                <a:satOff val="-4797"/>
                <a:lumOff val="177"/>
                <a:alphaOff val="0"/>
                <a:satMod val="103000"/>
                <a:lumMod val="102000"/>
                <a:tint val="94000"/>
              </a:schemeClr>
            </a:gs>
            <a:gs pos="50000">
              <a:schemeClr val="accent4">
                <a:hueOff val="1039569"/>
                <a:satOff val="-4797"/>
                <a:lumOff val="177"/>
                <a:alphaOff val="0"/>
                <a:satMod val="110000"/>
                <a:lumMod val="100000"/>
                <a:shade val="100000"/>
              </a:schemeClr>
            </a:gs>
            <a:gs pos="100000">
              <a:schemeClr val="accent4">
                <a:hueOff val="1039569"/>
                <a:satOff val="-4797"/>
                <a:lumOff val="177"/>
                <a:alphaOff val="0"/>
                <a:lumMod val="99000"/>
                <a:satMod val="120000"/>
                <a:shade val="78000"/>
              </a:schemeClr>
            </a:gs>
          </a:gsLst>
          <a:lin ang="5400000" scaled="0"/>
        </a:gradFill>
        <a:ln w="6350" cap="flat" cmpd="sng" algn="ctr">
          <a:solidFill>
            <a:schemeClr val="accent4">
              <a:hueOff val="1039569"/>
              <a:satOff val="-4797"/>
              <a:lumOff val="177"/>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58ED977C-B4AD-4B38-A43D-10D7E37A6E57}">
      <dsp:nvSpPr>
        <dsp:cNvPr id="0" name=""/>
        <dsp:cNvSpPr/>
      </dsp:nvSpPr>
      <dsp:spPr>
        <a:xfrm>
          <a:off x="4752058" y="563311"/>
          <a:ext cx="1440701" cy="1140156"/>
        </a:xfrm>
        <a:prstGeom prst="chevron">
          <a:avLst>
            <a:gd name="adj" fmla="val 70610"/>
          </a:avLst>
        </a:prstGeom>
        <a:gradFill rotWithShape="0">
          <a:gsLst>
            <a:gs pos="0">
              <a:schemeClr val="accent4">
                <a:hueOff val="1559354"/>
                <a:satOff val="-7195"/>
                <a:lumOff val="265"/>
                <a:alphaOff val="0"/>
                <a:satMod val="103000"/>
                <a:lumMod val="102000"/>
                <a:tint val="94000"/>
              </a:schemeClr>
            </a:gs>
            <a:gs pos="50000">
              <a:schemeClr val="accent4">
                <a:hueOff val="1559354"/>
                <a:satOff val="-7195"/>
                <a:lumOff val="265"/>
                <a:alphaOff val="0"/>
                <a:satMod val="110000"/>
                <a:lumMod val="100000"/>
                <a:shade val="100000"/>
              </a:schemeClr>
            </a:gs>
            <a:gs pos="100000">
              <a:schemeClr val="accent4">
                <a:hueOff val="1559354"/>
                <a:satOff val="-7195"/>
                <a:lumOff val="265"/>
                <a:alphaOff val="0"/>
                <a:lumMod val="99000"/>
                <a:satMod val="120000"/>
                <a:shade val="78000"/>
              </a:schemeClr>
            </a:gs>
          </a:gsLst>
          <a:lin ang="5400000" scaled="0"/>
        </a:gradFill>
        <a:ln w="6350" cap="flat" cmpd="sng" algn="ctr">
          <a:solidFill>
            <a:schemeClr val="accent4">
              <a:hueOff val="1559354"/>
              <a:satOff val="-7195"/>
              <a:lumOff val="265"/>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93E58BEE-3E56-4D87-B085-9565E6E08924}">
      <dsp:nvSpPr>
        <dsp:cNvPr id="0" name=""/>
        <dsp:cNvSpPr/>
      </dsp:nvSpPr>
      <dsp:spPr>
        <a:xfrm>
          <a:off x="5618121" y="563311"/>
          <a:ext cx="1440701" cy="1140156"/>
        </a:xfrm>
        <a:prstGeom prst="chevron">
          <a:avLst>
            <a:gd name="adj" fmla="val 70610"/>
          </a:avLst>
        </a:prstGeom>
        <a:gradFill rotWithShape="0">
          <a:gsLst>
            <a:gs pos="0">
              <a:schemeClr val="accent4">
                <a:hueOff val="2079139"/>
                <a:satOff val="-9594"/>
                <a:lumOff val="353"/>
                <a:alphaOff val="0"/>
                <a:satMod val="103000"/>
                <a:lumMod val="102000"/>
                <a:tint val="94000"/>
              </a:schemeClr>
            </a:gs>
            <a:gs pos="50000">
              <a:schemeClr val="accent4">
                <a:hueOff val="2079139"/>
                <a:satOff val="-9594"/>
                <a:lumOff val="353"/>
                <a:alphaOff val="0"/>
                <a:satMod val="110000"/>
                <a:lumMod val="100000"/>
                <a:shade val="100000"/>
              </a:schemeClr>
            </a:gs>
            <a:gs pos="100000">
              <a:schemeClr val="accent4">
                <a:hueOff val="2079139"/>
                <a:satOff val="-9594"/>
                <a:lumOff val="353"/>
                <a:alphaOff val="0"/>
                <a:lumMod val="99000"/>
                <a:satMod val="120000"/>
                <a:shade val="78000"/>
              </a:schemeClr>
            </a:gs>
          </a:gsLst>
          <a:lin ang="5400000" scaled="0"/>
        </a:gradFill>
        <a:ln w="6350" cap="flat" cmpd="sng" algn="ctr">
          <a:solidFill>
            <a:schemeClr val="accent4">
              <a:hueOff val="2079139"/>
              <a:satOff val="-9594"/>
              <a:lumOff val="35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72F614C4-C18A-4726-9EAD-CE156C2EAE7F}">
      <dsp:nvSpPr>
        <dsp:cNvPr id="0" name=""/>
        <dsp:cNvSpPr/>
      </dsp:nvSpPr>
      <dsp:spPr>
        <a:xfrm>
          <a:off x="6483500" y="563311"/>
          <a:ext cx="1440701" cy="1140156"/>
        </a:xfrm>
        <a:prstGeom prst="chevron">
          <a:avLst>
            <a:gd name="adj" fmla="val 70610"/>
          </a:avLst>
        </a:prstGeom>
        <a:gradFill rotWithShape="0">
          <a:gsLst>
            <a:gs pos="0">
              <a:schemeClr val="accent4">
                <a:hueOff val="2598923"/>
                <a:satOff val="-11992"/>
                <a:lumOff val="441"/>
                <a:alphaOff val="0"/>
                <a:satMod val="103000"/>
                <a:lumMod val="102000"/>
                <a:tint val="94000"/>
              </a:schemeClr>
            </a:gs>
            <a:gs pos="50000">
              <a:schemeClr val="accent4">
                <a:hueOff val="2598923"/>
                <a:satOff val="-11992"/>
                <a:lumOff val="441"/>
                <a:alphaOff val="0"/>
                <a:satMod val="110000"/>
                <a:lumMod val="100000"/>
                <a:shade val="100000"/>
              </a:schemeClr>
            </a:gs>
            <a:gs pos="100000">
              <a:schemeClr val="accent4">
                <a:hueOff val="2598923"/>
                <a:satOff val="-11992"/>
                <a:lumOff val="441"/>
                <a:alphaOff val="0"/>
                <a:lumMod val="99000"/>
                <a:satMod val="120000"/>
                <a:shade val="78000"/>
              </a:schemeClr>
            </a:gs>
          </a:gsLst>
          <a:lin ang="5400000" scaled="0"/>
        </a:gradFill>
        <a:ln w="6350" cap="flat" cmpd="sng" algn="ctr">
          <a:solidFill>
            <a:schemeClr val="accent4">
              <a:hueOff val="2598923"/>
              <a:satOff val="-11992"/>
              <a:lumOff val="441"/>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3293BE97-ED54-485D-A48B-143005B52B4F}">
      <dsp:nvSpPr>
        <dsp:cNvPr id="0" name=""/>
        <dsp:cNvSpPr/>
      </dsp:nvSpPr>
      <dsp:spPr>
        <a:xfrm>
          <a:off x="7349563" y="563311"/>
          <a:ext cx="1440701" cy="1140156"/>
        </a:xfrm>
        <a:prstGeom prst="chevron">
          <a:avLst>
            <a:gd name="adj" fmla="val 70610"/>
          </a:avLst>
        </a:prstGeom>
        <a:gradFill rotWithShape="0">
          <a:gsLst>
            <a:gs pos="0">
              <a:schemeClr val="accent4">
                <a:hueOff val="3118708"/>
                <a:satOff val="-14390"/>
                <a:lumOff val="530"/>
                <a:alphaOff val="0"/>
                <a:satMod val="103000"/>
                <a:lumMod val="102000"/>
                <a:tint val="94000"/>
              </a:schemeClr>
            </a:gs>
            <a:gs pos="50000">
              <a:schemeClr val="accent4">
                <a:hueOff val="3118708"/>
                <a:satOff val="-14390"/>
                <a:lumOff val="530"/>
                <a:alphaOff val="0"/>
                <a:satMod val="110000"/>
                <a:lumMod val="100000"/>
                <a:shade val="100000"/>
              </a:schemeClr>
            </a:gs>
            <a:gs pos="100000">
              <a:schemeClr val="accent4">
                <a:hueOff val="3118708"/>
                <a:satOff val="-14390"/>
                <a:lumOff val="530"/>
                <a:alphaOff val="0"/>
                <a:lumMod val="99000"/>
                <a:satMod val="120000"/>
                <a:shade val="78000"/>
              </a:schemeClr>
            </a:gs>
          </a:gsLst>
          <a:lin ang="5400000" scaled="0"/>
        </a:gradFill>
        <a:ln w="6350" cap="flat" cmpd="sng" algn="ctr">
          <a:solidFill>
            <a:schemeClr val="accent4">
              <a:hueOff val="3118708"/>
              <a:satOff val="-14390"/>
              <a:lumOff val="53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311A0E9D-F2F9-44F7-B44C-A0B9E1B9B500}">
      <dsp:nvSpPr>
        <dsp:cNvPr id="0" name=""/>
        <dsp:cNvSpPr/>
      </dsp:nvSpPr>
      <dsp:spPr>
        <a:xfrm>
          <a:off x="2155238" y="677327"/>
          <a:ext cx="6236884" cy="912125"/>
        </a:xfrm>
        <a:prstGeom prst="rect">
          <a:avLst/>
        </a:prstGeom>
        <a:solidFill>
          <a:schemeClr val="lt1">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Non-reinforcing filler/ inactive fillers</a:t>
          </a:r>
          <a:endParaRPr lang="en-IN" sz="1400" kern="1200" dirty="0"/>
        </a:p>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Primarily to occupy space and used to lower the formulation cost. </a:t>
          </a:r>
          <a:endParaRPr lang="en-IN" sz="1400" kern="1200" dirty="0"/>
        </a:p>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Particle size  : 1,000 and 10,000 nm (1 to 10 μm)</a:t>
          </a:r>
          <a:endParaRPr lang="en-IN" sz="1400" kern="1200" dirty="0"/>
        </a:p>
      </dsp:txBody>
      <dsp:txXfrm>
        <a:off x="2155238" y="677327"/>
        <a:ext cx="6236884" cy="912125"/>
      </dsp:txXfrm>
    </dsp:sp>
    <dsp:sp modelId="{E48BC7B0-644C-4D3E-AEA2-409325F6AE57}">
      <dsp:nvSpPr>
        <dsp:cNvPr id="0" name=""/>
        <dsp:cNvSpPr/>
      </dsp:nvSpPr>
      <dsp:spPr>
        <a:xfrm>
          <a:off x="2155238" y="1768940"/>
          <a:ext cx="6156845" cy="559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b" anchorCtr="0">
          <a:noAutofit/>
        </a:bodyPr>
        <a:lstStyle/>
        <a:p>
          <a:pPr lvl="0" algn="l" defTabSz="1422400">
            <a:lnSpc>
              <a:spcPct val="90000"/>
            </a:lnSpc>
            <a:spcBef>
              <a:spcPct val="0"/>
            </a:spcBef>
            <a:spcAft>
              <a:spcPct val="35000"/>
            </a:spcAft>
          </a:pPr>
          <a:r>
            <a:rPr lang="en-IN" sz="3200" kern="1200" dirty="0" smtClean="0"/>
            <a:t>Functional or reinforcing fillers</a:t>
          </a:r>
          <a:endParaRPr lang="en-IN" sz="3200" kern="1200" dirty="0"/>
        </a:p>
      </dsp:txBody>
      <dsp:txXfrm>
        <a:off x="2155238" y="1768940"/>
        <a:ext cx="6156845" cy="559713"/>
      </dsp:txXfrm>
    </dsp:sp>
    <dsp:sp modelId="{13ABD1FC-7F12-44D4-9DAC-B2D3085E2A5C}">
      <dsp:nvSpPr>
        <dsp:cNvPr id="0" name=""/>
        <dsp:cNvSpPr/>
      </dsp:nvSpPr>
      <dsp:spPr>
        <a:xfrm>
          <a:off x="2155238" y="2328653"/>
          <a:ext cx="1440701" cy="1140156"/>
        </a:xfrm>
        <a:prstGeom prst="chevron">
          <a:avLst>
            <a:gd name="adj" fmla="val 70610"/>
          </a:avLst>
        </a:prstGeom>
        <a:gradFill rotWithShape="0">
          <a:gsLst>
            <a:gs pos="0">
              <a:schemeClr val="accent4">
                <a:hueOff val="3638492"/>
                <a:satOff val="-16789"/>
                <a:lumOff val="618"/>
                <a:alphaOff val="0"/>
                <a:satMod val="103000"/>
                <a:lumMod val="102000"/>
                <a:tint val="94000"/>
              </a:schemeClr>
            </a:gs>
            <a:gs pos="50000">
              <a:schemeClr val="accent4">
                <a:hueOff val="3638492"/>
                <a:satOff val="-16789"/>
                <a:lumOff val="618"/>
                <a:alphaOff val="0"/>
                <a:satMod val="110000"/>
                <a:lumMod val="100000"/>
                <a:shade val="100000"/>
              </a:schemeClr>
            </a:gs>
            <a:gs pos="100000">
              <a:schemeClr val="accent4">
                <a:hueOff val="3638492"/>
                <a:satOff val="-16789"/>
                <a:lumOff val="618"/>
                <a:alphaOff val="0"/>
                <a:lumMod val="99000"/>
                <a:satMod val="120000"/>
                <a:shade val="78000"/>
              </a:schemeClr>
            </a:gs>
          </a:gsLst>
          <a:lin ang="5400000" scaled="0"/>
        </a:gradFill>
        <a:ln w="6350" cap="flat" cmpd="sng" algn="ctr">
          <a:solidFill>
            <a:schemeClr val="accent4">
              <a:hueOff val="3638492"/>
              <a:satOff val="-16789"/>
              <a:lumOff val="618"/>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3D78AE7B-C8A5-4F66-843E-D6BA1385426B}">
      <dsp:nvSpPr>
        <dsp:cNvPr id="0" name=""/>
        <dsp:cNvSpPr/>
      </dsp:nvSpPr>
      <dsp:spPr>
        <a:xfrm>
          <a:off x="3020617" y="2328653"/>
          <a:ext cx="1440701" cy="1140156"/>
        </a:xfrm>
        <a:prstGeom prst="chevron">
          <a:avLst>
            <a:gd name="adj" fmla="val 70610"/>
          </a:avLst>
        </a:prstGeom>
        <a:gradFill rotWithShape="0">
          <a:gsLst>
            <a:gs pos="0">
              <a:schemeClr val="accent4">
                <a:hueOff val="4158277"/>
                <a:satOff val="-19187"/>
                <a:lumOff val="706"/>
                <a:alphaOff val="0"/>
                <a:satMod val="103000"/>
                <a:lumMod val="102000"/>
                <a:tint val="94000"/>
              </a:schemeClr>
            </a:gs>
            <a:gs pos="50000">
              <a:schemeClr val="accent4">
                <a:hueOff val="4158277"/>
                <a:satOff val="-19187"/>
                <a:lumOff val="706"/>
                <a:alphaOff val="0"/>
                <a:satMod val="110000"/>
                <a:lumMod val="100000"/>
                <a:shade val="100000"/>
              </a:schemeClr>
            </a:gs>
            <a:gs pos="100000">
              <a:schemeClr val="accent4">
                <a:hueOff val="4158277"/>
                <a:satOff val="-19187"/>
                <a:lumOff val="706"/>
                <a:alphaOff val="0"/>
                <a:lumMod val="99000"/>
                <a:satMod val="120000"/>
                <a:shade val="78000"/>
              </a:schemeClr>
            </a:gs>
          </a:gsLst>
          <a:lin ang="5400000" scaled="0"/>
        </a:gradFill>
        <a:ln w="6350" cap="flat" cmpd="sng" algn="ctr">
          <a:solidFill>
            <a:schemeClr val="accent4">
              <a:hueOff val="4158277"/>
              <a:satOff val="-19187"/>
              <a:lumOff val="706"/>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562CC2F-A89B-44EE-8AEA-C0B9E58C105F}">
      <dsp:nvSpPr>
        <dsp:cNvPr id="0" name=""/>
        <dsp:cNvSpPr/>
      </dsp:nvSpPr>
      <dsp:spPr>
        <a:xfrm>
          <a:off x="3886680" y="2328653"/>
          <a:ext cx="1440701" cy="1140156"/>
        </a:xfrm>
        <a:prstGeom prst="chevron">
          <a:avLst>
            <a:gd name="adj" fmla="val 70610"/>
          </a:avLst>
        </a:prstGeom>
        <a:gradFill rotWithShape="0">
          <a:gsLst>
            <a:gs pos="0">
              <a:schemeClr val="accent4">
                <a:hueOff val="4678061"/>
                <a:satOff val="-21586"/>
                <a:lumOff val="794"/>
                <a:alphaOff val="0"/>
                <a:satMod val="103000"/>
                <a:lumMod val="102000"/>
                <a:tint val="94000"/>
              </a:schemeClr>
            </a:gs>
            <a:gs pos="50000">
              <a:schemeClr val="accent4">
                <a:hueOff val="4678061"/>
                <a:satOff val="-21586"/>
                <a:lumOff val="794"/>
                <a:alphaOff val="0"/>
                <a:satMod val="110000"/>
                <a:lumMod val="100000"/>
                <a:shade val="100000"/>
              </a:schemeClr>
            </a:gs>
            <a:gs pos="100000">
              <a:schemeClr val="accent4">
                <a:hueOff val="4678061"/>
                <a:satOff val="-21586"/>
                <a:lumOff val="794"/>
                <a:alphaOff val="0"/>
                <a:lumMod val="99000"/>
                <a:satMod val="120000"/>
                <a:shade val="78000"/>
              </a:schemeClr>
            </a:gs>
          </a:gsLst>
          <a:lin ang="5400000" scaled="0"/>
        </a:gradFill>
        <a:ln w="6350" cap="flat" cmpd="sng" algn="ctr">
          <a:solidFill>
            <a:schemeClr val="accent4">
              <a:hueOff val="4678061"/>
              <a:satOff val="-21586"/>
              <a:lumOff val="794"/>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A81F4D1-FD90-4B67-B446-E78CD275D67F}">
      <dsp:nvSpPr>
        <dsp:cNvPr id="0" name=""/>
        <dsp:cNvSpPr/>
      </dsp:nvSpPr>
      <dsp:spPr>
        <a:xfrm>
          <a:off x="4752058" y="2328653"/>
          <a:ext cx="1440701" cy="1140156"/>
        </a:xfrm>
        <a:prstGeom prst="chevron">
          <a:avLst>
            <a:gd name="adj" fmla="val 70610"/>
          </a:avLst>
        </a:prstGeom>
        <a:gradFill rotWithShape="0">
          <a:gsLst>
            <a:gs pos="0">
              <a:schemeClr val="accent4">
                <a:hueOff val="5197846"/>
                <a:satOff val="-23984"/>
                <a:lumOff val="883"/>
                <a:alphaOff val="0"/>
                <a:satMod val="103000"/>
                <a:lumMod val="102000"/>
                <a:tint val="94000"/>
              </a:schemeClr>
            </a:gs>
            <a:gs pos="50000">
              <a:schemeClr val="accent4">
                <a:hueOff val="5197846"/>
                <a:satOff val="-23984"/>
                <a:lumOff val="883"/>
                <a:alphaOff val="0"/>
                <a:satMod val="110000"/>
                <a:lumMod val="100000"/>
                <a:shade val="100000"/>
              </a:schemeClr>
            </a:gs>
            <a:gs pos="100000">
              <a:schemeClr val="accent4">
                <a:hueOff val="5197846"/>
                <a:satOff val="-23984"/>
                <a:lumOff val="883"/>
                <a:alphaOff val="0"/>
                <a:lumMod val="99000"/>
                <a:satMod val="120000"/>
                <a:shade val="78000"/>
              </a:schemeClr>
            </a:gs>
          </a:gsLst>
          <a:lin ang="5400000" scaled="0"/>
        </a:gradFill>
        <a:ln w="6350" cap="flat" cmpd="sng" algn="ctr">
          <a:solidFill>
            <a:schemeClr val="accent4">
              <a:hueOff val="5197846"/>
              <a:satOff val="-23984"/>
              <a:lumOff val="883"/>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0D7DD115-26C0-4729-892A-09BC26C6D50E}">
      <dsp:nvSpPr>
        <dsp:cNvPr id="0" name=""/>
        <dsp:cNvSpPr/>
      </dsp:nvSpPr>
      <dsp:spPr>
        <a:xfrm>
          <a:off x="5618121" y="2328653"/>
          <a:ext cx="1440701" cy="1140156"/>
        </a:xfrm>
        <a:prstGeom prst="chevron">
          <a:avLst>
            <a:gd name="adj" fmla="val 70610"/>
          </a:avLst>
        </a:prstGeom>
        <a:gradFill rotWithShape="0">
          <a:gsLst>
            <a:gs pos="0">
              <a:schemeClr val="accent4">
                <a:hueOff val="5717631"/>
                <a:satOff val="-26382"/>
                <a:lumOff val="971"/>
                <a:alphaOff val="0"/>
                <a:satMod val="103000"/>
                <a:lumMod val="102000"/>
                <a:tint val="94000"/>
              </a:schemeClr>
            </a:gs>
            <a:gs pos="50000">
              <a:schemeClr val="accent4">
                <a:hueOff val="5717631"/>
                <a:satOff val="-26382"/>
                <a:lumOff val="971"/>
                <a:alphaOff val="0"/>
                <a:satMod val="110000"/>
                <a:lumMod val="100000"/>
                <a:shade val="100000"/>
              </a:schemeClr>
            </a:gs>
            <a:gs pos="100000">
              <a:schemeClr val="accent4">
                <a:hueOff val="5717631"/>
                <a:satOff val="-26382"/>
                <a:lumOff val="971"/>
                <a:alphaOff val="0"/>
                <a:lumMod val="99000"/>
                <a:satMod val="120000"/>
                <a:shade val="78000"/>
              </a:schemeClr>
            </a:gs>
          </a:gsLst>
          <a:lin ang="5400000" scaled="0"/>
        </a:gradFill>
        <a:ln w="6350" cap="flat" cmpd="sng" algn="ctr">
          <a:solidFill>
            <a:schemeClr val="accent4">
              <a:hueOff val="5717631"/>
              <a:satOff val="-26382"/>
              <a:lumOff val="971"/>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B0F81474-5517-4904-875C-CEAD58E6CFD8}">
      <dsp:nvSpPr>
        <dsp:cNvPr id="0" name=""/>
        <dsp:cNvSpPr/>
      </dsp:nvSpPr>
      <dsp:spPr>
        <a:xfrm>
          <a:off x="6483500" y="2328653"/>
          <a:ext cx="1440701" cy="1140156"/>
        </a:xfrm>
        <a:prstGeom prst="chevron">
          <a:avLst>
            <a:gd name="adj" fmla="val 70610"/>
          </a:avLst>
        </a:prstGeom>
        <a:gradFill rotWithShape="0">
          <a:gsLst>
            <a:gs pos="0">
              <a:schemeClr val="accent4">
                <a:hueOff val="6237415"/>
                <a:satOff val="-28781"/>
                <a:lumOff val="1059"/>
                <a:alphaOff val="0"/>
                <a:satMod val="103000"/>
                <a:lumMod val="102000"/>
                <a:tint val="94000"/>
              </a:schemeClr>
            </a:gs>
            <a:gs pos="50000">
              <a:schemeClr val="accent4">
                <a:hueOff val="6237415"/>
                <a:satOff val="-28781"/>
                <a:lumOff val="1059"/>
                <a:alphaOff val="0"/>
                <a:satMod val="110000"/>
                <a:lumMod val="100000"/>
                <a:shade val="100000"/>
              </a:schemeClr>
            </a:gs>
            <a:gs pos="100000">
              <a:schemeClr val="accent4">
                <a:hueOff val="6237415"/>
                <a:satOff val="-28781"/>
                <a:lumOff val="1059"/>
                <a:alphaOff val="0"/>
                <a:lumMod val="99000"/>
                <a:satMod val="120000"/>
                <a:shade val="78000"/>
              </a:schemeClr>
            </a:gs>
          </a:gsLst>
          <a:lin ang="5400000" scaled="0"/>
        </a:gradFill>
        <a:ln w="6350" cap="flat" cmpd="sng" algn="ctr">
          <a:solidFill>
            <a:schemeClr val="accent4">
              <a:hueOff val="6237415"/>
              <a:satOff val="-28781"/>
              <a:lumOff val="1059"/>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CB135FFB-C026-4A9C-BE59-C619FEA0B59F}">
      <dsp:nvSpPr>
        <dsp:cNvPr id="0" name=""/>
        <dsp:cNvSpPr/>
      </dsp:nvSpPr>
      <dsp:spPr>
        <a:xfrm>
          <a:off x="7349563" y="2328653"/>
          <a:ext cx="1440701" cy="1140156"/>
        </a:xfrm>
        <a:prstGeom prst="chevron">
          <a:avLst>
            <a:gd name="adj" fmla="val 70610"/>
          </a:avLst>
        </a:prstGeom>
        <a:gradFill rotWithShape="0">
          <a:gsLst>
            <a:gs pos="0">
              <a:schemeClr val="accent4">
                <a:hueOff val="6757200"/>
                <a:satOff val="-31179"/>
                <a:lumOff val="1147"/>
                <a:alphaOff val="0"/>
                <a:satMod val="103000"/>
                <a:lumMod val="102000"/>
                <a:tint val="94000"/>
              </a:schemeClr>
            </a:gs>
            <a:gs pos="50000">
              <a:schemeClr val="accent4">
                <a:hueOff val="6757200"/>
                <a:satOff val="-31179"/>
                <a:lumOff val="1147"/>
                <a:alphaOff val="0"/>
                <a:satMod val="110000"/>
                <a:lumMod val="100000"/>
                <a:shade val="100000"/>
              </a:schemeClr>
            </a:gs>
            <a:gs pos="100000">
              <a:schemeClr val="accent4">
                <a:hueOff val="6757200"/>
                <a:satOff val="-31179"/>
                <a:lumOff val="1147"/>
                <a:alphaOff val="0"/>
                <a:lumMod val="99000"/>
                <a:satMod val="120000"/>
                <a:shade val="78000"/>
              </a:schemeClr>
            </a:gs>
          </a:gsLst>
          <a:lin ang="5400000" scaled="0"/>
        </a:gradFill>
        <a:ln w="6350" cap="flat" cmpd="sng" algn="ctr">
          <a:solidFill>
            <a:schemeClr val="accent4">
              <a:hueOff val="6757200"/>
              <a:satOff val="-31179"/>
              <a:lumOff val="1147"/>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14855F38-264F-46BF-BE00-F484DD8423FF}">
      <dsp:nvSpPr>
        <dsp:cNvPr id="0" name=""/>
        <dsp:cNvSpPr/>
      </dsp:nvSpPr>
      <dsp:spPr>
        <a:xfrm>
          <a:off x="2155238" y="2442668"/>
          <a:ext cx="6236884" cy="912125"/>
        </a:xfrm>
        <a:prstGeom prst="rect">
          <a:avLst/>
        </a:prstGeom>
        <a:solidFill>
          <a:schemeClr val="lt1">
            <a:hueOff val="0"/>
            <a:satOff val="0"/>
            <a:lumOff val="0"/>
            <a:alphaOff val="0"/>
          </a:schemeClr>
        </a:solidFill>
        <a:ln w="6350" cap="flat" cmpd="sng" algn="ctr">
          <a:solidFill>
            <a:schemeClr val="accent4">
              <a:hueOff val="5197846"/>
              <a:satOff val="-23984"/>
              <a:lumOff val="883"/>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Functional or reinforcing fillers/active fillers</a:t>
          </a:r>
          <a:endParaRPr lang="en-IN" sz="1400" kern="1200" dirty="0"/>
        </a:p>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Particle size range : 10 to 100 nm (0.01 to 01 μm)</a:t>
          </a:r>
          <a:endParaRPr lang="en-IN" sz="1400" kern="1200" dirty="0"/>
        </a:p>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Improve the modulus and failure properties (tensile strength, tear resistance and abrasion resistance) of the final vulcanizates.</a:t>
          </a:r>
          <a:endParaRPr lang="en-IN" sz="1400" kern="1200" dirty="0"/>
        </a:p>
      </dsp:txBody>
      <dsp:txXfrm>
        <a:off x="2155238" y="2442668"/>
        <a:ext cx="6236884" cy="912125"/>
      </dsp:txXfrm>
    </dsp:sp>
    <dsp:sp modelId="{96B3D5A1-9379-4A22-9709-D70DD164AA42}">
      <dsp:nvSpPr>
        <dsp:cNvPr id="0" name=""/>
        <dsp:cNvSpPr/>
      </dsp:nvSpPr>
      <dsp:spPr>
        <a:xfrm>
          <a:off x="2155238" y="3534281"/>
          <a:ext cx="6156845" cy="5597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b" anchorCtr="0">
          <a:noAutofit/>
        </a:bodyPr>
        <a:lstStyle/>
        <a:p>
          <a:pPr lvl="0" algn="l" defTabSz="1422400">
            <a:lnSpc>
              <a:spcPct val="90000"/>
            </a:lnSpc>
            <a:spcBef>
              <a:spcPct val="0"/>
            </a:spcBef>
            <a:spcAft>
              <a:spcPct val="35000"/>
            </a:spcAft>
          </a:pPr>
          <a:r>
            <a:rPr lang="en-IN" sz="3200" kern="1200" dirty="0" smtClean="0"/>
            <a:t>Semi- reinforcing fillers</a:t>
          </a:r>
          <a:endParaRPr lang="en-IN" sz="3200" kern="1200" dirty="0"/>
        </a:p>
      </dsp:txBody>
      <dsp:txXfrm>
        <a:off x="2155238" y="3534281"/>
        <a:ext cx="6156845" cy="559713"/>
      </dsp:txXfrm>
    </dsp:sp>
    <dsp:sp modelId="{D70F4D5C-FABC-4623-82C7-C27D39066923}">
      <dsp:nvSpPr>
        <dsp:cNvPr id="0" name=""/>
        <dsp:cNvSpPr/>
      </dsp:nvSpPr>
      <dsp:spPr>
        <a:xfrm>
          <a:off x="2155238" y="4093995"/>
          <a:ext cx="1440701" cy="1140156"/>
        </a:xfrm>
        <a:prstGeom prst="chevron">
          <a:avLst>
            <a:gd name="adj" fmla="val 70610"/>
          </a:avLst>
        </a:prstGeom>
        <a:gradFill rotWithShape="0">
          <a:gsLst>
            <a:gs pos="0">
              <a:schemeClr val="accent4">
                <a:hueOff val="7276984"/>
                <a:satOff val="-33578"/>
                <a:lumOff val="1236"/>
                <a:alphaOff val="0"/>
                <a:satMod val="103000"/>
                <a:lumMod val="102000"/>
                <a:tint val="94000"/>
              </a:schemeClr>
            </a:gs>
            <a:gs pos="50000">
              <a:schemeClr val="accent4">
                <a:hueOff val="7276984"/>
                <a:satOff val="-33578"/>
                <a:lumOff val="1236"/>
                <a:alphaOff val="0"/>
                <a:satMod val="110000"/>
                <a:lumMod val="100000"/>
                <a:shade val="100000"/>
              </a:schemeClr>
            </a:gs>
            <a:gs pos="100000">
              <a:schemeClr val="accent4">
                <a:hueOff val="7276984"/>
                <a:satOff val="-33578"/>
                <a:lumOff val="1236"/>
                <a:alphaOff val="0"/>
                <a:lumMod val="99000"/>
                <a:satMod val="120000"/>
                <a:shade val="78000"/>
              </a:schemeClr>
            </a:gs>
          </a:gsLst>
          <a:lin ang="5400000" scaled="0"/>
        </a:gradFill>
        <a:ln w="6350" cap="flat" cmpd="sng" algn="ctr">
          <a:solidFill>
            <a:schemeClr val="accent4">
              <a:hueOff val="7276984"/>
              <a:satOff val="-33578"/>
              <a:lumOff val="1236"/>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01602624-83C4-4DA6-95B9-CB19CDBD6BE7}">
      <dsp:nvSpPr>
        <dsp:cNvPr id="0" name=""/>
        <dsp:cNvSpPr/>
      </dsp:nvSpPr>
      <dsp:spPr>
        <a:xfrm>
          <a:off x="3020617" y="4093995"/>
          <a:ext cx="1440701" cy="1140156"/>
        </a:xfrm>
        <a:prstGeom prst="chevron">
          <a:avLst>
            <a:gd name="adj" fmla="val 70610"/>
          </a:avLst>
        </a:prstGeom>
        <a:gradFill rotWithShape="0">
          <a:gsLst>
            <a:gs pos="0">
              <a:schemeClr val="accent4">
                <a:hueOff val="7796769"/>
                <a:satOff val="-35976"/>
                <a:lumOff val="1324"/>
                <a:alphaOff val="0"/>
                <a:satMod val="103000"/>
                <a:lumMod val="102000"/>
                <a:tint val="94000"/>
              </a:schemeClr>
            </a:gs>
            <a:gs pos="50000">
              <a:schemeClr val="accent4">
                <a:hueOff val="7796769"/>
                <a:satOff val="-35976"/>
                <a:lumOff val="1324"/>
                <a:alphaOff val="0"/>
                <a:satMod val="110000"/>
                <a:lumMod val="100000"/>
                <a:shade val="100000"/>
              </a:schemeClr>
            </a:gs>
            <a:gs pos="100000">
              <a:schemeClr val="accent4">
                <a:hueOff val="7796769"/>
                <a:satOff val="-35976"/>
                <a:lumOff val="1324"/>
                <a:alphaOff val="0"/>
                <a:lumMod val="99000"/>
                <a:satMod val="120000"/>
                <a:shade val="78000"/>
              </a:schemeClr>
            </a:gs>
          </a:gsLst>
          <a:lin ang="5400000" scaled="0"/>
        </a:gradFill>
        <a:ln w="6350" cap="flat" cmpd="sng" algn="ctr">
          <a:solidFill>
            <a:schemeClr val="accent4">
              <a:hueOff val="7796769"/>
              <a:satOff val="-35976"/>
              <a:lumOff val="1324"/>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971165D3-D842-4E94-9367-9E560DDC7EB9}">
      <dsp:nvSpPr>
        <dsp:cNvPr id="0" name=""/>
        <dsp:cNvSpPr/>
      </dsp:nvSpPr>
      <dsp:spPr>
        <a:xfrm>
          <a:off x="3886680" y="4093995"/>
          <a:ext cx="1440701" cy="1140156"/>
        </a:xfrm>
        <a:prstGeom prst="chevron">
          <a:avLst>
            <a:gd name="adj" fmla="val 70610"/>
          </a:avLst>
        </a:prstGeom>
        <a:gradFill rotWithShape="0">
          <a:gsLst>
            <a:gs pos="0">
              <a:schemeClr val="accent4">
                <a:hueOff val="8316554"/>
                <a:satOff val="-38374"/>
                <a:lumOff val="1412"/>
                <a:alphaOff val="0"/>
                <a:satMod val="103000"/>
                <a:lumMod val="102000"/>
                <a:tint val="94000"/>
              </a:schemeClr>
            </a:gs>
            <a:gs pos="50000">
              <a:schemeClr val="accent4">
                <a:hueOff val="8316554"/>
                <a:satOff val="-38374"/>
                <a:lumOff val="1412"/>
                <a:alphaOff val="0"/>
                <a:satMod val="110000"/>
                <a:lumMod val="100000"/>
                <a:shade val="100000"/>
              </a:schemeClr>
            </a:gs>
            <a:gs pos="100000">
              <a:schemeClr val="accent4">
                <a:hueOff val="8316554"/>
                <a:satOff val="-38374"/>
                <a:lumOff val="1412"/>
                <a:alphaOff val="0"/>
                <a:lumMod val="99000"/>
                <a:satMod val="120000"/>
                <a:shade val="78000"/>
              </a:schemeClr>
            </a:gs>
          </a:gsLst>
          <a:lin ang="5400000" scaled="0"/>
        </a:gradFill>
        <a:ln w="6350" cap="flat" cmpd="sng" algn="ctr">
          <a:solidFill>
            <a:schemeClr val="accent4">
              <a:hueOff val="8316554"/>
              <a:satOff val="-38374"/>
              <a:lumOff val="1412"/>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3D6E8DCE-1046-4390-98FA-9472F9A006B1}">
      <dsp:nvSpPr>
        <dsp:cNvPr id="0" name=""/>
        <dsp:cNvSpPr/>
      </dsp:nvSpPr>
      <dsp:spPr>
        <a:xfrm>
          <a:off x="4752058" y="4093995"/>
          <a:ext cx="1440701" cy="1140156"/>
        </a:xfrm>
        <a:prstGeom prst="chevron">
          <a:avLst>
            <a:gd name="adj" fmla="val 70610"/>
          </a:avLst>
        </a:prstGeom>
        <a:gradFill rotWithShape="0">
          <a:gsLst>
            <a:gs pos="0">
              <a:schemeClr val="accent4">
                <a:hueOff val="8836339"/>
                <a:satOff val="-40773"/>
                <a:lumOff val="1500"/>
                <a:alphaOff val="0"/>
                <a:satMod val="103000"/>
                <a:lumMod val="102000"/>
                <a:tint val="94000"/>
              </a:schemeClr>
            </a:gs>
            <a:gs pos="50000">
              <a:schemeClr val="accent4">
                <a:hueOff val="8836339"/>
                <a:satOff val="-40773"/>
                <a:lumOff val="1500"/>
                <a:alphaOff val="0"/>
                <a:satMod val="110000"/>
                <a:lumMod val="100000"/>
                <a:shade val="100000"/>
              </a:schemeClr>
            </a:gs>
            <a:gs pos="100000">
              <a:schemeClr val="accent4">
                <a:hueOff val="8836339"/>
                <a:satOff val="-40773"/>
                <a:lumOff val="1500"/>
                <a:alphaOff val="0"/>
                <a:lumMod val="99000"/>
                <a:satMod val="120000"/>
                <a:shade val="78000"/>
              </a:schemeClr>
            </a:gs>
          </a:gsLst>
          <a:lin ang="5400000" scaled="0"/>
        </a:gradFill>
        <a:ln w="6350" cap="flat" cmpd="sng" algn="ctr">
          <a:solidFill>
            <a:schemeClr val="accent4">
              <a:hueOff val="8836339"/>
              <a:satOff val="-40773"/>
              <a:lumOff val="1500"/>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13BBE582-52B1-4C40-8DCC-8979401871FE}">
      <dsp:nvSpPr>
        <dsp:cNvPr id="0" name=""/>
        <dsp:cNvSpPr/>
      </dsp:nvSpPr>
      <dsp:spPr>
        <a:xfrm>
          <a:off x="5618121" y="4093995"/>
          <a:ext cx="1440701" cy="1140156"/>
        </a:xfrm>
        <a:prstGeom prst="chevron">
          <a:avLst>
            <a:gd name="adj" fmla="val 70610"/>
          </a:avLst>
        </a:prstGeom>
        <a:gradFill rotWithShape="0">
          <a:gsLst>
            <a:gs pos="0">
              <a:schemeClr val="accent4">
                <a:hueOff val="9356123"/>
                <a:satOff val="-43171"/>
                <a:lumOff val="1589"/>
                <a:alphaOff val="0"/>
                <a:satMod val="103000"/>
                <a:lumMod val="102000"/>
                <a:tint val="94000"/>
              </a:schemeClr>
            </a:gs>
            <a:gs pos="50000">
              <a:schemeClr val="accent4">
                <a:hueOff val="9356123"/>
                <a:satOff val="-43171"/>
                <a:lumOff val="1589"/>
                <a:alphaOff val="0"/>
                <a:satMod val="110000"/>
                <a:lumMod val="100000"/>
                <a:shade val="100000"/>
              </a:schemeClr>
            </a:gs>
            <a:gs pos="100000">
              <a:schemeClr val="accent4">
                <a:hueOff val="9356123"/>
                <a:satOff val="-43171"/>
                <a:lumOff val="1589"/>
                <a:alphaOff val="0"/>
                <a:lumMod val="99000"/>
                <a:satMod val="120000"/>
                <a:shade val="78000"/>
              </a:schemeClr>
            </a:gs>
          </a:gsLst>
          <a:lin ang="5400000" scaled="0"/>
        </a:gradFill>
        <a:ln w="6350" cap="flat" cmpd="sng" algn="ctr">
          <a:solidFill>
            <a:schemeClr val="accent4">
              <a:hueOff val="9356123"/>
              <a:satOff val="-43171"/>
              <a:lumOff val="1589"/>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F3DA966E-6A0E-42E3-AF96-557B82447159}">
      <dsp:nvSpPr>
        <dsp:cNvPr id="0" name=""/>
        <dsp:cNvSpPr/>
      </dsp:nvSpPr>
      <dsp:spPr>
        <a:xfrm>
          <a:off x="6483500" y="4093995"/>
          <a:ext cx="1440701" cy="1140156"/>
        </a:xfrm>
        <a:prstGeom prst="chevron">
          <a:avLst>
            <a:gd name="adj" fmla="val 70610"/>
          </a:avLst>
        </a:prstGeom>
        <a:gradFill rotWithShape="0">
          <a:gsLst>
            <a:gs pos="0">
              <a:schemeClr val="accent4">
                <a:hueOff val="9875907"/>
                <a:satOff val="-45570"/>
                <a:lumOff val="1677"/>
                <a:alphaOff val="0"/>
                <a:satMod val="103000"/>
                <a:lumMod val="102000"/>
                <a:tint val="94000"/>
              </a:schemeClr>
            </a:gs>
            <a:gs pos="50000">
              <a:schemeClr val="accent4">
                <a:hueOff val="9875907"/>
                <a:satOff val="-45570"/>
                <a:lumOff val="1677"/>
                <a:alphaOff val="0"/>
                <a:satMod val="110000"/>
                <a:lumMod val="100000"/>
                <a:shade val="100000"/>
              </a:schemeClr>
            </a:gs>
            <a:gs pos="100000">
              <a:schemeClr val="accent4">
                <a:hueOff val="9875907"/>
                <a:satOff val="-45570"/>
                <a:lumOff val="1677"/>
                <a:alphaOff val="0"/>
                <a:lumMod val="99000"/>
                <a:satMod val="120000"/>
                <a:shade val="78000"/>
              </a:schemeClr>
            </a:gs>
          </a:gsLst>
          <a:lin ang="5400000" scaled="0"/>
        </a:gradFill>
        <a:ln w="6350" cap="flat" cmpd="sng" algn="ctr">
          <a:solidFill>
            <a:schemeClr val="accent4">
              <a:hueOff val="9875907"/>
              <a:satOff val="-45570"/>
              <a:lumOff val="1677"/>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D4826437-297F-4D58-AA14-A5100D64BAD2}">
      <dsp:nvSpPr>
        <dsp:cNvPr id="0" name=""/>
        <dsp:cNvSpPr/>
      </dsp:nvSpPr>
      <dsp:spPr>
        <a:xfrm>
          <a:off x="7349563" y="4093995"/>
          <a:ext cx="1440701" cy="1140156"/>
        </a:xfrm>
        <a:prstGeom prst="chevron">
          <a:avLst>
            <a:gd name="adj" fmla="val 70610"/>
          </a:avLst>
        </a:prstGeom>
        <a:gradFill rotWithShape="0">
          <a:gsLst>
            <a:gs pos="0">
              <a:schemeClr val="accent4">
                <a:hueOff val="10395692"/>
                <a:satOff val="-47968"/>
                <a:lumOff val="1765"/>
                <a:alphaOff val="0"/>
                <a:satMod val="103000"/>
                <a:lumMod val="102000"/>
                <a:tint val="94000"/>
              </a:schemeClr>
            </a:gs>
            <a:gs pos="50000">
              <a:schemeClr val="accent4">
                <a:hueOff val="10395692"/>
                <a:satOff val="-47968"/>
                <a:lumOff val="1765"/>
                <a:alphaOff val="0"/>
                <a:satMod val="110000"/>
                <a:lumMod val="100000"/>
                <a:shade val="100000"/>
              </a:schemeClr>
            </a:gs>
            <a:gs pos="100000">
              <a:schemeClr val="accent4">
                <a:hueOff val="10395692"/>
                <a:satOff val="-47968"/>
                <a:lumOff val="1765"/>
                <a:alphaOff val="0"/>
                <a:lumMod val="99000"/>
                <a:satMod val="120000"/>
                <a:shade val="78000"/>
              </a:schemeClr>
            </a:gs>
          </a:gsLst>
          <a:lin ang="5400000" scaled="0"/>
        </a:gradFill>
        <a:ln w="6350" cap="flat" cmpd="sng" algn="ctr">
          <a:solidFill>
            <a:schemeClr val="accent4">
              <a:hueOff val="10395692"/>
              <a:satOff val="-47968"/>
              <a:lumOff val="1765"/>
              <a:alphaOff val="0"/>
            </a:schemeClr>
          </a:solidFill>
          <a:prstDash val="solid"/>
          <a:miter lim="800000"/>
        </a:ln>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sp>
    <dsp:sp modelId="{AB4DF172-90B2-44C2-BDDB-7397CE0D0EB7}">
      <dsp:nvSpPr>
        <dsp:cNvPr id="0" name=""/>
        <dsp:cNvSpPr/>
      </dsp:nvSpPr>
      <dsp:spPr>
        <a:xfrm>
          <a:off x="2155238" y="4208010"/>
          <a:ext cx="6236884" cy="912125"/>
        </a:xfrm>
        <a:prstGeom prst="rect">
          <a:avLst/>
        </a:prstGeom>
        <a:solidFill>
          <a:schemeClr val="lt1">
            <a:hueOff val="0"/>
            <a:satOff val="0"/>
            <a:lumOff val="0"/>
            <a:alphaOff val="0"/>
          </a:schemeClr>
        </a:solidFill>
        <a:ln w="6350" cap="flat" cmpd="sng" algn="ctr">
          <a:solidFill>
            <a:schemeClr val="accent4">
              <a:hueOff val="10395692"/>
              <a:satOff val="-47968"/>
              <a:lumOff val="1765"/>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lvl="0" algn="l" defTabSz="622300">
            <a:lnSpc>
              <a:spcPct val="90000"/>
            </a:lnSpc>
            <a:spcBef>
              <a:spcPct val="0"/>
            </a:spcBef>
            <a:spcAft>
              <a:spcPct val="35000"/>
            </a:spcAft>
          </a:pPr>
          <a:r>
            <a:rPr lang="en-IN" sz="1400" kern="1200" dirty="0" smtClean="0"/>
            <a:t>Moderately improve the tensile strength and tear strength, but does not improve the abrasion resistance</a:t>
          </a:r>
          <a:endParaRPr lang="en-IN" sz="1400" kern="1200" dirty="0" smtClean="0">
            <a:latin typeface="Calibri" panose="020F0502020204030204" pitchFamily="34" charset="0"/>
            <a:ea typeface="Calibri" panose="020F0502020204030204" pitchFamily="34" charset="0"/>
            <a:cs typeface="Times New Roman" panose="02020603050405020304" pitchFamily="18" charset="0"/>
          </a:endParaRPr>
        </a:p>
        <a:p>
          <a:pPr lvl="0" algn="l" defTabSz="622300">
            <a:lnSpc>
              <a:spcPct val="90000"/>
            </a:lnSpc>
            <a:spcBef>
              <a:spcPct val="0"/>
            </a:spcBef>
            <a:spcAft>
              <a:spcPct val="35000"/>
            </a:spcAft>
          </a:pPr>
          <a:r>
            <a:rPr lang="en-IN" sz="1400" kern="1200" dirty="0" smtClean="0">
              <a:latin typeface="Calibri" panose="020F0502020204030204" pitchFamily="34" charset="0"/>
              <a:ea typeface="Calibri" panose="020F0502020204030204" pitchFamily="34" charset="0"/>
              <a:cs typeface="Times New Roman" panose="02020603050405020304" pitchFamily="18" charset="0"/>
            </a:rPr>
            <a:t>Particle size range : 100 to 1000 nm (0.1 to 1μm)</a:t>
          </a:r>
          <a:endParaRPr lang="en-IN" sz="1400" kern="1200" dirty="0"/>
        </a:p>
      </dsp:txBody>
      <dsp:txXfrm>
        <a:off x="2155238" y="4208010"/>
        <a:ext cx="6236884" cy="912125"/>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36800BE-26D5-439D-9D33-7DC3E61EC7AB}" type="datetimeFigureOut">
              <a:rPr lang="en-IN" smtClean="0"/>
              <a:t>25-06-2020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885520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6800BE-26D5-439D-9D33-7DC3E61EC7AB}" type="datetimeFigureOut">
              <a:rPr lang="en-IN" smtClean="0"/>
              <a:t>25-06-2020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12691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6800BE-26D5-439D-9D33-7DC3E61EC7AB}" type="datetimeFigureOut">
              <a:rPr lang="en-IN" smtClean="0"/>
              <a:t>25-06-2020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3989454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36800BE-26D5-439D-9D33-7DC3E61EC7AB}" type="datetimeFigureOut">
              <a:rPr lang="en-IN" smtClean="0"/>
              <a:t>25-06-2020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24499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36800BE-26D5-439D-9D33-7DC3E61EC7AB}" type="datetimeFigureOut">
              <a:rPr lang="en-IN" smtClean="0"/>
              <a:t>25-06-2020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12088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36800BE-26D5-439D-9D33-7DC3E61EC7AB}" type="datetimeFigureOut">
              <a:rPr lang="en-IN" smtClean="0"/>
              <a:t>25-06-2020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1768169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6800BE-26D5-439D-9D33-7DC3E61EC7AB}" type="datetimeFigureOut">
              <a:rPr lang="en-IN" smtClean="0"/>
              <a:t>25-06-2020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404050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6800BE-26D5-439D-9D33-7DC3E61EC7AB}" type="datetimeFigureOut">
              <a:rPr lang="en-IN" smtClean="0"/>
              <a:t>25-06-2020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1462131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6800BE-26D5-439D-9D33-7DC3E61EC7AB}" type="datetimeFigureOut">
              <a:rPr lang="en-IN" smtClean="0"/>
              <a:t>25-06-2020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1558998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6800BE-26D5-439D-9D33-7DC3E61EC7AB}" type="datetimeFigureOut">
              <a:rPr lang="en-IN" smtClean="0"/>
              <a:t>25-06-2020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598634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36800BE-26D5-439D-9D33-7DC3E61EC7AB}" type="datetimeFigureOut">
              <a:rPr lang="en-IN" smtClean="0"/>
              <a:t>25-06-2020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A630658-B762-48CC-A391-135F50F8C759}" type="slidenum">
              <a:rPr lang="en-IN" smtClean="0"/>
              <a:t>‹#›</a:t>
            </a:fld>
            <a:endParaRPr lang="en-IN"/>
          </a:p>
        </p:txBody>
      </p:sp>
    </p:spTree>
    <p:extLst>
      <p:ext uri="{BB962C8B-B14F-4D97-AF65-F5344CB8AC3E}">
        <p14:creationId xmlns:p14="http://schemas.microsoft.com/office/powerpoint/2010/main" val="331044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6800BE-26D5-439D-9D33-7DC3E61EC7AB}" type="datetimeFigureOut">
              <a:rPr lang="en-IN" smtClean="0"/>
              <a:t>25-06-2020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630658-B762-48CC-A391-135F50F8C759}" type="slidenum">
              <a:rPr lang="en-IN" smtClean="0"/>
              <a:t>‹#›</a:t>
            </a:fld>
            <a:endParaRPr lang="en-IN"/>
          </a:p>
        </p:txBody>
      </p:sp>
    </p:spTree>
    <p:extLst>
      <p:ext uri="{BB962C8B-B14F-4D97-AF65-F5344CB8AC3E}">
        <p14:creationId xmlns:p14="http://schemas.microsoft.com/office/powerpoint/2010/main" val="4106943203"/>
      </p:ext>
    </p:extLst>
  </p:cSld>
  <p:clrMap bg1="lt1" tx1="dk1" bg2="lt2" tx2="dk2" accent1="accent1" accent2="accent2" accent3="accent3" accent4="accent4" accent5="accent5" accent6="accent6" hlink="hlink" folHlink="folHlink"/>
  <p:sldLayoutIdLst>
    <p:sldLayoutId id="2147484046"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0618" y="1368022"/>
            <a:ext cx="10877265" cy="2387600"/>
          </a:xfrm>
        </p:spPr>
        <p:txBody>
          <a:bodyPr>
            <a:normAutofit fontScale="90000"/>
          </a:bodyPr>
          <a:lstStyle/>
          <a:p>
            <a:pPr algn="ctr"/>
            <a:r>
              <a:rPr lang="en-IN" sz="7200" dirty="0" smtClean="0">
                <a:solidFill>
                  <a:srgbClr val="FF0000"/>
                </a:solidFill>
              </a:rPr>
              <a:t>TECHNOLOGY OF ELASTOMERS</a:t>
            </a:r>
            <a:r>
              <a:rPr lang="en-IN" sz="7200" dirty="0" smtClean="0">
                <a:solidFill>
                  <a:srgbClr val="0070C0"/>
                </a:solidFill>
              </a:rPr>
              <a:t/>
            </a:r>
            <a:br>
              <a:rPr lang="en-IN" sz="7200" dirty="0" smtClean="0">
                <a:solidFill>
                  <a:srgbClr val="0070C0"/>
                </a:solidFill>
              </a:rPr>
            </a:br>
            <a:r>
              <a:rPr lang="en-IN" sz="7200" dirty="0" smtClean="0">
                <a:solidFill>
                  <a:srgbClr val="0070C0"/>
                </a:solidFill>
              </a:rPr>
              <a:t/>
            </a:r>
            <a:br>
              <a:rPr lang="en-IN" sz="7200" dirty="0" smtClean="0">
                <a:solidFill>
                  <a:srgbClr val="0070C0"/>
                </a:solidFill>
              </a:rPr>
            </a:br>
            <a:r>
              <a:rPr lang="en-IN" sz="7200" dirty="0" smtClean="0">
                <a:solidFill>
                  <a:srgbClr val="0070C0"/>
                </a:solidFill>
              </a:rPr>
              <a:t>Module I</a:t>
            </a:r>
            <a:br>
              <a:rPr lang="en-IN" sz="7200" dirty="0" smtClean="0">
                <a:solidFill>
                  <a:srgbClr val="0070C0"/>
                </a:solidFill>
              </a:rPr>
            </a:br>
            <a:r>
              <a:rPr lang="en-IN" sz="7200" dirty="0" smtClean="0">
                <a:solidFill>
                  <a:srgbClr val="0070C0"/>
                </a:solidFill>
              </a:rPr>
              <a:t>Compounding Ingredients</a:t>
            </a:r>
            <a:endParaRPr lang="en-IN" sz="7200" dirty="0">
              <a:solidFill>
                <a:srgbClr val="0070C0"/>
              </a:solidFill>
            </a:endParaRPr>
          </a:p>
        </p:txBody>
      </p:sp>
      <p:sp>
        <p:nvSpPr>
          <p:cNvPr id="3" name="Subtitle 2"/>
          <p:cNvSpPr>
            <a:spLocks noGrp="1"/>
          </p:cNvSpPr>
          <p:nvPr>
            <p:ph type="subTitle" idx="1"/>
          </p:nvPr>
        </p:nvSpPr>
        <p:spPr>
          <a:xfrm>
            <a:off x="1073623" y="4639267"/>
            <a:ext cx="10390495" cy="1655762"/>
          </a:xfrm>
        </p:spPr>
        <p:txBody>
          <a:bodyPr>
            <a:normAutofit/>
          </a:bodyPr>
          <a:lstStyle/>
          <a:p>
            <a:pPr algn="l"/>
            <a:r>
              <a:rPr lang="en-IN" dirty="0" smtClean="0">
                <a:solidFill>
                  <a:srgbClr val="C00000"/>
                </a:solidFill>
              </a:rPr>
              <a:t>Course Outcome : </a:t>
            </a:r>
          </a:p>
          <a:p>
            <a:pPr algn="just"/>
            <a:r>
              <a:rPr lang="en-IN" dirty="0" smtClean="0">
                <a:solidFill>
                  <a:srgbClr val="C00000"/>
                </a:solidFill>
              </a:rPr>
              <a:t>To Comprehend the preparation , properties and applications of compounding ingredients.</a:t>
            </a:r>
            <a:endParaRPr lang="en-IN" dirty="0">
              <a:solidFill>
                <a:srgbClr val="C00000"/>
              </a:solidFill>
            </a:endParaRPr>
          </a:p>
        </p:txBody>
      </p:sp>
    </p:spTree>
    <p:extLst>
      <p:ext uri="{BB962C8B-B14F-4D97-AF65-F5344CB8AC3E}">
        <p14:creationId xmlns:p14="http://schemas.microsoft.com/office/powerpoint/2010/main" val="1856455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To Comprehend the preparation , properties and applications of compounding ingredients</a:t>
            </a:r>
          </a:p>
        </p:txBody>
      </p:sp>
      <p:sp>
        <p:nvSpPr>
          <p:cNvPr id="3" name="Content Placeholder 2"/>
          <p:cNvSpPr>
            <a:spLocks noGrp="1"/>
          </p:cNvSpPr>
          <p:nvPr>
            <p:ph idx="1"/>
          </p:nvPr>
        </p:nvSpPr>
        <p:spPr/>
        <p:txBody>
          <a:bodyPr>
            <a:normAutofit fontScale="62500" lnSpcReduction="20000"/>
          </a:bodyPr>
          <a:lstStyle/>
          <a:p>
            <a:pPr marL="0" indent="0">
              <a:buNone/>
            </a:pPr>
            <a:r>
              <a:rPr lang="en-IN" dirty="0" smtClean="0"/>
              <a:t>1.1.1 </a:t>
            </a:r>
            <a:r>
              <a:rPr lang="en-IN" dirty="0"/>
              <a:t>Classify the compounding ingredients. </a:t>
            </a:r>
            <a:endParaRPr lang="en-IN" dirty="0" smtClean="0"/>
          </a:p>
          <a:p>
            <a:pPr marL="0" indent="0">
              <a:buNone/>
            </a:pPr>
            <a:r>
              <a:rPr lang="en-IN" dirty="0" smtClean="0"/>
              <a:t>1.1.2 </a:t>
            </a:r>
            <a:r>
              <a:rPr lang="en-IN" dirty="0"/>
              <a:t>State the functions and characteristics of compounding ingredients with examples. </a:t>
            </a:r>
            <a:endParaRPr lang="en-IN" dirty="0" smtClean="0"/>
          </a:p>
          <a:p>
            <a:pPr marL="0" indent="0">
              <a:buNone/>
            </a:pPr>
            <a:r>
              <a:rPr lang="en-IN" dirty="0" smtClean="0"/>
              <a:t>1.1.3 </a:t>
            </a:r>
            <a:r>
              <a:rPr lang="en-IN" dirty="0"/>
              <a:t>Explain different vulcanising agents and their roles in a recipe. </a:t>
            </a:r>
            <a:endParaRPr lang="en-IN" dirty="0" smtClean="0"/>
          </a:p>
          <a:p>
            <a:pPr marL="0" indent="0">
              <a:buNone/>
            </a:pPr>
            <a:r>
              <a:rPr lang="en-IN" dirty="0" smtClean="0"/>
              <a:t>1.1.4 Describe the functions of activators and retarders. </a:t>
            </a:r>
          </a:p>
          <a:p>
            <a:pPr marL="0" indent="0">
              <a:buNone/>
            </a:pPr>
            <a:r>
              <a:rPr lang="en-IN" dirty="0" smtClean="0"/>
              <a:t>1.1.5 </a:t>
            </a:r>
            <a:r>
              <a:rPr lang="en-IN" dirty="0"/>
              <a:t>State the function of accelerators and their classifications. </a:t>
            </a:r>
          </a:p>
          <a:p>
            <a:pPr marL="0" indent="0">
              <a:buNone/>
            </a:pPr>
            <a:r>
              <a:rPr lang="en-IN" dirty="0" smtClean="0"/>
              <a:t>1.1.6 </a:t>
            </a:r>
            <a:r>
              <a:rPr lang="en-IN" dirty="0"/>
              <a:t>Explain the classification and role of </a:t>
            </a:r>
            <a:r>
              <a:rPr lang="en-IN" dirty="0" err="1"/>
              <a:t>antidegradents</a:t>
            </a:r>
            <a:r>
              <a:rPr lang="en-IN" dirty="0"/>
              <a:t>, processing aid, (plasticiser, softener, and extender). </a:t>
            </a:r>
            <a:endParaRPr lang="en-IN" dirty="0" smtClean="0"/>
          </a:p>
          <a:p>
            <a:pPr marL="0" indent="0">
              <a:buNone/>
            </a:pPr>
            <a:r>
              <a:rPr lang="en-IN" dirty="0" smtClean="0"/>
              <a:t>1.1.7 </a:t>
            </a:r>
            <a:r>
              <a:rPr lang="en-IN" dirty="0"/>
              <a:t>Classify fillers with respect to colour, reinforcement, origin </a:t>
            </a:r>
          </a:p>
          <a:p>
            <a:pPr marL="0" indent="0">
              <a:buNone/>
            </a:pPr>
            <a:r>
              <a:rPr lang="en-IN" dirty="0" smtClean="0"/>
              <a:t>1.1.8 </a:t>
            </a:r>
            <a:r>
              <a:rPr lang="en-IN" dirty="0"/>
              <a:t>Describe the preparation, characteristics and application of nonblack fillers like inorganic, fibrous, organic. resinous fillers. </a:t>
            </a:r>
          </a:p>
          <a:p>
            <a:pPr marL="0" indent="0">
              <a:buNone/>
            </a:pPr>
            <a:r>
              <a:rPr lang="en-IN" dirty="0" smtClean="0"/>
              <a:t>1.1.9 </a:t>
            </a:r>
            <a:r>
              <a:rPr lang="en-IN" dirty="0"/>
              <a:t>Explain the classification and method of manufacturing carbon blacks. </a:t>
            </a:r>
          </a:p>
          <a:p>
            <a:pPr marL="0" indent="0">
              <a:buNone/>
            </a:pPr>
            <a:r>
              <a:rPr lang="en-IN" dirty="0" smtClean="0"/>
              <a:t>1.1.10 </a:t>
            </a:r>
            <a:r>
              <a:rPr lang="en-IN" dirty="0"/>
              <a:t>State the properties of carbon black, and classification according to ASTM D 1765. </a:t>
            </a:r>
          </a:p>
          <a:p>
            <a:pPr marL="0" indent="0">
              <a:buNone/>
            </a:pPr>
            <a:r>
              <a:rPr lang="en-IN" dirty="0" smtClean="0"/>
              <a:t>1.1.11 </a:t>
            </a:r>
            <a:r>
              <a:rPr lang="en-IN" dirty="0"/>
              <a:t>Describe the procedure for the determination of particle size and structure. </a:t>
            </a:r>
          </a:p>
          <a:p>
            <a:pPr marL="0" indent="0">
              <a:buNone/>
            </a:pPr>
            <a:r>
              <a:rPr lang="en-IN" dirty="0" smtClean="0"/>
              <a:t>1.1.12 </a:t>
            </a:r>
            <a:r>
              <a:rPr lang="en-IN" dirty="0"/>
              <a:t>List the special purpose additives and their functions.</a:t>
            </a:r>
          </a:p>
        </p:txBody>
      </p:sp>
    </p:spTree>
    <p:extLst>
      <p:ext uri="{BB962C8B-B14F-4D97-AF65-F5344CB8AC3E}">
        <p14:creationId xmlns:p14="http://schemas.microsoft.com/office/powerpoint/2010/main" val="16957260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848" y="965816"/>
            <a:ext cx="10515600" cy="4351338"/>
          </a:xfrm>
        </p:spPr>
        <p:txBody>
          <a:bodyPr/>
          <a:lstStyle/>
          <a:p>
            <a:r>
              <a:rPr lang="en-IN" sz="2400" dirty="0" smtClean="0"/>
              <a:t>Rubber products are divided into</a:t>
            </a:r>
          </a:p>
          <a:p>
            <a:endParaRPr lang="en-IN" dirty="0" smtClean="0"/>
          </a:p>
          <a:p>
            <a:pPr lvl="6">
              <a:buFont typeface="Wingdings" panose="05000000000000000000" pitchFamily="2" charset="2"/>
              <a:buChar char="q"/>
            </a:pPr>
            <a:r>
              <a:rPr lang="en-IN" sz="2000" dirty="0" smtClean="0"/>
              <a:t> Tyres</a:t>
            </a:r>
          </a:p>
          <a:p>
            <a:pPr lvl="6">
              <a:buFont typeface="Wingdings" panose="05000000000000000000" pitchFamily="2" charset="2"/>
              <a:buChar char="q"/>
            </a:pPr>
            <a:r>
              <a:rPr lang="en-IN" sz="2000" dirty="0"/>
              <a:t> </a:t>
            </a:r>
            <a:r>
              <a:rPr lang="en-IN" sz="2000" dirty="0" smtClean="0"/>
              <a:t>Industrial goods (motor vehicle, rail road transportation, construction etc.)</a:t>
            </a:r>
          </a:p>
          <a:p>
            <a:pPr lvl="6">
              <a:buFont typeface="Wingdings" panose="05000000000000000000" pitchFamily="2" charset="2"/>
              <a:buChar char="q"/>
            </a:pPr>
            <a:r>
              <a:rPr lang="en-IN" sz="2000" dirty="0"/>
              <a:t> </a:t>
            </a:r>
            <a:r>
              <a:rPr lang="en-IN" sz="2000" dirty="0" smtClean="0"/>
              <a:t>Consumer goods ( footwear, mats, inner tubes, O –rings etc.)</a:t>
            </a:r>
          </a:p>
          <a:p>
            <a:pPr lvl="6">
              <a:buFont typeface="Wingdings" panose="05000000000000000000" pitchFamily="2" charset="2"/>
              <a:buChar char="q"/>
            </a:pPr>
            <a:endParaRPr lang="en-IN" dirty="0"/>
          </a:p>
        </p:txBody>
      </p:sp>
      <p:pic>
        <p:nvPicPr>
          <p:cNvPr id="5" name="Picture 4"/>
          <p:cNvPicPr>
            <a:picLocks noChangeAspect="1"/>
          </p:cNvPicPr>
          <p:nvPr/>
        </p:nvPicPr>
        <p:blipFill>
          <a:blip r:embed="rId2"/>
          <a:stretch>
            <a:fillRect/>
          </a:stretch>
        </p:blipFill>
        <p:spPr>
          <a:xfrm>
            <a:off x="2142595" y="3857414"/>
            <a:ext cx="2857143" cy="1600000"/>
          </a:xfrm>
          <a:prstGeom prst="rect">
            <a:avLst/>
          </a:prstGeom>
        </p:spPr>
      </p:pic>
      <p:pic>
        <p:nvPicPr>
          <p:cNvPr id="6" name="Picture 5"/>
          <p:cNvPicPr>
            <a:picLocks noChangeAspect="1"/>
          </p:cNvPicPr>
          <p:nvPr/>
        </p:nvPicPr>
        <p:blipFill>
          <a:blip r:embed="rId3"/>
          <a:stretch>
            <a:fillRect/>
          </a:stretch>
        </p:blipFill>
        <p:spPr>
          <a:xfrm>
            <a:off x="5826853" y="3876462"/>
            <a:ext cx="2885714" cy="1580952"/>
          </a:xfrm>
          <a:prstGeom prst="rect">
            <a:avLst/>
          </a:prstGeom>
        </p:spPr>
      </p:pic>
    </p:spTree>
    <p:extLst>
      <p:ext uri="{BB962C8B-B14F-4D97-AF65-F5344CB8AC3E}">
        <p14:creationId xmlns:p14="http://schemas.microsoft.com/office/powerpoint/2010/main" val="14264703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0"/>
            <a:ext cx="10058400" cy="1450757"/>
          </a:xfrm>
        </p:spPr>
        <p:txBody>
          <a:bodyPr/>
          <a:lstStyle/>
          <a:p>
            <a:pPr algn="ctr"/>
            <a:r>
              <a:rPr lang="en-IN" dirty="0" smtClean="0"/>
              <a:t>Rubber Compounding</a:t>
            </a:r>
            <a:endParaRPr lang="en-IN" dirty="0"/>
          </a:p>
        </p:txBody>
      </p:sp>
      <p:sp>
        <p:nvSpPr>
          <p:cNvPr id="3" name="Content Placeholder 2"/>
          <p:cNvSpPr>
            <a:spLocks noGrp="1"/>
          </p:cNvSpPr>
          <p:nvPr>
            <p:ph idx="1"/>
          </p:nvPr>
        </p:nvSpPr>
        <p:spPr>
          <a:xfrm>
            <a:off x="838200" y="1539016"/>
            <a:ext cx="10515600" cy="4351338"/>
          </a:xfrm>
        </p:spPr>
        <p:txBody>
          <a:bodyPr>
            <a:normAutofit/>
          </a:bodyPr>
          <a:lstStyle/>
          <a:p>
            <a:pPr algn="just">
              <a:lnSpc>
                <a:spcPct val="150000"/>
              </a:lnSpc>
              <a:buClrTx/>
              <a:buFont typeface="Wingdings" panose="05000000000000000000" pitchFamily="2" charset="2"/>
              <a:buChar char="q"/>
            </a:pPr>
            <a:r>
              <a:rPr lang="en-IN" sz="2400" b="1" dirty="0" smtClean="0">
                <a:solidFill>
                  <a:srgbClr val="C00000"/>
                </a:solidFill>
              </a:rPr>
              <a:t> Compound – </a:t>
            </a:r>
            <a:r>
              <a:rPr lang="en-IN" sz="2400" dirty="0"/>
              <a:t>r</a:t>
            </a:r>
            <a:r>
              <a:rPr lang="en-IN" sz="2400" dirty="0" smtClean="0"/>
              <a:t>efers to a specific blend of ingredients used in the manufacturing of products in order to achieve a definite set of mechanical properties. </a:t>
            </a:r>
          </a:p>
          <a:p>
            <a:pPr algn="just">
              <a:lnSpc>
                <a:spcPct val="150000"/>
              </a:lnSpc>
              <a:buClrTx/>
              <a:buFont typeface="Wingdings" panose="05000000000000000000" pitchFamily="2" charset="2"/>
              <a:buChar char="q"/>
            </a:pPr>
            <a:r>
              <a:rPr lang="en-IN" sz="2400" b="1" dirty="0" smtClean="0">
                <a:solidFill>
                  <a:srgbClr val="C00000"/>
                </a:solidFill>
              </a:rPr>
              <a:t> Rubber Compounding</a:t>
            </a:r>
            <a:r>
              <a:rPr lang="en-IN" sz="2400" dirty="0" smtClean="0"/>
              <a:t> – science of selecting  and combining elastomers and additives to obtain the desired properties (physical as well as chemical)  for a finished product.</a:t>
            </a:r>
            <a:r>
              <a:rPr lang="en-IN" sz="2400" dirty="0"/>
              <a:t> </a:t>
            </a:r>
            <a:endParaRPr lang="en-IN" sz="2400" dirty="0" smtClean="0"/>
          </a:p>
          <a:p>
            <a:pPr marL="0" indent="0" algn="just">
              <a:lnSpc>
                <a:spcPct val="150000"/>
              </a:lnSpc>
              <a:buNone/>
            </a:pPr>
            <a:r>
              <a:rPr lang="en-IN" sz="2400" dirty="0" smtClean="0"/>
              <a:t>	It </a:t>
            </a:r>
            <a:r>
              <a:rPr lang="en-IN" sz="2400" dirty="0"/>
              <a:t>is through compounding that the specific rubber is designed to </a:t>
            </a:r>
            <a:r>
              <a:rPr lang="en-IN" sz="2400" dirty="0" smtClean="0"/>
              <a:t>satisfy 	a </a:t>
            </a:r>
            <a:r>
              <a:rPr lang="en-IN" sz="2400" dirty="0"/>
              <a:t>given application in terms of properties, cost, and </a:t>
            </a:r>
            <a:r>
              <a:rPr lang="en-IN" sz="2400" dirty="0" err="1" smtClean="0"/>
              <a:t>processability</a:t>
            </a:r>
            <a:r>
              <a:rPr lang="en-IN" sz="2400" dirty="0"/>
              <a:t>.</a:t>
            </a:r>
          </a:p>
          <a:p>
            <a:pPr marL="0" indent="0" algn="just">
              <a:lnSpc>
                <a:spcPct val="150000"/>
              </a:lnSpc>
              <a:buNone/>
            </a:pPr>
            <a:endParaRPr lang="en-IN" sz="2400" dirty="0"/>
          </a:p>
        </p:txBody>
      </p:sp>
    </p:spTree>
    <p:extLst>
      <p:ext uri="{BB962C8B-B14F-4D97-AF65-F5344CB8AC3E}">
        <p14:creationId xmlns:p14="http://schemas.microsoft.com/office/powerpoint/2010/main" val="2836119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dirty="0" smtClean="0">
                <a:solidFill>
                  <a:srgbClr val="0070C0"/>
                </a:solidFill>
              </a:rPr>
              <a:t>Classification of Compounding Ingredients</a:t>
            </a:r>
            <a:endParaRPr lang="en-IN" sz="4400" dirty="0">
              <a:solidFill>
                <a:srgbClr val="0070C0"/>
              </a:solidFill>
            </a:endParaRPr>
          </a:p>
        </p:txBody>
      </p:sp>
      <p:sp>
        <p:nvSpPr>
          <p:cNvPr id="3" name="Content Placeholder 2"/>
          <p:cNvSpPr>
            <a:spLocks noGrp="1"/>
          </p:cNvSpPr>
          <p:nvPr>
            <p:ph idx="1"/>
          </p:nvPr>
        </p:nvSpPr>
        <p:spPr>
          <a:xfrm>
            <a:off x="1097280" y="1913974"/>
            <a:ext cx="10058400" cy="4023360"/>
          </a:xfrm>
        </p:spPr>
        <p:txBody>
          <a:bodyPr>
            <a:normAutofit fontScale="92500" lnSpcReduction="20000"/>
          </a:bodyPr>
          <a:lstStyle/>
          <a:p>
            <a:pPr>
              <a:buClrTx/>
              <a:buFont typeface="Wingdings" panose="05000000000000000000" pitchFamily="2" charset="2"/>
              <a:buChar char="q"/>
            </a:pPr>
            <a:r>
              <a:rPr lang="en-US" b="1" dirty="0" smtClean="0"/>
              <a:t>  Elastomers</a:t>
            </a:r>
          </a:p>
          <a:p>
            <a:pPr>
              <a:buClrTx/>
              <a:buFont typeface="Wingdings" panose="05000000000000000000" pitchFamily="2" charset="2"/>
              <a:buChar char="q"/>
            </a:pPr>
            <a:r>
              <a:rPr lang="en-US" b="1" dirty="0" smtClean="0"/>
              <a:t>  Vulcanizing Agents (curatives)</a:t>
            </a:r>
          </a:p>
          <a:p>
            <a:pPr>
              <a:buClrTx/>
              <a:buFont typeface="Wingdings" panose="05000000000000000000" pitchFamily="2" charset="2"/>
              <a:buChar char="q"/>
            </a:pPr>
            <a:r>
              <a:rPr lang="en-US" b="1" dirty="0" smtClean="0"/>
              <a:t>  Accelerators</a:t>
            </a:r>
          </a:p>
          <a:p>
            <a:pPr>
              <a:buClrTx/>
              <a:buFont typeface="Wingdings" panose="05000000000000000000" pitchFamily="2" charset="2"/>
              <a:buChar char="q"/>
            </a:pPr>
            <a:r>
              <a:rPr lang="en-US" b="1" dirty="0" smtClean="0"/>
              <a:t>  Activators and Retarders</a:t>
            </a:r>
          </a:p>
          <a:p>
            <a:pPr>
              <a:buClrTx/>
              <a:buFont typeface="Wingdings" panose="05000000000000000000" pitchFamily="2" charset="2"/>
              <a:buChar char="q"/>
            </a:pPr>
            <a:r>
              <a:rPr lang="en-US" b="1" dirty="0" smtClean="0"/>
              <a:t>  Antidegradants (Anti-oxidants, </a:t>
            </a:r>
            <a:r>
              <a:rPr lang="en-US" b="1" dirty="0" err="1" smtClean="0"/>
              <a:t>Antiozonants</a:t>
            </a:r>
            <a:r>
              <a:rPr lang="en-US" b="1" dirty="0" smtClean="0"/>
              <a:t>, Protective waxes )</a:t>
            </a:r>
          </a:p>
          <a:p>
            <a:pPr>
              <a:buClrTx/>
              <a:buFont typeface="Wingdings" panose="05000000000000000000" pitchFamily="2" charset="2"/>
              <a:buChar char="q"/>
            </a:pPr>
            <a:r>
              <a:rPr lang="en-US" b="1" dirty="0" smtClean="0"/>
              <a:t>  Processing aids (</a:t>
            </a:r>
            <a:r>
              <a:rPr lang="en-US" b="1" dirty="0" err="1" smtClean="0"/>
              <a:t>Peptizers</a:t>
            </a:r>
            <a:r>
              <a:rPr lang="en-US" b="1" dirty="0" smtClean="0"/>
              <a:t>, Lubricants, Release Agents)</a:t>
            </a:r>
          </a:p>
          <a:p>
            <a:pPr>
              <a:buClrTx/>
              <a:buFont typeface="Wingdings" panose="05000000000000000000" pitchFamily="2" charset="2"/>
              <a:buChar char="q"/>
            </a:pPr>
            <a:r>
              <a:rPr lang="en-US" b="1" dirty="0" smtClean="0"/>
              <a:t>  Fillers (carbon black, non-black materials)</a:t>
            </a:r>
          </a:p>
          <a:p>
            <a:pPr>
              <a:buClrTx/>
              <a:buFont typeface="Wingdings" panose="05000000000000000000" pitchFamily="2" charset="2"/>
              <a:buChar char="q"/>
            </a:pPr>
            <a:r>
              <a:rPr lang="en-US" b="1" dirty="0" smtClean="0"/>
              <a:t>  Plasticizers, Softeners and </a:t>
            </a:r>
            <a:r>
              <a:rPr lang="en-US" b="1" dirty="0" err="1" smtClean="0"/>
              <a:t>Tackifiers</a:t>
            </a:r>
            <a:endParaRPr lang="en-US" b="1" dirty="0" smtClean="0"/>
          </a:p>
          <a:p>
            <a:pPr>
              <a:buClrTx/>
              <a:buFont typeface="Wingdings" panose="05000000000000000000" pitchFamily="2" charset="2"/>
              <a:buChar char="q"/>
            </a:pPr>
            <a:r>
              <a:rPr lang="en-US" b="1" dirty="0" smtClean="0"/>
              <a:t>  </a:t>
            </a:r>
            <a:r>
              <a:rPr lang="en-US" b="1" dirty="0" err="1" smtClean="0"/>
              <a:t>Colour</a:t>
            </a:r>
            <a:r>
              <a:rPr lang="en-US" b="1" dirty="0" smtClean="0"/>
              <a:t> pigments</a:t>
            </a:r>
          </a:p>
          <a:p>
            <a:pPr>
              <a:buClrTx/>
              <a:buFont typeface="Wingdings" panose="05000000000000000000" pitchFamily="2" charset="2"/>
              <a:buChar char="q"/>
            </a:pPr>
            <a:r>
              <a:rPr lang="en-US" b="1" dirty="0" smtClean="0"/>
              <a:t>  Special Purpose Materials (Blowing Agents, Deodorants, etc.)</a:t>
            </a:r>
            <a:endParaRPr lang="en-US" b="1" dirty="0"/>
          </a:p>
        </p:txBody>
      </p:sp>
    </p:spTree>
    <p:extLst>
      <p:ext uri="{BB962C8B-B14F-4D97-AF65-F5344CB8AC3E}">
        <p14:creationId xmlns:p14="http://schemas.microsoft.com/office/powerpoint/2010/main" val="23368327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269" y="283238"/>
            <a:ext cx="10515600" cy="1325563"/>
          </a:xfrm>
        </p:spPr>
        <p:txBody>
          <a:bodyPr/>
          <a:lstStyle/>
          <a:p>
            <a:pPr algn="ctr"/>
            <a:r>
              <a:rPr lang="en-IN" b="1" dirty="0" smtClean="0">
                <a:solidFill>
                  <a:srgbClr val="C00000"/>
                </a:solidFill>
              </a:rPr>
              <a:t>Elastomers/ Rubber</a:t>
            </a:r>
            <a:endParaRPr lang="en-IN" b="1" dirty="0">
              <a:solidFill>
                <a:srgbClr val="C00000"/>
              </a:solidFill>
            </a:endParaRPr>
          </a:p>
        </p:txBody>
      </p:sp>
      <p:sp>
        <p:nvSpPr>
          <p:cNvPr id="3" name="Content Placeholder 2"/>
          <p:cNvSpPr>
            <a:spLocks noGrp="1"/>
          </p:cNvSpPr>
          <p:nvPr>
            <p:ph idx="1"/>
          </p:nvPr>
        </p:nvSpPr>
        <p:spPr>
          <a:xfrm>
            <a:off x="838200" y="1825624"/>
            <a:ext cx="10515600" cy="4916369"/>
          </a:xfrm>
        </p:spPr>
        <p:txBody>
          <a:bodyPr>
            <a:normAutofit/>
          </a:bodyPr>
          <a:lstStyle/>
          <a:p>
            <a:pPr>
              <a:buFont typeface="Wingdings" panose="05000000000000000000" pitchFamily="2" charset="2"/>
              <a:buChar char="q"/>
            </a:pPr>
            <a:r>
              <a:rPr lang="en-IN" dirty="0" smtClean="0"/>
              <a:t> </a:t>
            </a:r>
            <a:r>
              <a:rPr lang="en-IN" sz="2400" dirty="0" smtClean="0"/>
              <a:t>Single </a:t>
            </a:r>
            <a:r>
              <a:rPr lang="en-IN" sz="2400" dirty="0"/>
              <a:t>elastomer </a:t>
            </a:r>
            <a:r>
              <a:rPr lang="en-IN" sz="2400" dirty="0" smtClean="0"/>
              <a:t>/ blend </a:t>
            </a:r>
            <a:r>
              <a:rPr lang="en-IN" sz="2400" dirty="0"/>
              <a:t>of two or more different rubbers. </a:t>
            </a:r>
            <a:endParaRPr lang="en-IN" sz="2400" dirty="0" smtClean="0"/>
          </a:p>
          <a:p>
            <a:pPr>
              <a:buFont typeface="Wingdings" panose="05000000000000000000" pitchFamily="2" charset="2"/>
              <a:buChar char="q"/>
            </a:pPr>
            <a:r>
              <a:rPr lang="en-IN" sz="2400" dirty="0"/>
              <a:t> </a:t>
            </a:r>
            <a:r>
              <a:rPr lang="en-IN" sz="2400" dirty="0" smtClean="0"/>
              <a:t> Elastomers </a:t>
            </a:r>
            <a:r>
              <a:rPr lang="en-IN" sz="2400" dirty="0"/>
              <a:t>can be general purpose or special purpose synthetic rubbers</a:t>
            </a:r>
            <a:r>
              <a:rPr lang="en-IN" sz="2400" dirty="0" smtClean="0"/>
              <a:t>.</a:t>
            </a:r>
          </a:p>
          <a:p>
            <a:pPr>
              <a:buFont typeface="Wingdings" panose="05000000000000000000" pitchFamily="2" charset="2"/>
              <a:buChar char="q"/>
            </a:pPr>
            <a:r>
              <a:rPr lang="en-IN" sz="2400" dirty="0"/>
              <a:t> </a:t>
            </a:r>
            <a:r>
              <a:rPr lang="en-IN" sz="2400" dirty="0" smtClean="0"/>
              <a:t>General purpose rubbers 		Used</a:t>
            </a:r>
            <a:r>
              <a:rPr lang="en-IN" sz="2400" dirty="0"/>
              <a:t> in the production of articles in which the basic property of </a:t>
            </a:r>
            <a:r>
              <a:rPr lang="en-IN" sz="2400" dirty="0" smtClean="0"/>
              <a:t>          	vulcanized</a:t>
            </a:r>
            <a:r>
              <a:rPr lang="en-IN" sz="2400" dirty="0"/>
              <a:t> </a:t>
            </a:r>
            <a:r>
              <a:rPr lang="en-IN" sz="2400" dirty="0" smtClean="0"/>
              <a:t>rubbers, </a:t>
            </a:r>
            <a:r>
              <a:rPr lang="en-IN" sz="2400" dirty="0" err="1" smtClean="0"/>
              <a:t>i</a:t>
            </a:r>
            <a:r>
              <a:rPr lang="en-IN" sz="2400" dirty="0" smtClean="0"/>
              <a:t>. e high</a:t>
            </a:r>
            <a:r>
              <a:rPr lang="en-IN" sz="2400" dirty="0"/>
              <a:t> elasticity at ordinary temperatures</a:t>
            </a:r>
            <a:r>
              <a:rPr lang="en-IN" sz="2400" dirty="0" smtClean="0"/>
              <a:t>—	is</a:t>
            </a:r>
            <a:r>
              <a:rPr lang="en-IN" sz="2400" dirty="0"/>
              <a:t> desirable </a:t>
            </a:r>
            <a:endParaRPr lang="en-IN" sz="2400" dirty="0" smtClean="0"/>
          </a:p>
          <a:p>
            <a:pPr marL="0" indent="0">
              <a:buNone/>
            </a:pPr>
            <a:r>
              <a:rPr lang="en-IN" sz="2400" dirty="0" smtClean="0"/>
              <a:t>		Example, tires, conveyer belts, and footwear. </a:t>
            </a:r>
          </a:p>
          <a:p>
            <a:pPr>
              <a:buFont typeface="Wingdings" panose="05000000000000000000" pitchFamily="2" charset="2"/>
              <a:buChar char="q"/>
            </a:pPr>
            <a:r>
              <a:rPr lang="en-IN" sz="2400" dirty="0"/>
              <a:t> </a:t>
            </a:r>
            <a:r>
              <a:rPr lang="en-IN" sz="2400" dirty="0" smtClean="0"/>
              <a:t>Special purpose rubbers </a:t>
            </a:r>
          </a:p>
          <a:p>
            <a:pPr marL="0" indent="0">
              <a:buNone/>
            </a:pPr>
            <a:r>
              <a:rPr lang="en-IN" sz="2400" dirty="0"/>
              <a:t>	</a:t>
            </a:r>
            <a:r>
              <a:rPr lang="en-IN" sz="2400" dirty="0" smtClean="0"/>
              <a:t>Used in producing articles that should be resistant to the action 	of solvents, oils, oxygen</a:t>
            </a:r>
            <a:r>
              <a:rPr lang="en-IN" sz="2400" dirty="0"/>
              <a:t> </a:t>
            </a:r>
            <a:r>
              <a:rPr lang="en-IN" sz="2400" dirty="0" smtClean="0"/>
              <a:t>etc. </a:t>
            </a:r>
            <a:r>
              <a:rPr lang="en-IN" sz="2400" dirty="0" err="1" smtClean="0"/>
              <a:t>i</a:t>
            </a:r>
            <a:r>
              <a:rPr lang="en-IN" sz="2400" dirty="0" smtClean="0"/>
              <a:t>. e , able to retain high 	elastic properties over a broad range of temperatures.                           </a:t>
            </a:r>
            <a:endParaRPr lang="en-IN" sz="2400" dirty="0"/>
          </a:p>
        </p:txBody>
      </p:sp>
    </p:spTree>
    <p:extLst>
      <p:ext uri="{BB962C8B-B14F-4D97-AF65-F5344CB8AC3E}">
        <p14:creationId xmlns:p14="http://schemas.microsoft.com/office/powerpoint/2010/main" val="3871443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952538903"/>
              </p:ext>
            </p:extLst>
          </p:nvPr>
        </p:nvGraphicFramePr>
        <p:xfrm>
          <a:off x="606188" y="406258"/>
          <a:ext cx="10515600" cy="4689482"/>
        </p:xfrm>
        <a:graphic>
          <a:graphicData uri="http://schemas.openxmlformats.org/drawingml/2006/table">
            <a:tbl>
              <a:tblPr firstRow="1" bandRow="1">
                <a:tableStyleId>{5C22544A-7EE6-4342-B048-85BDC9FD1C3A}</a:tableStyleId>
              </a:tblPr>
              <a:tblGrid>
                <a:gridCol w="5257800"/>
                <a:gridCol w="5257800"/>
              </a:tblGrid>
              <a:tr h="333061">
                <a:tc>
                  <a:txBody>
                    <a:bodyPr/>
                    <a:lstStyle/>
                    <a:p>
                      <a:pPr algn="ctr"/>
                      <a:r>
                        <a:rPr lang="en-IN" sz="2400" dirty="0" smtClean="0"/>
                        <a:t>General Purpose Rubbers</a:t>
                      </a:r>
                    </a:p>
                    <a:p>
                      <a:pPr algn="ctr"/>
                      <a:endParaRPr lang="en-IN" sz="2400" dirty="0"/>
                    </a:p>
                  </a:txBody>
                  <a:tcPr/>
                </a:tc>
                <a:tc>
                  <a:txBody>
                    <a:bodyPr/>
                    <a:lstStyle/>
                    <a:p>
                      <a:pPr algn="ctr"/>
                      <a:r>
                        <a:rPr lang="en-IN" sz="2400" dirty="0" smtClean="0"/>
                        <a:t>Special Purpose Rubbers</a:t>
                      </a:r>
                      <a:endParaRPr lang="en-IN" sz="2400" dirty="0"/>
                    </a:p>
                  </a:txBody>
                  <a:tcPr/>
                </a:tc>
              </a:tr>
              <a:tr h="333061">
                <a:tc>
                  <a:txBody>
                    <a:bodyPr/>
                    <a:lstStyle/>
                    <a:p>
                      <a:r>
                        <a:rPr lang="en-IN" dirty="0" smtClean="0"/>
                        <a:t>Natural Rubber (NR)</a:t>
                      </a:r>
                    </a:p>
                    <a:p>
                      <a:endParaRPr lang="en-IN" dirty="0"/>
                    </a:p>
                  </a:txBody>
                  <a:tcPr/>
                </a:tc>
                <a:tc>
                  <a:txBody>
                    <a:bodyPr/>
                    <a:lstStyle/>
                    <a:p>
                      <a:r>
                        <a:rPr lang="en-IN" dirty="0" smtClean="0"/>
                        <a:t>Acrylonitrile butadiene rubber (NBR)</a:t>
                      </a:r>
                      <a:endParaRPr lang="en-IN" dirty="0"/>
                    </a:p>
                  </a:txBody>
                  <a:tcPr/>
                </a:tc>
              </a:tr>
              <a:tr h="333061">
                <a:tc>
                  <a:txBody>
                    <a:bodyPr/>
                    <a:lstStyle/>
                    <a:p>
                      <a:r>
                        <a:rPr lang="en-IN" dirty="0" smtClean="0"/>
                        <a:t>Styrene butadiene</a:t>
                      </a:r>
                      <a:r>
                        <a:rPr lang="en-IN" baseline="0" dirty="0" smtClean="0"/>
                        <a:t> rubber (SBR)</a:t>
                      </a:r>
                    </a:p>
                    <a:p>
                      <a:endParaRPr lang="en-IN" dirty="0"/>
                    </a:p>
                  </a:txBody>
                  <a:tcPr/>
                </a:tc>
                <a:tc>
                  <a:txBody>
                    <a:bodyPr/>
                    <a:lstStyle/>
                    <a:p>
                      <a:r>
                        <a:rPr lang="en-IN" dirty="0" smtClean="0"/>
                        <a:t>Chloroprene Rubber (CR)</a:t>
                      </a:r>
                      <a:endParaRPr lang="en-IN" dirty="0"/>
                    </a:p>
                  </a:txBody>
                  <a:tcPr/>
                </a:tc>
              </a:tr>
              <a:tr h="333061">
                <a:tc>
                  <a:txBody>
                    <a:bodyPr/>
                    <a:lstStyle/>
                    <a:p>
                      <a:r>
                        <a:rPr lang="en-IN" dirty="0" smtClean="0"/>
                        <a:t>Isoprene-isobutylene</a:t>
                      </a:r>
                      <a:r>
                        <a:rPr lang="en-IN" baseline="0" dirty="0" smtClean="0"/>
                        <a:t> rubber (IIR)</a:t>
                      </a:r>
                    </a:p>
                    <a:p>
                      <a:endParaRPr lang="en-IN" dirty="0"/>
                    </a:p>
                  </a:txBody>
                  <a:tcPr/>
                </a:tc>
                <a:tc>
                  <a:txBody>
                    <a:bodyPr/>
                    <a:lstStyle/>
                    <a:p>
                      <a:r>
                        <a:rPr lang="en-IN" dirty="0" err="1" smtClean="0"/>
                        <a:t>Chlorosulphonated</a:t>
                      </a:r>
                      <a:r>
                        <a:rPr lang="en-IN" dirty="0" smtClean="0"/>
                        <a:t> Polyethylene</a:t>
                      </a:r>
                      <a:r>
                        <a:rPr lang="en-IN" baseline="0" dirty="0" smtClean="0"/>
                        <a:t> ( CSM)</a:t>
                      </a:r>
                      <a:endParaRPr lang="en-IN" dirty="0"/>
                    </a:p>
                  </a:txBody>
                  <a:tcPr/>
                </a:tc>
              </a:tr>
              <a:tr h="333061">
                <a:tc>
                  <a:txBody>
                    <a:bodyPr/>
                    <a:lstStyle/>
                    <a:p>
                      <a:r>
                        <a:rPr lang="en-IN" dirty="0" smtClean="0"/>
                        <a:t>Ethylene</a:t>
                      </a:r>
                      <a:r>
                        <a:rPr lang="en-IN" baseline="0" dirty="0" smtClean="0"/>
                        <a:t> propylene </a:t>
                      </a:r>
                      <a:r>
                        <a:rPr lang="en-IN" baseline="0" dirty="0" err="1" smtClean="0"/>
                        <a:t>diene</a:t>
                      </a:r>
                      <a:r>
                        <a:rPr lang="en-IN" baseline="0" dirty="0" smtClean="0"/>
                        <a:t> monomer (EPDM)</a:t>
                      </a:r>
                    </a:p>
                    <a:p>
                      <a:endParaRPr lang="en-IN" dirty="0"/>
                    </a:p>
                  </a:txBody>
                  <a:tcPr/>
                </a:tc>
                <a:tc>
                  <a:txBody>
                    <a:bodyPr/>
                    <a:lstStyle/>
                    <a:p>
                      <a:r>
                        <a:rPr lang="en-IN" dirty="0" smtClean="0"/>
                        <a:t>Silicone Rubber</a:t>
                      </a:r>
                      <a:endParaRPr lang="en-IN" dirty="0"/>
                    </a:p>
                  </a:txBody>
                  <a:tcPr/>
                </a:tc>
              </a:tr>
              <a:tr h="333061">
                <a:tc>
                  <a:txBody>
                    <a:bodyPr/>
                    <a:lstStyle/>
                    <a:p>
                      <a:r>
                        <a:rPr lang="en-IN" dirty="0" smtClean="0"/>
                        <a:t>Synthetic </a:t>
                      </a:r>
                      <a:r>
                        <a:rPr lang="en-IN" dirty="0" err="1" smtClean="0"/>
                        <a:t>Polyisoprene</a:t>
                      </a:r>
                      <a:endParaRPr lang="en-IN" dirty="0" smtClean="0"/>
                    </a:p>
                    <a:p>
                      <a:endParaRPr lang="en-IN" dirty="0"/>
                    </a:p>
                  </a:txBody>
                  <a:tcPr/>
                </a:tc>
                <a:tc>
                  <a:txBody>
                    <a:bodyPr/>
                    <a:lstStyle/>
                    <a:p>
                      <a:r>
                        <a:rPr lang="en-IN" dirty="0" smtClean="0"/>
                        <a:t>Polysulphide Rubbers</a:t>
                      </a:r>
                      <a:endParaRPr lang="en-IN" dirty="0"/>
                    </a:p>
                  </a:txBody>
                  <a:tcPr/>
                </a:tc>
              </a:tr>
              <a:tr h="666122">
                <a:tc>
                  <a:txBody>
                    <a:bodyPr/>
                    <a:lstStyle/>
                    <a:p>
                      <a:r>
                        <a:rPr lang="en-IN" dirty="0" smtClean="0"/>
                        <a:t>Polybutadiene rubber (BR)</a:t>
                      </a:r>
                      <a:endParaRPr lang="en-IN" dirty="0"/>
                    </a:p>
                  </a:txBody>
                  <a:tcPr/>
                </a:tc>
                <a:tc>
                  <a:txBody>
                    <a:bodyPr/>
                    <a:lstStyle/>
                    <a:p>
                      <a:endParaRPr lang="en-IN" dirty="0"/>
                    </a:p>
                  </a:txBody>
                  <a:tcPr/>
                </a:tc>
              </a:tr>
            </a:tbl>
          </a:graphicData>
        </a:graphic>
      </p:graphicFrame>
      <p:sp>
        <p:nvSpPr>
          <p:cNvPr id="5" name="Rectangle 4"/>
          <p:cNvSpPr/>
          <p:nvPr/>
        </p:nvSpPr>
        <p:spPr>
          <a:xfrm>
            <a:off x="645994" y="5419383"/>
            <a:ext cx="10504227" cy="1200329"/>
          </a:xfrm>
          <a:prstGeom prst="rect">
            <a:avLst/>
          </a:prstGeom>
        </p:spPr>
        <p:txBody>
          <a:bodyPr wrap="square">
            <a:spAutoFit/>
          </a:bodyPr>
          <a:lstStyle/>
          <a:p>
            <a:pPr>
              <a:lnSpc>
                <a:spcPct val="80000"/>
              </a:lnSpc>
            </a:pPr>
            <a:r>
              <a:rPr lang="en-US" b="1" dirty="0" smtClean="0"/>
              <a:t>Polymer Selection : </a:t>
            </a:r>
            <a:r>
              <a:rPr lang="en-US" dirty="0"/>
              <a:t>Cost , Ease of mixing , Strength requirements , Modulus or stiffness requirement, Abrasion resistance requirement , Elongation requirement, Oil resistance requirement , Service temperature, Flammability , Chemical resistance</a:t>
            </a:r>
          </a:p>
          <a:p>
            <a:pPr>
              <a:lnSpc>
                <a:spcPct val="80000"/>
              </a:lnSpc>
            </a:pPr>
            <a:endParaRPr lang="en-US" b="1" dirty="0" smtClean="0"/>
          </a:p>
          <a:p>
            <a:pPr>
              <a:lnSpc>
                <a:spcPct val="80000"/>
              </a:lnSpc>
            </a:pPr>
            <a:r>
              <a:rPr lang="en-US" b="1" dirty="0" smtClean="0"/>
              <a:t>	</a:t>
            </a:r>
            <a:endParaRPr lang="en-US" dirty="0"/>
          </a:p>
        </p:txBody>
      </p:sp>
    </p:spTree>
    <p:extLst>
      <p:ext uri="{BB962C8B-B14F-4D97-AF65-F5344CB8AC3E}">
        <p14:creationId xmlns:p14="http://schemas.microsoft.com/office/powerpoint/2010/main" val="17591090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47"/>
            <a:ext cx="10515600" cy="1325563"/>
          </a:xfrm>
        </p:spPr>
        <p:txBody>
          <a:bodyPr/>
          <a:lstStyle/>
          <a:p>
            <a:pPr algn="ctr"/>
            <a:r>
              <a:rPr lang="en-IN" dirty="0" smtClean="0"/>
              <a:t>Vulcanizing Agents/Curatives</a:t>
            </a:r>
            <a:endParaRPr lang="en-IN" dirty="0"/>
          </a:p>
        </p:txBody>
      </p:sp>
      <p:sp>
        <p:nvSpPr>
          <p:cNvPr id="3" name="Content Placeholder 2"/>
          <p:cNvSpPr>
            <a:spLocks noGrp="1"/>
          </p:cNvSpPr>
          <p:nvPr>
            <p:ph idx="1"/>
          </p:nvPr>
        </p:nvSpPr>
        <p:spPr>
          <a:xfrm>
            <a:off x="838200" y="1554210"/>
            <a:ext cx="10515600" cy="4622753"/>
          </a:xfrm>
        </p:spPr>
        <p:txBody>
          <a:bodyPr/>
          <a:lstStyle/>
          <a:p>
            <a:pPr>
              <a:buFont typeface="Wingdings" panose="05000000000000000000" pitchFamily="2" charset="2"/>
              <a:buChar char="v"/>
            </a:pPr>
            <a:r>
              <a:rPr lang="en-IN" dirty="0" smtClean="0"/>
              <a:t>  Vulcanization –</a:t>
            </a:r>
          </a:p>
          <a:p>
            <a:pPr marL="0" indent="0">
              <a:buNone/>
            </a:pPr>
            <a:r>
              <a:rPr lang="en-IN" dirty="0"/>
              <a:t>	</a:t>
            </a:r>
            <a:r>
              <a:rPr lang="en-IN" dirty="0" smtClean="0"/>
              <a:t>Cross linking process in which individual molecules of rubber 	(polymer) are converted into a three dimensional network of 	interconnected (polymer) chains through chemical cross links</a:t>
            </a:r>
          </a:p>
          <a:p>
            <a:pPr>
              <a:buFont typeface="Wingdings" panose="05000000000000000000" pitchFamily="2" charset="2"/>
              <a:buChar char="v"/>
            </a:pPr>
            <a:endParaRPr lang="en-IN" dirty="0"/>
          </a:p>
        </p:txBody>
      </p:sp>
      <p:pic>
        <p:nvPicPr>
          <p:cNvPr id="4" name="Picture 3"/>
          <p:cNvPicPr>
            <a:picLocks noChangeAspect="1"/>
          </p:cNvPicPr>
          <p:nvPr/>
        </p:nvPicPr>
        <p:blipFill>
          <a:blip r:embed="rId2"/>
          <a:stretch>
            <a:fillRect/>
          </a:stretch>
        </p:blipFill>
        <p:spPr>
          <a:xfrm>
            <a:off x="1828798" y="3403907"/>
            <a:ext cx="4093036" cy="3337066"/>
          </a:xfrm>
          <a:prstGeom prst="rect">
            <a:avLst/>
          </a:prstGeom>
        </p:spPr>
      </p:pic>
      <p:sp>
        <p:nvSpPr>
          <p:cNvPr id="5" name="Rectangle 4"/>
          <p:cNvSpPr/>
          <p:nvPr/>
        </p:nvSpPr>
        <p:spPr>
          <a:xfrm>
            <a:off x="6376915" y="4284875"/>
            <a:ext cx="4976885" cy="1323439"/>
          </a:xfrm>
          <a:prstGeom prst="rect">
            <a:avLst/>
          </a:prstGeom>
        </p:spPr>
        <p:txBody>
          <a:bodyPr wrap="square">
            <a:spAutoFit/>
          </a:bodyPr>
          <a:lstStyle/>
          <a:p>
            <a:pPr algn="just"/>
            <a:r>
              <a:rPr lang="en-IN" sz="2000" dirty="0">
                <a:latin typeface="Arial" panose="020B0604020202020204" pitchFamily="34" charset="0"/>
                <a:ea typeface="Calibri" panose="020F0502020204030204" pitchFamily="34" charset="0"/>
                <a:cs typeface="Arial" panose="020B0604020202020204" pitchFamily="34" charset="0"/>
              </a:rPr>
              <a:t>Vulcanizing agents are necessary for the formation of </a:t>
            </a:r>
            <a:r>
              <a:rPr lang="en-IN" sz="2000" dirty="0" smtClean="0">
                <a:latin typeface="Arial" panose="020B0604020202020204" pitchFamily="34" charset="0"/>
                <a:ea typeface="Calibri" panose="020F0502020204030204" pitchFamily="34" charset="0"/>
                <a:cs typeface="Arial" panose="020B0604020202020204" pitchFamily="34" charset="0"/>
              </a:rPr>
              <a:t>crosslinks and </a:t>
            </a:r>
            <a:r>
              <a:rPr lang="en-IN" sz="2000" dirty="0" smtClean="0">
                <a:latin typeface="Arial" panose="020B0604020202020204" pitchFamily="34" charset="0"/>
                <a:cs typeface="Arial" panose="020B0604020202020204" pitchFamily="34" charset="0"/>
              </a:rPr>
              <a:t>rubber </a:t>
            </a:r>
            <a:r>
              <a:rPr lang="en-IN" sz="2000" dirty="0">
                <a:latin typeface="Arial" panose="020B0604020202020204" pitchFamily="34" charset="0"/>
                <a:cs typeface="Arial" panose="020B0604020202020204" pitchFamily="34" charset="0"/>
              </a:rPr>
              <a:t>changes from the thermoplastic to the elastic state</a:t>
            </a:r>
          </a:p>
        </p:txBody>
      </p:sp>
    </p:spTree>
    <p:extLst>
      <p:ext uri="{BB962C8B-B14F-4D97-AF65-F5344CB8AC3E}">
        <p14:creationId xmlns:p14="http://schemas.microsoft.com/office/powerpoint/2010/main" val="408217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History of Vulcanization</a:t>
            </a:r>
            <a:endParaRPr lang="en-IN" dirty="0"/>
          </a:p>
        </p:txBody>
      </p:sp>
      <p:sp>
        <p:nvSpPr>
          <p:cNvPr id="3" name="Content Placeholder 2"/>
          <p:cNvSpPr>
            <a:spLocks noGrp="1"/>
          </p:cNvSpPr>
          <p:nvPr>
            <p:ph idx="1"/>
          </p:nvPr>
        </p:nvSpPr>
        <p:spPr/>
        <p:txBody>
          <a:bodyPr/>
          <a:lstStyle/>
          <a:p>
            <a:r>
              <a:rPr lang="en-IN" dirty="0" smtClean="0"/>
              <a:t>Discovered in 1839 by the U.S inventor  Charles Goodyear .</a:t>
            </a:r>
          </a:p>
          <a:p>
            <a:r>
              <a:rPr lang="en-IN" dirty="0"/>
              <a:t> </a:t>
            </a:r>
            <a:r>
              <a:rPr lang="en-IN" dirty="0" smtClean="0"/>
              <a:t>Thomas Hancock , a scientist and engineer, was the first to patent vulcanization of rubber.</a:t>
            </a:r>
          </a:p>
          <a:p>
            <a:r>
              <a:rPr lang="en-IN" dirty="0" smtClean="0"/>
              <a:t>Hancock awarded British patent in 1844.</a:t>
            </a:r>
          </a:p>
          <a:p>
            <a:r>
              <a:rPr lang="en-IN" dirty="0" smtClean="0"/>
              <a:t>Goodyear received United nations patent also in 1844.</a:t>
            </a:r>
          </a:p>
          <a:p>
            <a:endParaRPr lang="en-IN" dirty="0" smtClean="0"/>
          </a:p>
          <a:p>
            <a:endParaRPr lang="en-IN" dirty="0" smtClean="0"/>
          </a:p>
          <a:p>
            <a:endParaRPr lang="en-IN" dirty="0"/>
          </a:p>
        </p:txBody>
      </p:sp>
    </p:spTree>
    <p:extLst>
      <p:ext uri="{BB962C8B-B14F-4D97-AF65-F5344CB8AC3E}">
        <p14:creationId xmlns:p14="http://schemas.microsoft.com/office/powerpoint/2010/main" val="2694925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6759"/>
            <a:ext cx="10515600" cy="5121086"/>
          </a:xfrm>
        </p:spPr>
        <p:txBody>
          <a:bodyPr>
            <a:normAutofit fontScale="92500" lnSpcReduction="10000"/>
          </a:bodyPr>
          <a:lstStyle/>
          <a:p>
            <a:r>
              <a:rPr lang="en-IN" dirty="0" smtClean="0"/>
              <a:t> As long as the molecules are not tied to each other, they can move more or less freely, especially at higher temperatures. </a:t>
            </a:r>
          </a:p>
          <a:p>
            <a:pPr marL="0" indent="0">
              <a:buNone/>
            </a:pPr>
            <a:r>
              <a:rPr lang="en-IN" dirty="0"/>
              <a:t> </a:t>
            </a:r>
            <a:r>
              <a:rPr lang="en-IN" dirty="0" smtClean="0"/>
              <a:t>       </a:t>
            </a:r>
            <a:r>
              <a:rPr lang="en-IN" i="1" dirty="0" smtClean="0">
                <a:solidFill>
                  <a:srgbClr val="0070C0"/>
                </a:solidFill>
              </a:rPr>
              <a:t>Plastic behaviour , exhibits flow characteristics</a:t>
            </a:r>
          </a:p>
          <a:p>
            <a:pPr marL="0" indent="0">
              <a:buNone/>
            </a:pPr>
            <a:endParaRPr lang="en-IN" i="1" dirty="0" smtClean="0">
              <a:solidFill>
                <a:srgbClr val="0070C0"/>
              </a:solidFill>
            </a:endParaRPr>
          </a:p>
          <a:p>
            <a:r>
              <a:rPr lang="en-IN" dirty="0" smtClean="0"/>
              <a:t>By cross linking, rubber changes from thermoplastic to elastic state.</a:t>
            </a:r>
          </a:p>
          <a:p>
            <a:endParaRPr lang="en-IN" dirty="0"/>
          </a:p>
          <a:p>
            <a:r>
              <a:rPr lang="en-IN" dirty="0" smtClean="0"/>
              <a:t>As more crosslinks , vulcanizates becomes tighter and force necessary to produce a given deformation increases.</a:t>
            </a:r>
          </a:p>
          <a:p>
            <a:endParaRPr lang="en-IN" dirty="0"/>
          </a:p>
          <a:p>
            <a:pPr marL="0" indent="0">
              <a:buNone/>
            </a:pPr>
            <a:r>
              <a:rPr lang="en-IN" b="1" dirty="0">
                <a:solidFill>
                  <a:srgbClr val="C00000"/>
                </a:solidFill>
              </a:rPr>
              <a:t>Effect of vulcanization</a:t>
            </a:r>
          </a:p>
          <a:p>
            <a:pPr marL="0" indent="0">
              <a:buNone/>
            </a:pPr>
            <a:r>
              <a:rPr lang="en-IN" dirty="0"/>
              <a:t>		Improved elasticity, tensile strength,  hardness and weather resistance etc..</a:t>
            </a:r>
          </a:p>
          <a:p>
            <a:endParaRPr lang="en-IN" dirty="0"/>
          </a:p>
        </p:txBody>
      </p:sp>
    </p:spTree>
    <p:extLst>
      <p:ext uri="{BB962C8B-B14F-4D97-AF65-F5344CB8AC3E}">
        <p14:creationId xmlns:p14="http://schemas.microsoft.com/office/powerpoint/2010/main" val="1968826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277813"/>
            <a:ext cx="8229600" cy="7127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smtClean="0"/>
              <a:t>VULCANIZING AGENTS</a:t>
            </a:r>
            <a:endParaRPr lang="en-US" sz="3200" dirty="0"/>
          </a:p>
        </p:txBody>
      </p:sp>
      <p:graphicFrame>
        <p:nvGraphicFramePr>
          <p:cNvPr id="5" name="Group 47"/>
          <p:cNvGraphicFramePr>
            <a:graphicFrameLocks/>
          </p:cNvGraphicFramePr>
          <p:nvPr>
            <p:extLst>
              <p:ext uri="{D42A27DB-BD31-4B8C-83A1-F6EECF244321}">
                <p14:modId xmlns:p14="http://schemas.microsoft.com/office/powerpoint/2010/main" val="3792018225"/>
              </p:ext>
            </p:extLst>
          </p:nvPr>
        </p:nvGraphicFramePr>
        <p:xfrm>
          <a:off x="1568358" y="1241946"/>
          <a:ext cx="8458200" cy="5158855"/>
        </p:xfrm>
        <a:graphic>
          <a:graphicData uri="http://schemas.openxmlformats.org/drawingml/2006/table">
            <a:tbl>
              <a:tblPr/>
              <a:tblGrid>
                <a:gridCol w="3681413"/>
                <a:gridCol w="4776787"/>
              </a:tblGrid>
              <a:tr h="583679">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1"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1"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COMMON USE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7250">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Sulphur</a:t>
                      </a: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 or </a:t>
                      </a:r>
                      <a:r>
                        <a:rPr kumimoji="0" lang="en-US" sz="24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Sulphur</a:t>
                      </a: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 bearing materials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Natural Rubber, Isoprene, SBR, IIR, Poly Butadiene, EPDM, Nitrile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43000">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Organic Peroxides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Urethane, Silicone, Chlorinated Polyethylene, PVC/Nitrile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8838">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Metal Oxide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Polychloroprene, Chlorosulphonated Polyethylene, Polysulphide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7250">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Organic Amines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Acrylic, Fluorocarbon, Epichlorohydrin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58838">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Phenolic Resins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IIR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6555777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723" y="0"/>
            <a:ext cx="10515600" cy="1325563"/>
          </a:xfrm>
        </p:spPr>
        <p:txBody>
          <a:bodyPr/>
          <a:lstStyle/>
          <a:p>
            <a:r>
              <a:rPr lang="en-IN" dirty="0" smtClean="0"/>
              <a:t>Sulphur Curing</a:t>
            </a:r>
            <a:endParaRPr lang="en-IN" dirty="0"/>
          </a:p>
        </p:txBody>
      </p:sp>
      <p:sp>
        <p:nvSpPr>
          <p:cNvPr id="3" name="Content Placeholder 2"/>
          <p:cNvSpPr>
            <a:spLocks noGrp="1"/>
          </p:cNvSpPr>
          <p:nvPr>
            <p:ph idx="1"/>
          </p:nvPr>
        </p:nvSpPr>
        <p:spPr>
          <a:xfrm>
            <a:off x="838200" y="1173707"/>
            <a:ext cx="10515600" cy="5003256"/>
          </a:xfrm>
        </p:spPr>
        <p:txBody>
          <a:bodyPr/>
          <a:lstStyle/>
          <a:p>
            <a:r>
              <a:rPr lang="en-IN" dirty="0" smtClean="0"/>
              <a:t> Used for curing of unsaturated elastomers</a:t>
            </a:r>
            <a:endParaRPr lang="en-IN" dirty="0"/>
          </a:p>
        </p:txBody>
      </p:sp>
      <p:pic>
        <p:nvPicPr>
          <p:cNvPr id="4" name="Picture 3"/>
          <p:cNvPicPr>
            <a:picLocks noChangeAspect="1"/>
          </p:cNvPicPr>
          <p:nvPr/>
        </p:nvPicPr>
        <p:blipFill>
          <a:blip r:embed="rId2"/>
          <a:stretch>
            <a:fillRect/>
          </a:stretch>
        </p:blipFill>
        <p:spPr>
          <a:xfrm>
            <a:off x="1343167" y="1793343"/>
            <a:ext cx="2511187" cy="1091820"/>
          </a:xfrm>
          <a:prstGeom prst="rect">
            <a:avLst/>
          </a:prstGeom>
        </p:spPr>
      </p:pic>
      <p:pic>
        <p:nvPicPr>
          <p:cNvPr id="5" name="Picture 4"/>
          <p:cNvPicPr>
            <a:picLocks noChangeAspect="1"/>
          </p:cNvPicPr>
          <p:nvPr/>
        </p:nvPicPr>
        <p:blipFill>
          <a:blip r:embed="rId3"/>
          <a:stretch>
            <a:fillRect/>
          </a:stretch>
        </p:blipFill>
        <p:spPr>
          <a:xfrm>
            <a:off x="5220680" y="1665298"/>
            <a:ext cx="4563813" cy="1419096"/>
          </a:xfrm>
          <a:prstGeom prst="rect">
            <a:avLst/>
          </a:prstGeom>
        </p:spPr>
      </p:pic>
      <p:pic>
        <p:nvPicPr>
          <p:cNvPr id="6" name="Picture 5"/>
          <p:cNvPicPr>
            <a:picLocks noChangeAspect="1"/>
          </p:cNvPicPr>
          <p:nvPr/>
        </p:nvPicPr>
        <p:blipFill>
          <a:blip r:embed="rId4"/>
          <a:stretch>
            <a:fillRect/>
          </a:stretch>
        </p:blipFill>
        <p:spPr>
          <a:xfrm>
            <a:off x="1343167" y="3249346"/>
            <a:ext cx="2819048" cy="1619048"/>
          </a:xfrm>
          <a:prstGeom prst="rect">
            <a:avLst/>
          </a:prstGeom>
        </p:spPr>
      </p:pic>
      <p:pic>
        <p:nvPicPr>
          <p:cNvPr id="7" name="Picture 6"/>
          <p:cNvPicPr>
            <a:picLocks noChangeAspect="1"/>
          </p:cNvPicPr>
          <p:nvPr/>
        </p:nvPicPr>
        <p:blipFill>
          <a:blip r:embed="rId5"/>
          <a:stretch>
            <a:fillRect/>
          </a:stretch>
        </p:blipFill>
        <p:spPr>
          <a:xfrm>
            <a:off x="5841190" y="3358870"/>
            <a:ext cx="3511954" cy="1509524"/>
          </a:xfrm>
          <a:prstGeom prst="rect">
            <a:avLst/>
          </a:prstGeom>
        </p:spPr>
      </p:pic>
    </p:spTree>
    <p:extLst>
      <p:ext uri="{BB962C8B-B14F-4D97-AF65-F5344CB8AC3E}">
        <p14:creationId xmlns:p14="http://schemas.microsoft.com/office/powerpoint/2010/main" val="2586756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9684"/>
            <a:ext cx="10515600" cy="5467279"/>
          </a:xfrm>
        </p:spPr>
        <p:txBody>
          <a:bodyPr/>
          <a:lstStyle/>
          <a:p>
            <a:r>
              <a:rPr lang="en-IN" dirty="0" smtClean="0"/>
              <a:t>Rubber + Sulphur     : Vulcanization time 8 </a:t>
            </a:r>
            <a:r>
              <a:rPr lang="en-IN" dirty="0" err="1" smtClean="0"/>
              <a:t>hrs</a:t>
            </a:r>
            <a:r>
              <a:rPr lang="en-IN" dirty="0" smtClean="0"/>
              <a:t> @ 141 °C</a:t>
            </a:r>
          </a:p>
          <a:p>
            <a:endParaRPr lang="en-IN" dirty="0" smtClean="0"/>
          </a:p>
          <a:p>
            <a:pPr marL="0" indent="0">
              <a:buNone/>
            </a:pPr>
            <a:r>
              <a:rPr lang="en-IN" dirty="0" smtClean="0"/>
              <a:t>                                               Organic Chemicals</a:t>
            </a:r>
          </a:p>
          <a:p>
            <a:endParaRPr lang="en-IN" dirty="0"/>
          </a:p>
          <a:p>
            <a:pPr marL="0" indent="0">
              <a:buNone/>
            </a:pPr>
            <a:r>
              <a:rPr lang="en-IN" dirty="0" smtClean="0"/>
              <a:t>              Vulcanization </a:t>
            </a:r>
            <a:r>
              <a:rPr lang="en-IN" dirty="0"/>
              <a:t>time </a:t>
            </a:r>
            <a:r>
              <a:rPr lang="en-IN" dirty="0" smtClean="0"/>
              <a:t>4 </a:t>
            </a:r>
            <a:r>
              <a:rPr lang="en-IN" dirty="0" err="1"/>
              <a:t>hrs</a:t>
            </a:r>
            <a:r>
              <a:rPr lang="en-IN" dirty="0"/>
              <a:t> @ 141 °</a:t>
            </a:r>
            <a:r>
              <a:rPr lang="en-IN" dirty="0" smtClean="0"/>
              <a:t>C</a:t>
            </a:r>
          </a:p>
          <a:p>
            <a:pPr marL="0" indent="0">
              <a:buNone/>
            </a:pPr>
            <a:endParaRPr lang="en-IN" dirty="0"/>
          </a:p>
          <a:p>
            <a:pPr marL="0" indent="0">
              <a:buNone/>
            </a:pPr>
            <a:r>
              <a:rPr lang="en-IN" dirty="0" smtClean="0"/>
              <a:t>                                               metallic oxides</a:t>
            </a:r>
            <a:endParaRPr lang="en-IN" dirty="0"/>
          </a:p>
          <a:p>
            <a:endParaRPr lang="en-IN" dirty="0" smtClean="0"/>
          </a:p>
          <a:p>
            <a:pPr marL="0" indent="0">
              <a:buNone/>
            </a:pPr>
            <a:r>
              <a:rPr lang="en-IN" dirty="0" smtClean="0"/>
              <a:t>                    Reduced to 30 minutes or lesser</a:t>
            </a:r>
          </a:p>
        </p:txBody>
      </p:sp>
      <p:sp>
        <p:nvSpPr>
          <p:cNvPr id="6" name="Down Arrow 5"/>
          <p:cNvSpPr/>
          <p:nvPr/>
        </p:nvSpPr>
        <p:spPr>
          <a:xfrm>
            <a:off x="4353636" y="1419367"/>
            <a:ext cx="191068" cy="10918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Down Arrow 6"/>
          <p:cNvSpPr/>
          <p:nvPr/>
        </p:nvSpPr>
        <p:spPr>
          <a:xfrm>
            <a:off x="4353636" y="3443323"/>
            <a:ext cx="191068" cy="10918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8691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165"/>
            <a:ext cx="10515600" cy="1122481"/>
          </a:xfrm>
        </p:spPr>
        <p:txBody>
          <a:bodyPr/>
          <a:lstStyle/>
          <a:p>
            <a:r>
              <a:rPr lang="en-IN" dirty="0" smtClean="0"/>
              <a:t>Accelerators</a:t>
            </a:r>
            <a:endParaRPr lang="en-IN" dirty="0"/>
          </a:p>
        </p:txBody>
      </p:sp>
      <p:sp>
        <p:nvSpPr>
          <p:cNvPr id="3" name="Content Placeholder 2"/>
          <p:cNvSpPr>
            <a:spLocks noGrp="1"/>
          </p:cNvSpPr>
          <p:nvPr>
            <p:ph idx="1"/>
          </p:nvPr>
        </p:nvSpPr>
        <p:spPr>
          <a:xfrm>
            <a:off x="838200" y="1323833"/>
            <a:ext cx="10515600" cy="4853130"/>
          </a:xfrm>
        </p:spPr>
        <p:txBody>
          <a:bodyPr/>
          <a:lstStyle/>
          <a:p>
            <a:r>
              <a:rPr lang="en-IN" dirty="0" smtClean="0"/>
              <a:t>Sulphur exists as S8 ring and stable. </a:t>
            </a:r>
          </a:p>
          <a:p>
            <a:endParaRPr lang="en-IN" dirty="0" smtClean="0"/>
          </a:p>
          <a:p>
            <a:r>
              <a:rPr lang="en-IN" dirty="0"/>
              <a:t>S</a:t>
            </a:r>
            <a:r>
              <a:rPr lang="en-IN" dirty="0" smtClean="0"/>
              <a:t>plitting sulphur ring needs considerable amount of activating energy.</a:t>
            </a:r>
          </a:p>
          <a:p>
            <a:endParaRPr lang="en-IN" dirty="0" smtClean="0"/>
          </a:p>
          <a:p>
            <a:r>
              <a:rPr lang="en-IN" dirty="0" smtClean="0"/>
              <a:t>Process of activation occurs at higher temperature, promoted by organic substances called </a:t>
            </a:r>
            <a:r>
              <a:rPr lang="en-IN" i="1" dirty="0" smtClean="0">
                <a:solidFill>
                  <a:srgbClr val="C00000"/>
                </a:solidFill>
              </a:rPr>
              <a:t>Accelerators</a:t>
            </a:r>
          </a:p>
          <a:p>
            <a:pPr>
              <a:buFont typeface="Wingdings" panose="05000000000000000000" pitchFamily="2" charset="2"/>
              <a:buChar char="Ø"/>
            </a:pPr>
            <a:r>
              <a:rPr lang="en-IN" sz="2400" i="1" dirty="0" smtClean="0">
                <a:solidFill>
                  <a:srgbClr val="C00000"/>
                </a:solidFill>
              </a:rPr>
              <a:t> An </a:t>
            </a:r>
            <a:r>
              <a:rPr lang="en-IN" sz="2400" i="1" dirty="0">
                <a:solidFill>
                  <a:srgbClr val="C00000"/>
                </a:solidFill>
              </a:rPr>
              <a:t>accelerator is usually a complex organic chemical which takes part in the  </a:t>
            </a:r>
            <a:r>
              <a:rPr lang="en-IN" sz="2400" i="1" dirty="0" smtClean="0">
                <a:solidFill>
                  <a:srgbClr val="C00000"/>
                </a:solidFill>
              </a:rPr>
              <a:t> vulcanization</a:t>
            </a:r>
            <a:r>
              <a:rPr lang="en-IN" sz="2400" i="1" dirty="0">
                <a:solidFill>
                  <a:srgbClr val="C00000"/>
                </a:solidFill>
              </a:rPr>
              <a:t>, thereby reducing the vulcanization time </a:t>
            </a:r>
            <a:r>
              <a:rPr lang="en-IN" sz="2400" i="1" dirty="0" smtClean="0">
                <a:solidFill>
                  <a:srgbClr val="C00000"/>
                </a:solidFill>
              </a:rPr>
              <a:t>considerably</a:t>
            </a:r>
          </a:p>
          <a:p>
            <a:pPr marL="0" indent="0">
              <a:buNone/>
            </a:pPr>
            <a:r>
              <a:rPr lang="en-IN" dirty="0"/>
              <a:t> </a:t>
            </a:r>
            <a:r>
              <a:rPr lang="en-IN" dirty="0" smtClean="0"/>
              <a:t>   </a:t>
            </a:r>
            <a:r>
              <a:rPr lang="en-IN" sz="2400" i="1" dirty="0" smtClean="0">
                <a:solidFill>
                  <a:srgbClr val="C00000"/>
                </a:solidFill>
              </a:rPr>
              <a:t>              Used </a:t>
            </a:r>
            <a:r>
              <a:rPr lang="en-IN" sz="2400" i="1" dirty="0">
                <a:solidFill>
                  <a:srgbClr val="C00000"/>
                </a:solidFill>
              </a:rPr>
              <a:t>to increase the speed of vulcanization.</a:t>
            </a:r>
          </a:p>
          <a:p>
            <a:endParaRPr lang="en-IN" dirty="0"/>
          </a:p>
        </p:txBody>
      </p:sp>
    </p:spTree>
    <p:extLst>
      <p:ext uri="{BB962C8B-B14F-4D97-AF65-F5344CB8AC3E}">
        <p14:creationId xmlns:p14="http://schemas.microsoft.com/office/powerpoint/2010/main" val="13148242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7890"/>
          </a:xfrm>
        </p:spPr>
        <p:txBody>
          <a:bodyPr/>
          <a:lstStyle/>
          <a:p>
            <a:r>
              <a:rPr lang="en-IN" dirty="0" smtClean="0"/>
              <a:t>Characteristics of an accelerator</a:t>
            </a:r>
            <a:endParaRPr lang="en-IN" dirty="0"/>
          </a:p>
        </p:txBody>
      </p:sp>
      <p:sp>
        <p:nvSpPr>
          <p:cNvPr id="3" name="Content Placeholder 2"/>
          <p:cNvSpPr>
            <a:spLocks noGrp="1"/>
          </p:cNvSpPr>
          <p:nvPr>
            <p:ph idx="1"/>
          </p:nvPr>
        </p:nvSpPr>
        <p:spPr>
          <a:xfrm>
            <a:off x="838200" y="1433016"/>
            <a:ext cx="10515600" cy="4351338"/>
          </a:xfrm>
        </p:spPr>
        <p:txBody>
          <a:bodyPr>
            <a:normAutofit/>
          </a:bodyPr>
          <a:lstStyle/>
          <a:p>
            <a:r>
              <a:rPr lang="en-IN" sz="2400" dirty="0" smtClean="0"/>
              <a:t>Should give flat cure</a:t>
            </a:r>
          </a:p>
          <a:p>
            <a:r>
              <a:rPr lang="en-IN" sz="2400" dirty="0" smtClean="0"/>
              <a:t>Should provide scorch safety</a:t>
            </a:r>
          </a:p>
          <a:p>
            <a:r>
              <a:rPr lang="en-IN" sz="2400" dirty="0" smtClean="0"/>
              <a:t>Should give good storage properties for the uncured compound</a:t>
            </a:r>
          </a:p>
          <a:p>
            <a:r>
              <a:rPr lang="en-IN" sz="2400" dirty="0" smtClean="0"/>
              <a:t>Should give good physical properties to vulcanizates</a:t>
            </a:r>
            <a:endParaRPr lang="en-IN" sz="2400" dirty="0"/>
          </a:p>
        </p:txBody>
      </p:sp>
      <p:graphicFrame>
        <p:nvGraphicFramePr>
          <p:cNvPr id="5" name="Diagram 4"/>
          <p:cNvGraphicFramePr/>
          <p:nvPr>
            <p:extLst>
              <p:ext uri="{D42A27DB-BD31-4B8C-83A1-F6EECF244321}">
                <p14:modId xmlns:p14="http://schemas.microsoft.com/office/powerpoint/2010/main" val="1115094314"/>
              </p:ext>
            </p:extLst>
          </p:nvPr>
        </p:nvGraphicFramePr>
        <p:xfrm>
          <a:off x="6685888" y="2007084"/>
          <a:ext cx="6115713" cy="3777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718028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Activators</a:t>
            </a:r>
            <a:endParaRPr lang="en-IN" dirty="0"/>
          </a:p>
        </p:txBody>
      </p:sp>
      <p:sp>
        <p:nvSpPr>
          <p:cNvPr id="3" name="Content Placeholder 2"/>
          <p:cNvSpPr>
            <a:spLocks noGrp="1"/>
          </p:cNvSpPr>
          <p:nvPr>
            <p:ph idx="1"/>
          </p:nvPr>
        </p:nvSpPr>
        <p:spPr/>
        <p:txBody>
          <a:bodyPr>
            <a:normAutofit/>
          </a:bodyPr>
          <a:lstStyle/>
          <a:p>
            <a:r>
              <a:rPr lang="en-IN" sz="2400" dirty="0" smtClean="0"/>
              <a:t>Used to increase  the efficiency of accelerators.</a:t>
            </a:r>
          </a:p>
          <a:p>
            <a:r>
              <a:rPr lang="en-IN" sz="2400" dirty="0" smtClean="0"/>
              <a:t> Additives </a:t>
            </a:r>
            <a:r>
              <a:rPr lang="en-IN" sz="2400" dirty="0"/>
              <a:t>that activate </a:t>
            </a:r>
            <a:r>
              <a:rPr lang="en-IN" sz="2400" dirty="0" smtClean="0"/>
              <a:t>sulphur </a:t>
            </a:r>
            <a:r>
              <a:rPr lang="en-IN" sz="2400" dirty="0"/>
              <a:t>cure and improve the efficiency of </a:t>
            </a:r>
            <a:r>
              <a:rPr lang="en-IN" sz="2400" dirty="0" smtClean="0"/>
              <a:t>sulphur </a:t>
            </a:r>
            <a:r>
              <a:rPr lang="en-IN" sz="2400" dirty="0"/>
              <a:t>based cure systems</a:t>
            </a:r>
            <a:r>
              <a:rPr lang="en-IN" sz="2400" dirty="0" smtClean="0"/>
              <a:t>.</a:t>
            </a:r>
          </a:p>
          <a:p>
            <a:r>
              <a:rPr lang="en-IN" sz="2400" dirty="0" smtClean="0"/>
              <a:t>Commonly used - Zinc </a:t>
            </a:r>
            <a:r>
              <a:rPr lang="en-IN" sz="2400" dirty="0"/>
              <a:t>fatty acid ester which is often formed in-situ by reaction of fatty acid with zinc oxide</a:t>
            </a:r>
            <a:r>
              <a:rPr lang="en-IN" sz="2400" dirty="0" smtClean="0"/>
              <a:t>.</a:t>
            </a:r>
          </a:p>
          <a:p>
            <a:r>
              <a:rPr lang="en-IN" sz="2400" dirty="0"/>
              <a:t>F</a:t>
            </a:r>
            <a:r>
              <a:rPr lang="en-IN" sz="2400" dirty="0" smtClean="0"/>
              <a:t>atty </a:t>
            </a:r>
            <a:r>
              <a:rPr lang="en-IN" sz="2400" dirty="0"/>
              <a:t>acids include stearic, </a:t>
            </a:r>
            <a:r>
              <a:rPr lang="en-IN" sz="2400" dirty="0" err="1"/>
              <a:t>lauric</a:t>
            </a:r>
            <a:r>
              <a:rPr lang="en-IN" sz="2400" dirty="0"/>
              <a:t>, </a:t>
            </a:r>
            <a:r>
              <a:rPr lang="en-IN" sz="2400" dirty="0" err="1"/>
              <a:t>palmitic</a:t>
            </a:r>
            <a:r>
              <a:rPr lang="en-IN" sz="2400" dirty="0"/>
              <a:t>, oleic and naphthenic acid</a:t>
            </a:r>
            <a:r>
              <a:rPr lang="en-IN" sz="2400" dirty="0" smtClean="0"/>
              <a:t>.</a:t>
            </a:r>
          </a:p>
          <a:p>
            <a:r>
              <a:rPr lang="en-IN" sz="2400" dirty="0" smtClean="0"/>
              <a:t>Fatty </a:t>
            </a:r>
            <a:r>
              <a:rPr lang="en-IN" sz="2400" dirty="0"/>
              <a:t>acid solubilizes the zinc and forms the actual catalyst</a:t>
            </a:r>
            <a:r>
              <a:rPr lang="en-IN" sz="2400" dirty="0" smtClean="0"/>
              <a:t>.</a:t>
            </a:r>
            <a:r>
              <a:rPr lang="en-IN" sz="2400" dirty="0"/>
              <a:t> </a:t>
            </a:r>
            <a:endParaRPr lang="en-IN" sz="2400" dirty="0" smtClean="0"/>
          </a:p>
          <a:p>
            <a:r>
              <a:rPr lang="en-IN" sz="2400" dirty="0"/>
              <a:t>Z</a:t>
            </a:r>
            <a:r>
              <a:rPr lang="en-IN" sz="2400" dirty="0" smtClean="0"/>
              <a:t>inc </a:t>
            </a:r>
            <a:r>
              <a:rPr lang="en-IN" sz="2400" dirty="0"/>
              <a:t>oxide can also act as a filler or white colorant in rubber products whereas the fatty acid improves filler incorporation and </a:t>
            </a:r>
            <a:r>
              <a:rPr lang="en-IN" sz="2400" dirty="0" smtClean="0"/>
              <a:t>dispersion. </a:t>
            </a:r>
            <a:endParaRPr lang="en-IN" sz="2400" dirty="0"/>
          </a:p>
        </p:txBody>
      </p:sp>
    </p:spTree>
    <p:extLst>
      <p:ext uri="{BB962C8B-B14F-4D97-AF65-F5344CB8AC3E}">
        <p14:creationId xmlns:p14="http://schemas.microsoft.com/office/powerpoint/2010/main" val="882685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Classification of accelerators</a:t>
            </a:r>
            <a:endParaRPr lang="en-IN" dirty="0"/>
          </a:p>
        </p:txBody>
      </p:sp>
      <p:sp>
        <p:nvSpPr>
          <p:cNvPr id="3" name="Content Placeholder 2"/>
          <p:cNvSpPr>
            <a:spLocks noGrp="1"/>
          </p:cNvSpPr>
          <p:nvPr>
            <p:ph idx="1"/>
          </p:nvPr>
        </p:nvSpPr>
        <p:spPr>
          <a:xfrm>
            <a:off x="838199" y="1473958"/>
            <a:ext cx="10748749" cy="4703005"/>
          </a:xfrm>
        </p:spPr>
        <p:txBody>
          <a:bodyPr>
            <a:normAutofit fontScale="92500"/>
          </a:bodyPr>
          <a:lstStyle/>
          <a:p>
            <a:r>
              <a:rPr lang="en-IN" sz="2400" dirty="0"/>
              <a:t>An accelerator is </a:t>
            </a:r>
            <a:r>
              <a:rPr lang="en-IN" sz="2400" dirty="0" smtClean="0"/>
              <a:t>a </a:t>
            </a:r>
            <a:r>
              <a:rPr lang="en-IN" sz="2400" dirty="0"/>
              <a:t>complex organic chemical which takes part in </a:t>
            </a:r>
            <a:r>
              <a:rPr lang="en-IN" sz="2400" dirty="0" smtClean="0"/>
              <a:t>the vulcanization</a:t>
            </a:r>
            <a:r>
              <a:rPr lang="en-IN" sz="2400" dirty="0"/>
              <a:t>, thereby reducing the vulcanization time </a:t>
            </a:r>
            <a:r>
              <a:rPr lang="en-IN" sz="2400" dirty="0" smtClean="0"/>
              <a:t>considerably.</a:t>
            </a:r>
          </a:p>
          <a:p>
            <a:r>
              <a:rPr lang="en-IN" sz="2400" dirty="0" smtClean="0"/>
              <a:t>Vulcanization accelerators classified as (based on their role in a given compound)</a:t>
            </a:r>
          </a:p>
          <a:p>
            <a:pPr marL="0" indent="0">
              <a:buNone/>
            </a:pPr>
            <a:r>
              <a:rPr lang="en-IN" sz="2400" dirty="0"/>
              <a:t>	</a:t>
            </a:r>
            <a:r>
              <a:rPr lang="en-IN" sz="2400" dirty="0" smtClean="0"/>
              <a:t>	Primary Accelerators</a:t>
            </a:r>
          </a:p>
          <a:p>
            <a:pPr marL="0" indent="0">
              <a:buNone/>
            </a:pPr>
            <a:r>
              <a:rPr lang="en-IN" sz="2400" dirty="0"/>
              <a:t>	</a:t>
            </a:r>
            <a:r>
              <a:rPr lang="en-IN" sz="2400" dirty="0" smtClean="0"/>
              <a:t>	Secondary Accelerators</a:t>
            </a:r>
            <a:endParaRPr lang="en-IN" sz="2400" dirty="0"/>
          </a:p>
          <a:p>
            <a:r>
              <a:rPr lang="en-IN" sz="2400" i="1" dirty="0" smtClean="0"/>
              <a:t>Based on the vulcanization rate, classified into</a:t>
            </a:r>
          </a:p>
          <a:p>
            <a:pPr marL="0" indent="0">
              <a:buNone/>
            </a:pPr>
            <a:r>
              <a:rPr lang="en-IN" sz="2400" dirty="0" smtClean="0"/>
              <a:t>		Slow Accelerators</a:t>
            </a:r>
          </a:p>
          <a:p>
            <a:pPr marL="0" indent="0">
              <a:buNone/>
            </a:pPr>
            <a:r>
              <a:rPr lang="en-IN" sz="2400" dirty="0"/>
              <a:t>	</a:t>
            </a:r>
            <a:r>
              <a:rPr lang="en-IN" sz="2400" dirty="0" smtClean="0"/>
              <a:t>	Medium Accelerators</a:t>
            </a:r>
          </a:p>
          <a:p>
            <a:pPr marL="0" indent="0">
              <a:buNone/>
            </a:pPr>
            <a:r>
              <a:rPr lang="en-IN" sz="2400" dirty="0"/>
              <a:t>	</a:t>
            </a:r>
            <a:r>
              <a:rPr lang="en-IN" sz="2400" dirty="0" smtClean="0"/>
              <a:t>	Ultrafast Accelerators</a:t>
            </a:r>
          </a:p>
          <a:p>
            <a:pPr marL="0" indent="0">
              <a:buNone/>
            </a:pPr>
            <a:r>
              <a:rPr lang="en-IN" sz="2400" dirty="0"/>
              <a:t>	</a:t>
            </a:r>
            <a:r>
              <a:rPr lang="en-IN" sz="2400" dirty="0" smtClean="0"/>
              <a:t>	Delayed Action Accelerators</a:t>
            </a:r>
          </a:p>
          <a:p>
            <a:pPr marL="0" indent="0">
              <a:buNone/>
            </a:pPr>
            <a:r>
              <a:rPr lang="en-IN" sz="2400" i="1" dirty="0">
                <a:solidFill>
                  <a:srgbClr val="FF0000"/>
                </a:solidFill>
              </a:rPr>
              <a:t>C</a:t>
            </a:r>
            <a:r>
              <a:rPr lang="en-IN" sz="2400" i="1" dirty="0" smtClean="0">
                <a:solidFill>
                  <a:srgbClr val="FF0000"/>
                </a:solidFill>
              </a:rPr>
              <a:t>ross-link </a:t>
            </a:r>
            <a:r>
              <a:rPr lang="en-IN" sz="2400" i="1" dirty="0">
                <a:solidFill>
                  <a:srgbClr val="FF0000"/>
                </a:solidFill>
              </a:rPr>
              <a:t>density and the cure speed depend on the type and dosage of </a:t>
            </a:r>
            <a:r>
              <a:rPr lang="en-IN" sz="2400" i="1" dirty="0" smtClean="0">
                <a:solidFill>
                  <a:srgbClr val="FF0000"/>
                </a:solidFill>
              </a:rPr>
              <a:t>accelerator</a:t>
            </a:r>
            <a:r>
              <a:rPr lang="en-IN" sz="2400" i="1" dirty="0">
                <a:solidFill>
                  <a:srgbClr val="FF0000"/>
                </a:solidFill>
              </a:rPr>
              <a:t> </a:t>
            </a:r>
            <a:r>
              <a:rPr lang="en-IN" sz="2400" i="1" dirty="0" smtClean="0">
                <a:solidFill>
                  <a:srgbClr val="FF0000"/>
                </a:solidFill>
              </a:rPr>
              <a:t>used.</a:t>
            </a:r>
            <a:endParaRPr lang="en-IN" sz="2400" i="1" dirty="0">
              <a:solidFill>
                <a:srgbClr val="FF0000"/>
              </a:solidFill>
            </a:endParaRPr>
          </a:p>
        </p:txBody>
      </p:sp>
    </p:spTree>
    <p:extLst>
      <p:ext uri="{BB962C8B-B14F-4D97-AF65-F5344CB8AC3E}">
        <p14:creationId xmlns:p14="http://schemas.microsoft.com/office/powerpoint/2010/main" val="8612417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96036"/>
            <a:ext cx="10515600" cy="5480927"/>
          </a:xfrm>
        </p:spPr>
        <p:txBody>
          <a:bodyPr>
            <a:normAutofit fontScale="92500" lnSpcReduction="10000"/>
          </a:bodyPr>
          <a:lstStyle/>
          <a:p>
            <a:pPr>
              <a:buFont typeface="Wingdings" panose="05000000000000000000" pitchFamily="2" charset="2"/>
              <a:buChar char="Ø"/>
            </a:pPr>
            <a:r>
              <a:rPr lang="en-IN" sz="2400" dirty="0"/>
              <a:t>Primary accelerators </a:t>
            </a:r>
            <a:r>
              <a:rPr lang="en-IN" sz="2400" dirty="0" smtClean="0"/>
              <a:t>provides</a:t>
            </a:r>
            <a:endParaRPr lang="en-IN" sz="2400" dirty="0"/>
          </a:p>
          <a:p>
            <a:pPr marL="0" indent="0">
              <a:buNone/>
            </a:pPr>
            <a:r>
              <a:rPr lang="en-IN" sz="2400" dirty="0" smtClean="0"/>
              <a:t>             long </a:t>
            </a:r>
            <a:r>
              <a:rPr lang="en-IN" sz="2400" dirty="0"/>
              <a:t>scorch </a:t>
            </a:r>
            <a:r>
              <a:rPr lang="en-IN" sz="2400" dirty="0" smtClean="0"/>
              <a:t>time</a:t>
            </a:r>
          </a:p>
          <a:p>
            <a:pPr marL="0" indent="0">
              <a:buNone/>
            </a:pPr>
            <a:r>
              <a:rPr lang="en-IN" sz="2400" dirty="0" smtClean="0"/>
              <a:t>	medium </a:t>
            </a:r>
            <a:r>
              <a:rPr lang="en-IN" sz="2400" dirty="0"/>
              <a:t>to fast </a:t>
            </a:r>
            <a:r>
              <a:rPr lang="en-IN" sz="2400" dirty="0" smtClean="0"/>
              <a:t>cure</a:t>
            </a:r>
            <a:endParaRPr lang="en-IN" sz="2400" dirty="0"/>
          </a:p>
          <a:p>
            <a:pPr marL="0" indent="0">
              <a:buNone/>
            </a:pPr>
            <a:r>
              <a:rPr lang="en-IN" sz="2400" dirty="0" smtClean="0"/>
              <a:t>	good </a:t>
            </a:r>
            <a:r>
              <a:rPr lang="en-IN" sz="2400" dirty="0"/>
              <a:t>modulus (crosslink density) development. </a:t>
            </a:r>
            <a:endParaRPr lang="en-IN" sz="2400" dirty="0" smtClean="0"/>
          </a:p>
          <a:p>
            <a:pPr marL="0" indent="0">
              <a:buNone/>
            </a:pPr>
            <a:r>
              <a:rPr lang="en-IN" sz="2400" dirty="0"/>
              <a:t> </a:t>
            </a:r>
            <a:r>
              <a:rPr lang="en-IN" sz="2400" dirty="0" smtClean="0"/>
              <a:t>     Dosage : 0.5 to 1.5 </a:t>
            </a:r>
            <a:r>
              <a:rPr lang="en-IN" sz="2400" dirty="0" err="1" smtClean="0"/>
              <a:t>phr</a:t>
            </a:r>
            <a:endParaRPr lang="en-IN" sz="2400" dirty="0" smtClean="0"/>
          </a:p>
          <a:p>
            <a:pPr marL="0" indent="0">
              <a:buNone/>
            </a:pPr>
            <a:r>
              <a:rPr lang="en-IN" sz="2400" i="1" dirty="0" smtClean="0">
                <a:solidFill>
                  <a:srgbClr val="FF0000"/>
                </a:solidFill>
              </a:rPr>
              <a:t>                                   Examples : </a:t>
            </a:r>
            <a:r>
              <a:rPr lang="en-IN" sz="2400" i="1" dirty="0" err="1" smtClean="0">
                <a:solidFill>
                  <a:srgbClr val="FF0000"/>
                </a:solidFill>
              </a:rPr>
              <a:t>Sulphenamides</a:t>
            </a:r>
            <a:r>
              <a:rPr lang="en-IN" sz="2400" i="1" dirty="0" smtClean="0">
                <a:solidFill>
                  <a:srgbClr val="FF0000"/>
                </a:solidFill>
              </a:rPr>
              <a:t> </a:t>
            </a:r>
            <a:r>
              <a:rPr lang="en-IN" sz="2400" i="1" dirty="0">
                <a:solidFill>
                  <a:srgbClr val="FF0000"/>
                </a:solidFill>
              </a:rPr>
              <a:t>and </a:t>
            </a:r>
            <a:r>
              <a:rPr lang="en-IN" sz="2400" i="1" dirty="0" err="1">
                <a:solidFill>
                  <a:srgbClr val="FF0000"/>
                </a:solidFill>
              </a:rPr>
              <a:t>thiazoles</a:t>
            </a:r>
            <a:r>
              <a:rPr lang="en-IN" sz="2400" dirty="0"/>
              <a:t>. </a:t>
            </a:r>
            <a:endParaRPr lang="en-IN" sz="2400" dirty="0" smtClean="0"/>
          </a:p>
          <a:p>
            <a:pPr marL="0" indent="0">
              <a:buNone/>
            </a:pPr>
            <a:endParaRPr lang="en-IN" sz="2400" dirty="0" smtClean="0"/>
          </a:p>
          <a:p>
            <a:pPr>
              <a:buFont typeface="Wingdings" panose="05000000000000000000" pitchFamily="2" charset="2"/>
              <a:buChar char="Ø"/>
            </a:pPr>
            <a:r>
              <a:rPr lang="en-IN" sz="2400" dirty="0" smtClean="0"/>
              <a:t>Secondary </a:t>
            </a:r>
            <a:r>
              <a:rPr lang="en-IN" sz="2400" dirty="0"/>
              <a:t>accelerators </a:t>
            </a:r>
            <a:r>
              <a:rPr lang="en-IN" sz="2400" dirty="0" smtClean="0"/>
              <a:t>(used at much lower concentration)</a:t>
            </a:r>
          </a:p>
          <a:p>
            <a:pPr marL="0" indent="0">
              <a:buNone/>
            </a:pPr>
            <a:r>
              <a:rPr lang="en-IN" sz="2400" dirty="0"/>
              <a:t> </a:t>
            </a:r>
            <a:r>
              <a:rPr lang="en-IN" sz="2400" dirty="0" smtClean="0"/>
              <a:t>           activates primary accelerators</a:t>
            </a:r>
          </a:p>
          <a:p>
            <a:pPr marL="0" indent="0">
              <a:buNone/>
            </a:pPr>
            <a:r>
              <a:rPr lang="en-IN" sz="2400" dirty="0"/>
              <a:t> </a:t>
            </a:r>
            <a:r>
              <a:rPr lang="en-IN" sz="2400" dirty="0" smtClean="0"/>
              <a:t>           increases speed of vulcanization (increases cross links density)</a:t>
            </a:r>
          </a:p>
          <a:p>
            <a:pPr marL="0" indent="0">
              <a:buNone/>
            </a:pPr>
            <a:r>
              <a:rPr lang="en-IN" sz="2400" dirty="0"/>
              <a:t> </a:t>
            </a:r>
            <a:r>
              <a:rPr lang="en-IN" sz="2400" dirty="0" smtClean="0"/>
              <a:t>            reduces scorch safety   </a:t>
            </a:r>
          </a:p>
          <a:p>
            <a:pPr marL="0" indent="0">
              <a:buNone/>
            </a:pPr>
            <a:r>
              <a:rPr lang="en-IN" sz="2400" dirty="0"/>
              <a:t> </a:t>
            </a:r>
            <a:r>
              <a:rPr lang="en-IN" sz="2400" dirty="0" smtClean="0"/>
              <a:t>   Dosage : 10-40% of primary accelerator (0.05 to 0.5 </a:t>
            </a:r>
            <a:r>
              <a:rPr lang="en-IN" sz="2400" dirty="0" err="1" smtClean="0"/>
              <a:t>phr</a:t>
            </a:r>
            <a:r>
              <a:rPr lang="en-IN" sz="2400" dirty="0" smtClean="0"/>
              <a:t>)</a:t>
            </a:r>
          </a:p>
          <a:p>
            <a:pPr marL="0" indent="0">
              <a:buNone/>
            </a:pPr>
            <a:r>
              <a:rPr lang="en-IN" sz="2400" dirty="0" smtClean="0"/>
              <a:t>			 </a:t>
            </a:r>
            <a:r>
              <a:rPr lang="en-IN" sz="2400" i="1" dirty="0" smtClean="0">
                <a:solidFill>
                  <a:srgbClr val="FF0000"/>
                </a:solidFill>
              </a:rPr>
              <a:t>Examples : </a:t>
            </a:r>
            <a:r>
              <a:rPr lang="en-IN" sz="2400" i="1" dirty="0" err="1" smtClean="0">
                <a:solidFill>
                  <a:srgbClr val="FF0000"/>
                </a:solidFill>
              </a:rPr>
              <a:t>dithiocarbamate</a:t>
            </a:r>
            <a:r>
              <a:rPr lang="en-IN" sz="2400" i="1" dirty="0">
                <a:solidFill>
                  <a:srgbClr val="FF0000"/>
                </a:solidFill>
              </a:rPr>
              <a:t>, </a:t>
            </a:r>
            <a:r>
              <a:rPr lang="en-IN" sz="2400" i="1" dirty="0" err="1">
                <a:solidFill>
                  <a:srgbClr val="FF0000"/>
                </a:solidFill>
              </a:rPr>
              <a:t>thiurams</a:t>
            </a:r>
            <a:r>
              <a:rPr lang="en-IN" sz="2400" i="1" dirty="0">
                <a:solidFill>
                  <a:srgbClr val="FF0000"/>
                </a:solidFill>
              </a:rPr>
              <a:t>, </a:t>
            </a:r>
            <a:r>
              <a:rPr lang="en-IN" sz="2400" i="1" dirty="0" err="1" smtClean="0">
                <a:solidFill>
                  <a:srgbClr val="FF0000"/>
                </a:solidFill>
              </a:rPr>
              <a:t>guanidines</a:t>
            </a:r>
            <a:endParaRPr lang="en-IN" sz="2400" i="1" dirty="0" smtClean="0">
              <a:solidFill>
                <a:srgbClr val="FF0000"/>
              </a:solidFill>
            </a:endParaRPr>
          </a:p>
        </p:txBody>
      </p:sp>
    </p:spTree>
    <p:extLst>
      <p:ext uri="{BB962C8B-B14F-4D97-AF65-F5344CB8AC3E}">
        <p14:creationId xmlns:p14="http://schemas.microsoft.com/office/powerpoint/2010/main" val="39182392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7765"/>
          </a:xfrm>
        </p:spPr>
        <p:txBody>
          <a:bodyPr/>
          <a:lstStyle/>
          <a:p>
            <a:r>
              <a:rPr lang="en-IN" dirty="0" smtClean="0"/>
              <a:t>Thiazole Accelerators</a:t>
            </a:r>
            <a:endParaRPr lang="en-IN" dirty="0"/>
          </a:p>
        </p:txBody>
      </p:sp>
      <p:sp>
        <p:nvSpPr>
          <p:cNvPr id="3" name="Content Placeholder 2"/>
          <p:cNvSpPr>
            <a:spLocks noGrp="1"/>
          </p:cNvSpPr>
          <p:nvPr>
            <p:ph idx="1"/>
          </p:nvPr>
        </p:nvSpPr>
        <p:spPr>
          <a:xfrm>
            <a:off x="838200" y="1487606"/>
            <a:ext cx="10515600" cy="4689357"/>
          </a:xfrm>
        </p:spPr>
        <p:txBody>
          <a:bodyPr>
            <a:normAutofit fontScale="85000" lnSpcReduction="20000"/>
          </a:bodyPr>
          <a:lstStyle/>
          <a:p>
            <a:r>
              <a:rPr lang="en-IN" dirty="0" smtClean="0"/>
              <a:t>Medium fast accelerator</a:t>
            </a:r>
          </a:p>
          <a:p>
            <a:r>
              <a:rPr lang="en-IN" dirty="0" smtClean="0"/>
              <a:t>Improved scorch safety</a:t>
            </a:r>
          </a:p>
          <a:p>
            <a:r>
              <a:rPr lang="en-IN" dirty="0" smtClean="0"/>
              <a:t>Need higher temperature for vulcanization</a:t>
            </a:r>
          </a:p>
          <a:p>
            <a:pPr marL="0" indent="0">
              <a:buNone/>
            </a:pPr>
            <a:endParaRPr lang="en-IN" dirty="0" smtClean="0"/>
          </a:p>
          <a:p>
            <a:pPr marL="0" indent="0">
              <a:buNone/>
            </a:pPr>
            <a:r>
              <a:rPr lang="en-IN" dirty="0" smtClean="0"/>
              <a:t>Examples : </a:t>
            </a:r>
          </a:p>
          <a:p>
            <a:pPr marL="0" indent="0">
              <a:buNone/>
            </a:pPr>
            <a:r>
              <a:rPr lang="en-IN" dirty="0" smtClean="0"/>
              <a:t>	2-mercaptobenzothiazole </a:t>
            </a:r>
            <a:r>
              <a:rPr lang="en-IN" dirty="0"/>
              <a:t>(MBT) </a:t>
            </a:r>
            <a:endParaRPr lang="en-IN" dirty="0" smtClean="0"/>
          </a:p>
          <a:p>
            <a:pPr marL="0" indent="0">
              <a:buNone/>
            </a:pPr>
            <a:r>
              <a:rPr lang="en-IN" dirty="0"/>
              <a:t>	</a:t>
            </a:r>
            <a:r>
              <a:rPr lang="en-IN" dirty="0" smtClean="0"/>
              <a:t>Zinc </a:t>
            </a:r>
            <a:r>
              <a:rPr lang="en-IN" dirty="0"/>
              <a:t>salt of </a:t>
            </a:r>
            <a:r>
              <a:rPr lang="en-IN" dirty="0" err="1"/>
              <a:t>mercaptobenzothiazole</a:t>
            </a:r>
            <a:r>
              <a:rPr lang="en-IN" dirty="0"/>
              <a:t> (ZMBT</a:t>
            </a:r>
            <a:r>
              <a:rPr lang="en-IN" dirty="0" smtClean="0"/>
              <a:t>)</a:t>
            </a:r>
          </a:p>
          <a:p>
            <a:pPr marL="0" indent="0">
              <a:buNone/>
            </a:pPr>
            <a:r>
              <a:rPr lang="en-IN" dirty="0" smtClean="0"/>
              <a:t>            </a:t>
            </a:r>
            <a:r>
              <a:rPr lang="en-IN" dirty="0" err="1" smtClean="0"/>
              <a:t>Dibenzene</a:t>
            </a:r>
            <a:r>
              <a:rPr lang="en-IN" dirty="0" smtClean="0"/>
              <a:t> </a:t>
            </a:r>
            <a:r>
              <a:rPr lang="en-IN" dirty="0" err="1" smtClean="0"/>
              <a:t>thiazyl</a:t>
            </a:r>
            <a:r>
              <a:rPr lang="en-IN" dirty="0" smtClean="0"/>
              <a:t> disulphide (</a:t>
            </a:r>
            <a:r>
              <a:rPr lang="en-IN" dirty="0"/>
              <a:t>MBTS</a:t>
            </a:r>
            <a:r>
              <a:rPr lang="en-IN" dirty="0" smtClean="0"/>
              <a:t>)</a:t>
            </a:r>
          </a:p>
          <a:p>
            <a:pPr marL="0" indent="0">
              <a:buNone/>
            </a:pPr>
            <a:endParaRPr lang="en-IN" dirty="0" smtClean="0"/>
          </a:p>
          <a:p>
            <a:pPr>
              <a:buFont typeface="Wingdings" panose="05000000000000000000" pitchFamily="2" charset="2"/>
              <a:buChar char="ü"/>
            </a:pPr>
            <a:r>
              <a:rPr lang="en-IN" dirty="0" smtClean="0"/>
              <a:t> MBT &amp; ZMBT – fast onset of vulcanization and lower processing safety</a:t>
            </a:r>
          </a:p>
          <a:p>
            <a:pPr>
              <a:buFont typeface="Wingdings" panose="05000000000000000000" pitchFamily="2" charset="2"/>
              <a:buChar char="ü"/>
            </a:pPr>
            <a:r>
              <a:rPr lang="en-IN" dirty="0" smtClean="0"/>
              <a:t> Zinc </a:t>
            </a:r>
            <a:r>
              <a:rPr lang="en-IN" dirty="0"/>
              <a:t>salt (ZMBT) is used mainly with latex </a:t>
            </a:r>
            <a:r>
              <a:rPr lang="en-IN" dirty="0" smtClean="0"/>
              <a:t>compounds</a:t>
            </a:r>
          </a:p>
          <a:p>
            <a:pPr>
              <a:buFont typeface="Wingdings" panose="05000000000000000000" pitchFamily="2" charset="2"/>
              <a:buChar char="ü"/>
            </a:pPr>
            <a:r>
              <a:rPr lang="en-IN" dirty="0"/>
              <a:t> </a:t>
            </a:r>
            <a:r>
              <a:rPr lang="en-IN" dirty="0" smtClean="0"/>
              <a:t>MBTS  provides safe processing</a:t>
            </a:r>
            <a:endParaRPr lang="en-IN" dirty="0"/>
          </a:p>
        </p:txBody>
      </p:sp>
      <p:pic>
        <p:nvPicPr>
          <p:cNvPr id="4" name="Picture 3"/>
          <p:cNvPicPr>
            <a:picLocks noChangeAspect="1"/>
          </p:cNvPicPr>
          <p:nvPr/>
        </p:nvPicPr>
        <p:blipFill>
          <a:blip r:embed="rId2"/>
          <a:stretch>
            <a:fillRect/>
          </a:stretch>
        </p:blipFill>
        <p:spPr>
          <a:xfrm>
            <a:off x="5484676" y="696036"/>
            <a:ext cx="5912412" cy="1337480"/>
          </a:xfrm>
          <a:prstGeom prst="rect">
            <a:avLst/>
          </a:prstGeom>
        </p:spPr>
      </p:pic>
    </p:spTree>
    <p:extLst>
      <p:ext uri="{BB962C8B-B14F-4D97-AF65-F5344CB8AC3E}">
        <p14:creationId xmlns:p14="http://schemas.microsoft.com/office/powerpoint/2010/main" val="9594729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812" y="342390"/>
            <a:ext cx="10515600" cy="1325563"/>
          </a:xfrm>
        </p:spPr>
        <p:txBody>
          <a:bodyPr/>
          <a:lstStyle/>
          <a:p>
            <a:r>
              <a:rPr lang="en-IN" dirty="0" smtClean="0"/>
              <a:t>Sulphenamide accelerators</a:t>
            </a:r>
            <a:endParaRPr lang="en-IN" dirty="0"/>
          </a:p>
        </p:txBody>
      </p:sp>
      <p:sp>
        <p:nvSpPr>
          <p:cNvPr id="3" name="Content Placeholder 2"/>
          <p:cNvSpPr>
            <a:spLocks noGrp="1"/>
          </p:cNvSpPr>
          <p:nvPr>
            <p:ph idx="1"/>
          </p:nvPr>
        </p:nvSpPr>
        <p:spPr/>
        <p:txBody>
          <a:bodyPr>
            <a:normAutofit fontScale="92500" lnSpcReduction="10000"/>
          </a:bodyPr>
          <a:lstStyle/>
          <a:p>
            <a:endParaRPr lang="en-IN" dirty="0" smtClean="0"/>
          </a:p>
          <a:p>
            <a:r>
              <a:rPr lang="en-IN" dirty="0" smtClean="0"/>
              <a:t>Primary accelerator</a:t>
            </a:r>
          </a:p>
          <a:p>
            <a:r>
              <a:rPr lang="en-IN" dirty="0" smtClean="0"/>
              <a:t>Delayed action accelerator as well as provides faster cure rate</a:t>
            </a:r>
          </a:p>
          <a:p>
            <a:r>
              <a:rPr lang="en-IN" dirty="0" smtClean="0"/>
              <a:t>Can be boosted with small amounts of secondary accelerators  like DPG, TMTD, TMTM etc.</a:t>
            </a:r>
          </a:p>
          <a:p>
            <a:r>
              <a:rPr lang="en-IN" dirty="0"/>
              <a:t>Provide good resistance to reversion</a:t>
            </a:r>
            <a:r>
              <a:rPr lang="en-IN" dirty="0" smtClean="0"/>
              <a:t>.</a:t>
            </a:r>
          </a:p>
          <a:p>
            <a:pPr marL="0" indent="0">
              <a:buNone/>
            </a:pPr>
            <a:r>
              <a:rPr lang="en-IN" dirty="0" smtClean="0"/>
              <a:t>Examples</a:t>
            </a:r>
          </a:p>
          <a:p>
            <a:pPr marL="0" indent="0">
              <a:buNone/>
            </a:pPr>
            <a:r>
              <a:rPr lang="en-IN" dirty="0"/>
              <a:t>	</a:t>
            </a:r>
            <a:r>
              <a:rPr lang="en-IN" dirty="0" err="1"/>
              <a:t>C</a:t>
            </a:r>
            <a:r>
              <a:rPr lang="en-IN" dirty="0" err="1" smtClean="0"/>
              <a:t>yclohexyl</a:t>
            </a:r>
            <a:r>
              <a:rPr lang="en-IN" dirty="0" smtClean="0"/>
              <a:t> </a:t>
            </a:r>
            <a:r>
              <a:rPr lang="en-IN" dirty="0" err="1" smtClean="0"/>
              <a:t>benzothiazole</a:t>
            </a:r>
            <a:r>
              <a:rPr lang="en-IN" dirty="0" smtClean="0"/>
              <a:t>/ </a:t>
            </a:r>
            <a:r>
              <a:rPr lang="en-IN" dirty="0" err="1" smtClean="0"/>
              <a:t>thiazyl</a:t>
            </a:r>
            <a:r>
              <a:rPr lang="en-IN" dirty="0" smtClean="0"/>
              <a:t> sulphenamide </a:t>
            </a:r>
            <a:r>
              <a:rPr lang="en-IN" dirty="0"/>
              <a:t>(CBS)</a:t>
            </a:r>
          </a:p>
          <a:p>
            <a:pPr marL="0" indent="0">
              <a:buNone/>
            </a:pPr>
            <a:r>
              <a:rPr lang="en-IN" dirty="0" smtClean="0"/>
              <a:t>	Tertiary butyl benzothiazyl sulphenamide </a:t>
            </a:r>
            <a:r>
              <a:rPr lang="en-IN" dirty="0"/>
              <a:t>(TBBS)</a:t>
            </a:r>
          </a:p>
          <a:p>
            <a:pPr marL="0" indent="0">
              <a:buNone/>
            </a:pPr>
            <a:r>
              <a:rPr lang="en-IN" dirty="0" smtClean="0"/>
              <a:t>	</a:t>
            </a:r>
            <a:r>
              <a:rPr lang="en-IN" dirty="0" err="1" smtClean="0"/>
              <a:t>Dicyclo</a:t>
            </a:r>
            <a:r>
              <a:rPr lang="en-IN" dirty="0" smtClean="0"/>
              <a:t> hexyl benzothiazyl sulphenamide </a:t>
            </a:r>
            <a:r>
              <a:rPr lang="en-IN" dirty="0"/>
              <a:t>(DCBS</a:t>
            </a:r>
            <a:r>
              <a:rPr lang="en-IN" dirty="0" smtClean="0"/>
              <a:t>)</a:t>
            </a:r>
          </a:p>
          <a:p>
            <a:pPr marL="0" indent="0">
              <a:buNone/>
            </a:pPr>
            <a:endParaRPr lang="en-IN" dirty="0"/>
          </a:p>
          <a:p>
            <a:pPr marL="0" indent="0">
              <a:buNone/>
            </a:pPr>
            <a:endParaRPr lang="en-IN" dirty="0" smtClean="0"/>
          </a:p>
          <a:p>
            <a:endParaRPr lang="en-IN" dirty="0"/>
          </a:p>
        </p:txBody>
      </p:sp>
      <p:pic>
        <p:nvPicPr>
          <p:cNvPr id="4" name="Picture 3"/>
          <p:cNvPicPr>
            <a:picLocks noChangeAspect="1"/>
          </p:cNvPicPr>
          <p:nvPr/>
        </p:nvPicPr>
        <p:blipFill>
          <a:blip r:embed="rId2"/>
          <a:stretch>
            <a:fillRect/>
          </a:stretch>
        </p:blipFill>
        <p:spPr>
          <a:xfrm>
            <a:off x="6646460" y="0"/>
            <a:ext cx="5034176" cy="2746864"/>
          </a:xfrm>
          <a:prstGeom prst="rect">
            <a:avLst/>
          </a:prstGeom>
        </p:spPr>
      </p:pic>
    </p:spTree>
    <p:extLst>
      <p:ext uri="{BB962C8B-B14F-4D97-AF65-F5344CB8AC3E}">
        <p14:creationId xmlns:p14="http://schemas.microsoft.com/office/powerpoint/2010/main" val="23225002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Thiuram accelerators</a:t>
            </a:r>
            <a:endParaRPr lang="en-IN" dirty="0"/>
          </a:p>
        </p:txBody>
      </p:sp>
      <p:sp>
        <p:nvSpPr>
          <p:cNvPr id="3" name="Content Placeholder 2"/>
          <p:cNvSpPr>
            <a:spLocks noGrp="1"/>
          </p:cNvSpPr>
          <p:nvPr>
            <p:ph idx="1"/>
          </p:nvPr>
        </p:nvSpPr>
        <p:spPr/>
        <p:txBody>
          <a:bodyPr>
            <a:normAutofit fontScale="92500"/>
          </a:bodyPr>
          <a:lstStyle/>
          <a:p>
            <a:r>
              <a:rPr lang="en-IN" dirty="0"/>
              <a:t>F</a:t>
            </a:r>
            <a:r>
              <a:rPr lang="en-IN" dirty="0" smtClean="0"/>
              <a:t>ast accelerator</a:t>
            </a:r>
          </a:p>
          <a:p>
            <a:r>
              <a:rPr lang="en-IN" dirty="0" smtClean="0"/>
              <a:t>Faster curing rate, higher crosslink density</a:t>
            </a:r>
          </a:p>
          <a:p>
            <a:r>
              <a:rPr lang="en-IN" dirty="0" smtClean="0"/>
              <a:t>Lower processing safety</a:t>
            </a:r>
          </a:p>
          <a:p>
            <a:r>
              <a:rPr lang="en-IN" dirty="0" smtClean="0"/>
              <a:t>As </a:t>
            </a:r>
            <a:r>
              <a:rPr lang="en-IN" dirty="0"/>
              <a:t>secondary accelerator with </a:t>
            </a:r>
            <a:r>
              <a:rPr lang="en-IN" dirty="0" err="1"/>
              <a:t>dithiocarbamates</a:t>
            </a:r>
            <a:r>
              <a:rPr lang="en-IN" dirty="0"/>
              <a:t>, </a:t>
            </a:r>
            <a:r>
              <a:rPr lang="en-IN" dirty="0" err="1"/>
              <a:t>sulfenamides</a:t>
            </a:r>
            <a:r>
              <a:rPr lang="en-IN" dirty="0"/>
              <a:t>, or </a:t>
            </a:r>
            <a:r>
              <a:rPr lang="en-IN" dirty="0" err="1"/>
              <a:t>thiazole</a:t>
            </a:r>
            <a:r>
              <a:rPr lang="en-IN" dirty="0" smtClean="0"/>
              <a:t>.</a:t>
            </a:r>
          </a:p>
          <a:p>
            <a:r>
              <a:rPr lang="en-IN" dirty="0" smtClean="0"/>
              <a:t>As primary accelerator for sulphur cured low unsaturated rubbers</a:t>
            </a:r>
          </a:p>
          <a:p>
            <a:pPr marL="0" indent="0">
              <a:buNone/>
            </a:pPr>
            <a:r>
              <a:rPr lang="en-IN" dirty="0" smtClean="0"/>
              <a:t>Examples</a:t>
            </a:r>
          </a:p>
          <a:p>
            <a:pPr marL="0" indent="0">
              <a:buNone/>
            </a:pPr>
            <a:r>
              <a:rPr lang="en-IN" dirty="0" smtClean="0"/>
              <a:t>	</a:t>
            </a:r>
            <a:r>
              <a:rPr lang="en-IN" dirty="0" err="1" smtClean="0"/>
              <a:t>Tetramethyl</a:t>
            </a:r>
            <a:r>
              <a:rPr lang="en-IN" dirty="0" smtClean="0"/>
              <a:t> </a:t>
            </a:r>
            <a:r>
              <a:rPr lang="en-IN" dirty="0" err="1"/>
              <a:t>thiuram</a:t>
            </a:r>
            <a:r>
              <a:rPr lang="en-IN" dirty="0"/>
              <a:t> </a:t>
            </a:r>
            <a:r>
              <a:rPr lang="en-IN" dirty="0" err="1"/>
              <a:t>disulfide</a:t>
            </a:r>
            <a:r>
              <a:rPr lang="en-IN" dirty="0"/>
              <a:t> (TMTD)</a:t>
            </a:r>
          </a:p>
          <a:p>
            <a:pPr marL="0" indent="0">
              <a:buNone/>
            </a:pPr>
            <a:r>
              <a:rPr lang="en-IN" dirty="0" smtClean="0"/>
              <a:t>	Tetraethyl </a:t>
            </a:r>
            <a:r>
              <a:rPr lang="en-IN" dirty="0" err="1"/>
              <a:t>thiuram</a:t>
            </a:r>
            <a:r>
              <a:rPr lang="en-IN" dirty="0"/>
              <a:t> </a:t>
            </a:r>
            <a:r>
              <a:rPr lang="en-IN" dirty="0" err="1"/>
              <a:t>disulfide</a:t>
            </a:r>
            <a:r>
              <a:rPr lang="en-IN" dirty="0"/>
              <a:t> (TETD)</a:t>
            </a:r>
          </a:p>
          <a:p>
            <a:pPr marL="0" indent="0">
              <a:buNone/>
            </a:pPr>
            <a:r>
              <a:rPr lang="en-IN" dirty="0" smtClean="0"/>
              <a:t>	</a:t>
            </a:r>
            <a:r>
              <a:rPr lang="en-IN" dirty="0" err="1" smtClean="0"/>
              <a:t>Tetramethyl</a:t>
            </a:r>
            <a:r>
              <a:rPr lang="en-IN" dirty="0" smtClean="0"/>
              <a:t> </a:t>
            </a:r>
            <a:r>
              <a:rPr lang="en-IN" dirty="0" err="1"/>
              <a:t>thiuram</a:t>
            </a:r>
            <a:r>
              <a:rPr lang="en-IN" dirty="0"/>
              <a:t> </a:t>
            </a:r>
            <a:r>
              <a:rPr lang="en-IN" dirty="0" err="1"/>
              <a:t>monosulfide</a:t>
            </a:r>
            <a:r>
              <a:rPr lang="en-IN" dirty="0"/>
              <a:t> (TMTM)</a:t>
            </a:r>
          </a:p>
          <a:p>
            <a:endParaRPr lang="en-IN" dirty="0" smtClean="0"/>
          </a:p>
          <a:p>
            <a:endParaRPr lang="en-IN" dirty="0"/>
          </a:p>
        </p:txBody>
      </p:sp>
      <p:pic>
        <p:nvPicPr>
          <p:cNvPr id="4" name="Picture 3"/>
          <p:cNvPicPr>
            <a:picLocks noChangeAspect="1"/>
          </p:cNvPicPr>
          <p:nvPr/>
        </p:nvPicPr>
        <p:blipFill>
          <a:blip r:embed="rId2"/>
          <a:stretch>
            <a:fillRect/>
          </a:stretch>
        </p:blipFill>
        <p:spPr>
          <a:xfrm>
            <a:off x="6267662" y="663267"/>
            <a:ext cx="5363546" cy="1370249"/>
          </a:xfrm>
          <a:prstGeom prst="rect">
            <a:avLst/>
          </a:prstGeom>
        </p:spPr>
      </p:pic>
    </p:spTree>
    <p:extLst>
      <p:ext uri="{BB962C8B-B14F-4D97-AF65-F5344CB8AC3E}">
        <p14:creationId xmlns:p14="http://schemas.microsoft.com/office/powerpoint/2010/main" val="3472691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Dithiocarbamate Accelerators</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Ultra fast accelerator</a:t>
            </a:r>
          </a:p>
          <a:p>
            <a:r>
              <a:rPr lang="en-IN" dirty="0" smtClean="0"/>
              <a:t>Mostly used in latex based compounds</a:t>
            </a:r>
          </a:p>
          <a:p>
            <a:r>
              <a:rPr lang="en-IN" dirty="0" smtClean="0"/>
              <a:t>Functions both as primary as well as secondary accelerators</a:t>
            </a:r>
          </a:p>
          <a:p>
            <a:r>
              <a:rPr lang="en-IN" dirty="0"/>
              <a:t>low scorch </a:t>
            </a:r>
            <a:r>
              <a:rPr lang="en-IN" dirty="0" smtClean="0"/>
              <a:t>safety</a:t>
            </a:r>
          </a:p>
          <a:p>
            <a:r>
              <a:rPr lang="en-IN" dirty="0" smtClean="0"/>
              <a:t>faster </a:t>
            </a:r>
            <a:r>
              <a:rPr lang="en-IN" dirty="0"/>
              <a:t>cure </a:t>
            </a:r>
            <a:r>
              <a:rPr lang="en-IN" dirty="0" smtClean="0"/>
              <a:t>rate</a:t>
            </a:r>
          </a:p>
          <a:p>
            <a:r>
              <a:rPr lang="en-IN" dirty="0" smtClean="0"/>
              <a:t>higher </a:t>
            </a:r>
            <a:r>
              <a:rPr lang="en-IN" dirty="0"/>
              <a:t>crosslink density </a:t>
            </a:r>
            <a:endParaRPr lang="en-IN" dirty="0" smtClean="0"/>
          </a:p>
          <a:p>
            <a:r>
              <a:rPr lang="en-IN" dirty="0" smtClean="0"/>
              <a:t>Vulcanized </a:t>
            </a:r>
            <a:r>
              <a:rPr lang="en-IN" dirty="0"/>
              <a:t>in a short time at low temperature (115 - 120°C</a:t>
            </a:r>
            <a:r>
              <a:rPr lang="en-IN" dirty="0" smtClean="0"/>
              <a:t>)</a:t>
            </a:r>
          </a:p>
          <a:p>
            <a:pPr marL="0" indent="0">
              <a:buNone/>
            </a:pPr>
            <a:r>
              <a:rPr lang="en-IN" dirty="0" smtClean="0"/>
              <a:t>Examples</a:t>
            </a:r>
          </a:p>
          <a:p>
            <a:pPr marL="0" indent="0">
              <a:buNone/>
            </a:pPr>
            <a:r>
              <a:rPr lang="en-IN" dirty="0" smtClean="0"/>
              <a:t>	Zinc </a:t>
            </a:r>
            <a:r>
              <a:rPr lang="en-IN" dirty="0"/>
              <a:t>diethyl </a:t>
            </a:r>
            <a:r>
              <a:rPr lang="en-IN" dirty="0" err="1"/>
              <a:t>dithiocarbamate</a:t>
            </a:r>
            <a:r>
              <a:rPr lang="en-IN" dirty="0"/>
              <a:t> (ZDEC)</a:t>
            </a:r>
          </a:p>
          <a:p>
            <a:pPr marL="0" indent="0">
              <a:buNone/>
            </a:pPr>
            <a:r>
              <a:rPr lang="en-IN" dirty="0" smtClean="0"/>
              <a:t>	N-dimethyl </a:t>
            </a:r>
            <a:r>
              <a:rPr lang="en-IN" dirty="0" err="1"/>
              <a:t>dithiocarbamate</a:t>
            </a:r>
            <a:r>
              <a:rPr lang="en-IN" dirty="0"/>
              <a:t> (ZDMC)</a:t>
            </a:r>
          </a:p>
          <a:p>
            <a:pPr marL="0" indent="0">
              <a:buNone/>
            </a:pPr>
            <a:r>
              <a:rPr lang="en-IN" dirty="0" smtClean="0"/>
              <a:t>	Zinc </a:t>
            </a:r>
            <a:r>
              <a:rPr lang="en-IN" dirty="0"/>
              <a:t>N-</a:t>
            </a:r>
            <a:r>
              <a:rPr lang="en-IN" dirty="0" err="1"/>
              <a:t>dibutyl</a:t>
            </a:r>
            <a:r>
              <a:rPr lang="en-IN" dirty="0"/>
              <a:t> </a:t>
            </a:r>
            <a:r>
              <a:rPr lang="en-IN" dirty="0" err="1"/>
              <a:t>dithiocarbamate</a:t>
            </a:r>
            <a:r>
              <a:rPr lang="en-IN" dirty="0"/>
              <a:t> (ZDBC)</a:t>
            </a:r>
          </a:p>
          <a:p>
            <a:endParaRPr lang="en-IN" dirty="0"/>
          </a:p>
          <a:p>
            <a:endParaRPr lang="en-IN" dirty="0"/>
          </a:p>
        </p:txBody>
      </p:sp>
      <p:pic>
        <p:nvPicPr>
          <p:cNvPr id="8" name="Picture 7"/>
          <p:cNvPicPr>
            <a:picLocks noChangeAspect="1"/>
          </p:cNvPicPr>
          <p:nvPr/>
        </p:nvPicPr>
        <p:blipFill>
          <a:blip r:embed="rId2"/>
          <a:stretch>
            <a:fillRect/>
          </a:stretch>
        </p:blipFill>
        <p:spPr>
          <a:xfrm>
            <a:off x="7996075" y="776998"/>
            <a:ext cx="3008499" cy="1379348"/>
          </a:xfrm>
          <a:prstGeom prst="rect">
            <a:avLst/>
          </a:prstGeom>
        </p:spPr>
      </p:pic>
    </p:spTree>
    <p:extLst>
      <p:ext uri="{BB962C8B-B14F-4D97-AF65-F5344CB8AC3E}">
        <p14:creationId xmlns:p14="http://schemas.microsoft.com/office/powerpoint/2010/main" val="2970050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Guanidines</a:t>
            </a:r>
            <a:endParaRPr lang="en-IN" dirty="0"/>
          </a:p>
        </p:txBody>
      </p:sp>
      <p:sp>
        <p:nvSpPr>
          <p:cNvPr id="3" name="Content Placeholder 2"/>
          <p:cNvSpPr>
            <a:spLocks noGrp="1"/>
          </p:cNvSpPr>
          <p:nvPr>
            <p:ph idx="1"/>
          </p:nvPr>
        </p:nvSpPr>
        <p:spPr/>
        <p:txBody>
          <a:bodyPr>
            <a:normAutofit/>
          </a:bodyPr>
          <a:lstStyle/>
          <a:p>
            <a:pPr marL="0" indent="0">
              <a:buNone/>
            </a:pPr>
            <a:r>
              <a:rPr lang="en-IN" dirty="0" smtClean="0"/>
              <a:t>Examples :</a:t>
            </a:r>
          </a:p>
          <a:p>
            <a:pPr marL="0" indent="0">
              <a:buNone/>
            </a:pPr>
            <a:r>
              <a:rPr lang="en-IN" dirty="0"/>
              <a:t>	</a:t>
            </a:r>
            <a:r>
              <a:rPr lang="en-IN" dirty="0" err="1" smtClean="0"/>
              <a:t>diphenyl</a:t>
            </a:r>
            <a:r>
              <a:rPr lang="en-IN" dirty="0" smtClean="0"/>
              <a:t> </a:t>
            </a:r>
            <a:r>
              <a:rPr lang="en-IN" dirty="0"/>
              <a:t>guanidine (DPG) and N, N’-</a:t>
            </a:r>
            <a:r>
              <a:rPr lang="en-IN" dirty="0" err="1"/>
              <a:t>diorthotolyl</a:t>
            </a:r>
            <a:r>
              <a:rPr lang="en-IN" dirty="0"/>
              <a:t> guanidine (DOTG). </a:t>
            </a:r>
            <a:endParaRPr lang="en-IN" dirty="0" smtClean="0"/>
          </a:p>
          <a:p>
            <a:r>
              <a:rPr lang="en-IN" dirty="0" smtClean="0"/>
              <a:t>Slow </a:t>
            </a:r>
            <a:r>
              <a:rPr lang="en-IN" dirty="0"/>
              <a:t>cure rate and require the use of zinc oxide for </a:t>
            </a:r>
            <a:r>
              <a:rPr lang="en-IN" dirty="0" smtClean="0"/>
              <a:t>activation</a:t>
            </a:r>
          </a:p>
          <a:p>
            <a:r>
              <a:rPr lang="en-IN" dirty="0"/>
              <a:t> </a:t>
            </a:r>
            <a:r>
              <a:rPr lang="en-IN" dirty="0" smtClean="0"/>
              <a:t>Used  for </a:t>
            </a:r>
            <a:r>
              <a:rPr lang="en-IN" dirty="0"/>
              <a:t>thick walled rubber </a:t>
            </a:r>
            <a:r>
              <a:rPr lang="en-IN" dirty="0" smtClean="0"/>
              <a:t>products</a:t>
            </a:r>
          </a:p>
          <a:p>
            <a:r>
              <a:rPr lang="en-IN" dirty="0" smtClean="0"/>
              <a:t>As </a:t>
            </a:r>
            <a:r>
              <a:rPr lang="en-IN" dirty="0"/>
              <a:t>secondary accelerators in combination with </a:t>
            </a:r>
            <a:r>
              <a:rPr lang="en-IN" dirty="0" err="1" smtClean="0"/>
              <a:t>thiazoles</a:t>
            </a:r>
            <a:endParaRPr lang="en-IN" dirty="0" smtClean="0"/>
          </a:p>
          <a:p>
            <a:r>
              <a:rPr lang="en-IN" dirty="0" smtClean="0"/>
              <a:t>Results </a:t>
            </a:r>
            <a:r>
              <a:rPr lang="en-IN" dirty="0"/>
              <a:t>in relative high crosslink density and good physical-mechanical properties such as high modulus and good compression set. </a:t>
            </a:r>
            <a:endParaRPr lang="en-IN" dirty="0" smtClean="0"/>
          </a:p>
          <a:p>
            <a:r>
              <a:rPr lang="en-IN" dirty="0" smtClean="0"/>
              <a:t>Cause </a:t>
            </a:r>
            <a:r>
              <a:rPr lang="en-IN" dirty="0"/>
              <a:t>a brown </a:t>
            </a:r>
            <a:r>
              <a:rPr lang="en-IN" dirty="0" smtClean="0"/>
              <a:t>discoloration, not suitable for light coloured products</a:t>
            </a:r>
            <a:endParaRPr lang="en-IN" dirty="0"/>
          </a:p>
        </p:txBody>
      </p:sp>
      <p:pic>
        <p:nvPicPr>
          <p:cNvPr id="4" name="Picture 3"/>
          <p:cNvPicPr>
            <a:picLocks noChangeAspect="1"/>
          </p:cNvPicPr>
          <p:nvPr/>
        </p:nvPicPr>
        <p:blipFill>
          <a:blip r:embed="rId2"/>
          <a:stretch>
            <a:fillRect/>
          </a:stretch>
        </p:blipFill>
        <p:spPr>
          <a:xfrm>
            <a:off x="7028598" y="-750627"/>
            <a:ext cx="3114044" cy="3114044"/>
          </a:xfrm>
          <a:prstGeom prst="rect">
            <a:avLst/>
          </a:prstGeom>
        </p:spPr>
      </p:pic>
    </p:spTree>
    <p:extLst>
      <p:ext uri="{BB962C8B-B14F-4D97-AF65-F5344CB8AC3E}">
        <p14:creationId xmlns:p14="http://schemas.microsoft.com/office/powerpoint/2010/main" val="2306100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Xanthates</a:t>
            </a:r>
            <a:endParaRPr lang="en-IN" dirty="0"/>
          </a:p>
        </p:txBody>
      </p:sp>
      <p:sp>
        <p:nvSpPr>
          <p:cNvPr id="3" name="Content Placeholder 2"/>
          <p:cNvSpPr>
            <a:spLocks noGrp="1"/>
          </p:cNvSpPr>
          <p:nvPr>
            <p:ph idx="1"/>
          </p:nvPr>
        </p:nvSpPr>
        <p:spPr/>
        <p:txBody>
          <a:bodyPr/>
          <a:lstStyle/>
          <a:p>
            <a:r>
              <a:rPr lang="en-IN" dirty="0"/>
              <a:t>U</a:t>
            </a:r>
            <a:r>
              <a:rPr lang="en-IN" dirty="0" smtClean="0"/>
              <a:t>ltra </a:t>
            </a:r>
            <a:r>
              <a:rPr lang="en-IN" dirty="0"/>
              <a:t>fast primary vulcanization </a:t>
            </a:r>
            <a:r>
              <a:rPr lang="en-IN" dirty="0" smtClean="0"/>
              <a:t>accelerators</a:t>
            </a:r>
          </a:p>
          <a:p>
            <a:r>
              <a:rPr lang="en-IN" dirty="0" smtClean="0"/>
              <a:t>Used </a:t>
            </a:r>
            <a:r>
              <a:rPr lang="en-IN" dirty="0"/>
              <a:t>for vulcanization of rubber latex and rubber in </a:t>
            </a:r>
            <a:r>
              <a:rPr lang="en-IN" dirty="0" smtClean="0"/>
              <a:t>solution.</a:t>
            </a:r>
          </a:p>
          <a:p>
            <a:r>
              <a:rPr lang="en-IN" dirty="0"/>
              <a:t>E</a:t>
            </a:r>
            <a:r>
              <a:rPr lang="en-IN" dirty="0" smtClean="0"/>
              <a:t>mployed </a:t>
            </a:r>
            <a:r>
              <a:rPr lang="en-IN" dirty="0"/>
              <a:t>for low vulcanization temperature applications. </a:t>
            </a:r>
            <a:endParaRPr lang="en-IN" dirty="0" smtClean="0"/>
          </a:p>
          <a:p>
            <a:r>
              <a:rPr lang="en-IN" dirty="0" smtClean="0"/>
              <a:t>Examples : </a:t>
            </a:r>
          </a:p>
          <a:p>
            <a:pPr marL="0" indent="0">
              <a:buNone/>
            </a:pPr>
            <a:r>
              <a:rPr lang="en-IN" dirty="0" smtClean="0"/>
              <a:t>	Zinc </a:t>
            </a:r>
            <a:r>
              <a:rPr lang="en-IN" dirty="0"/>
              <a:t>(ZIX) and sodium isopropyl </a:t>
            </a:r>
            <a:r>
              <a:rPr lang="en-IN" dirty="0" err="1"/>
              <a:t>xanthate</a:t>
            </a:r>
            <a:r>
              <a:rPr lang="en-IN" dirty="0"/>
              <a:t> (</a:t>
            </a:r>
            <a:r>
              <a:rPr lang="en-IN" dirty="0" err="1"/>
              <a:t>NaIX</a:t>
            </a:r>
            <a:r>
              <a:rPr lang="en-IN" dirty="0"/>
              <a:t>). The later is water soluble, and ideal for latex vulcanization.</a:t>
            </a:r>
          </a:p>
        </p:txBody>
      </p:sp>
    </p:spTree>
    <p:extLst>
      <p:ext uri="{BB962C8B-B14F-4D97-AF65-F5344CB8AC3E}">
        <p14:creationId xmlns:p14="http://schemas.microsoft.com/office/powerpoint/2010/main" val="956403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Thioureas</a:t>
            </a:r>
            <a:endParaRPr lang="en-IN" dirty="0"/>
          </a:p>
        </p:txBody>
      </p:sp>
      <p:sp>
        <p:nvSpPr>
          <p:cNvPr id="3" name="Content Placeholder 2"/>
          <p:cNvSpPr>
            <a:spLocks noGrp="1"/>
          </p:cNvSpPr>
          <p:nvPr>
            <p:ph idx="1"/>
          </p:nvPr>
        </p:nvSpPr>
        <p:spPr/>
        <p:txBody>
          <a:bodyPr/>
          <a:lstStyle/>
          <a:p>
            <a:r>
              <a:rPr lang="en-IN" dirty="0"/>
              <a:t>U</a:t>
            </a:r>
            <a:r>
              <a:rPr lang="en-IN" dirty="0" smtClean="0"/>
              <a:t>ltrafast </a:t>
            </a:r>
            <a:r>
              <a:rPr lang="en-IN" dirty="0"/>
              <a:t>primary or secondary accelerators. </a:t>
            </a:r>
            <a:endParaRPr lang="en-IN" dirty="0" smtClean="0"/>
          </a:p>
          <a:p>
            <a:r>
              <a:rPr lang="en-IN" dirty="0" smtClean="0"/>
              <a:t>Examples </a:t>
            </a:r>
          </a:p>
          <a:p>
            <a:pPr marL="0" indent="0">
              <a:buNone/>
            </a:pPr>
            <a:r>
              <a:rPr lang="en-IN" dirty="0"/>
              <a:t>	</a:t>
            </a:r>
            <a:r>
              <a:rPr lang="en-IN" dirty="0" smtClean="0"/>
              <a:t>Ethylene </a:t>
            </a:r>
            <a:r>
              <a:rPr lang="en-IN" dirty="0" err="1"/>
              <a:t>thiourea</a:t>
            </a:r>
            <a:r>
              <a:rPr lang="en-IN" dirty="0"/>
              <a:t>  (</a:t>
            </a:r>
            <a:r>
              <a:rPr lang="en-IN" dirty="0" smtClean="0"/>
              <a:t>ETU)</a:t>
            </a:r>
          </a:p>
          <a:p>
            <a:pPr marL="0" indent="0">
              <a:buNone/>
            </a:pPr>
            <a:r>
              <a:rPr lang="en-IN" dirty="0"/>
              <a:t>	</a:t>
            </a:r>
            <a:r>
              <a:rPr lang="en-IN" dirty="0" err="1" smtClean="0"/>
              <a:t>dipentamethylene</a:t>
            </a:r>
            <a:r>
              <a:rPr lang="en-IN" dirty="0" smtClean="0"/>
              <a:t> </a:t>
            </a:r>
            <a:r>
              <a:rPr lang="en-IN" dirty="0" err="1"/>
              <a:t>thiourea</a:t>
            </a:r>
            <a:r>
              <a:rPr lang="en-IN" dirty="0"/>
              <a:t> (</a:t>
            </a:r>
            <a:r>
              <a:rPr lang="en-IN" dirty="0" smtClean="0"/>
              <a:t>DPTU)</a:t>
            </a:r>
          </a:p>
          <a:p>
            <a:pPr marL="0" indent="0">
              <a:buNone/>
            </a:pPr>
            <a:r>
              <a:rPr lang="en-IN" dirty="0"/>
              <a:t>	</a:t>
            </a:r>
            <a:r>
              <a:rPr lang="en-IN" dirty="0" err="1" smtClean="0"/>
              <a:t>dibutyl</a:t>
            </a:r>
            <a:r>
              <a:rPr lang="en-IN" dirty="0" smtClean="0"/>
              <a:t> </a:t>
            </a:r>
            <a:r>
              <a:rPr lang="en-IN" dirty="0" err="1"/>
              <a:t>thiourea</a:t>
            </a:r>
            <a:r>
              <a:rPr lang="en-IN" dirty="0"/>
              <a:t> (DBTU</a:t>
            </a:r>
            <a:r>
              <a:rPr lang="en-IN" dirty="0" smtClean="0"/>
              <a:t>)</a:t>
            </a:r>
          </a:p>
          <a:p>
            <a:pPr marL="0" indent="0">
              <a:buNone/>
            </a:pPr>
            <a:endParaRPr lang="en-IN" dirty="0" smtClean="0"/>
          </a:p>
          <a:p>
            <a:pPr marL="0" indent="0">
              <a:buNone/>
            </a:pPr>
            <a:r>
              <a:rPr lang="en-IN" dirty="0" smtClean="0"/>
              <a:t>Mainly </a:t>
            </a:r>
            <a:r>
              <a:rPr lang="en-IN" dirty="0"/>
              <a:t>used for the vulcanization of chloroprene rubbers.</a:t>
            </a:r>
          </a:p>
        </p:txBody>
      </p:sp>
    </p:spTree>
    <p:extLst>
      <p:ext uri="{BB962C8B-B14F-4D97-AF65-F5344CB8AC3E}">
        <p14:creationId xmlns:p14="http://schemas.microsoft.com/office/powerpoint/2010/main" val="2977393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Sulphur donors</a:t>
            </a:r>
            <a:endParaRPr lang="en-IN" dirty="0"/>
          </a:p>
        </p:txBody>
      </p:sp>
      <p:sp>
        <p:nvSpPr>
          <p:cNvPr id="3" name="Content Placeholder 2"/>
          <p:cNvSpPr>
            <a:spLocks noGrp="1"/>
          </p:cNvSpPr>
          <p:nvPr>
            <p:ph idx="1"/>
          </p:nvPr>
        </p:nvSpPr>
        <p:spPr/>
        <p:txBody>
          <a:bodyPr/>
          <a:lstStyle/>
          <a:p>
            <a:r>
              <a:rPr lang="en-IN" dirty="0"/>
              <a:t>C</a:t>
            </a:r>
            <a:r>
              <a:rPr lang="en-IN" dirty="0" smtClean="0"/>
              <a:t>apable </a:t>
            </a:r>
            <a:r>
              <a:rPr lang="en-IN" dirty="0"/>
              <a:t>of providing active sulphur during the vulcanization process thereby generating </a:t>
            </a:r>
            <a:r>
              <a:rPr lang="en-IN" dirty="0" err="1"/>
              <a:t>sulphidic</a:t>
            </a:r>
            <a:r>
              <a:rPr lang="en-IN" dirty="0"/>
              <a:t> cross links</a:t>
            </a:r>
            <a:r>
              <a:rPr lang="en-IN" dirty="0" smtClean="0"/>
              <a:t>.</a:t>
            </a:r>
          </a:p>
          <a:p>
            <a:r>
              <a:rPr lang="en-IN" dirty="0" smtClean="0"/>
              <a:t>Classified as those </a:t>
            </a:r>
            <a:r>
              <a:rPr lang="en-IN" dirty="0"/>
              <a:t>that are applied as a direct substitute for free sulphur and those that act simultaneously as vulcanization accelerators.</a:t>
            </a:r>
          </a:p>
          <a:p>
            <a:pPr marL="0" indent="0">
              <a:buNone/>
            </a:pPr>
            <a:r>
              <a:rPr lang="en-IN" dirty="0" smtClean="0"/>
              <a:t>Examples</a:t>
            </a:r>
          </a:p>
          <a:p>
            <a:pPr marL="0" indent="0">
              <a:buNone/>
            </a:pPr>
            <a:r>
              <a:rPr lang="en-IN" dirty="0"/>
              <a:t>	</a:t>
            </a:r>
            <a:r>
              <a:rPr lang="en-IN" dirty="0" err="1" smtClean="0"/>
              <a:t>Caprolactam</a:t>
            </a:r>
            <a:r>
              <a:rPr lang="en-IN" dirty="0" smtClean="0"/>
              <a:t> </a:t>
            </a:r>
            <a:r>
              <a:rPr lang="en-IN" dirty="0"/>
              <a:t>disulphide( </a:t>
            </a:r>
            <a:r>
              <a:rPr lang="en-IN" dirty="0" smtClean="0"/>
              <a:t>CLD)</a:t>
            </a:r>
          </a:p>
          <a:p>
            <a:pPr marL="0" indent="0">
              <a:buNone/>
            </a:pPr>
            <a:r>
              <a:rPr lang="en-IN" dirty="0"/>
              <a:t>	</a:t>
            </a:r>
            <a:r>
              <a:rPr lang="en-IN" dirty="0" err="1" smtClean="0"/>
              <a:t>Tetramethylthiuram</a:t>
            </a:r>
            <a:r>
              <a:rPr lang="en-IN" dirty="0" smtClean="0"/>
              <a:t> </a:t>
            </a:r>
            <a:r>
              <a:rPr lang="en-IN" dirty="0"/>
              <a:t>disulphide (TMTD).</a:t>
            </a:r>
          </a:p>
          <a:p>
            <a:pPr marL="0" indent="0">
              <a:buNone/>
            </a:pPr>
            <a:endParaRPr lang="en-IN" dirty="0"/>
          </a:p>
        </p:txBody>
      </p:sp>
    </p:spTree>
    <p:extLst>
      <p:ext uri="{BB962C8B-B14F-4D97-AF65-F5344CB8AC3E}">
        <p14:creationId xmlns:p14="http://schemas.microsoft.com/office/powerpoint/2010/main" val="3672657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Retarders/ Prevulcanization inhibitors (PVI)</a:t>
            </a:r>
            <a:endParaRPr lang="en-IN" dirty="0"/>
          </a:p>
        </p:txBody>
      </p:sp>
      <p:sp>
        <p:nvSpPr>
          <p:cNvPr id="3" name="Content Placeholder 2"/>
          <p:cNvSpPr>
            <a:spLocks noGrp="1"/>
          </p:cNvSpPr>
          <p:nvPr>
            <p:ph idx="1"/>
          </p:nvPr>
        </p:nvSpPr>
        <p:spPr/>
        <p:txBody>
          <a:bodyPr>
            <a:normAutofit fontScale="92500" lnSpcReduction="20000"/>
          </a:bodyPr>
          <a:lstStyle/>
          <a:p>
            <a:r>
              <a:rPr lang="en-IN" dirty="0"/>
              <a:t>R</a:t>
            </a:r>
            <a:r>
              <a:rPr lang="en-IN" dirty="0" smtClean="0"/>
              <a:t>educe </a:t>
            </a:r>
            <a:r>
              <a:rPr lang="en-IN" dirty="0"/>
              <a:t>accelerator activity during processing and storage. </a:t>
            </a:r>
            <a:endParaRPr lang="en-IN" dirty="0" smtClean="0"/>
          </a:p>
          <a:p>
            <a:r>
              <a:rPr lang="en-IN" dirty="0" smtClean="0"/>
              <a:t>Prevent </a:t>
            </a:r>
            <a:r>
              <a:rPr lang="en-IN" dirty="0"/>
              <a:t>scorch during processing and prevulcanization during storage. </a:t>
            </a:r>
            <a:endParaRPr lang="en-IN" dirty="0" smtClean="0"/>
          </a:p>
          <a:p>
            <a:r>
              <a:rPr lang="en-IN" dirty="0" smtClean="0"/>
              <a:t>They </a:t>
            </a:r>
            <a:r>
              <a:rPr lang="en-IN" dirty="0"/>
              <a:t>should either decompose or not interfere with the accelerator during normal curing at elevated temperatures</a:t>
            </a:r>
            <a:r>
              <a:rPr lang="en-IN" dirty="0" smtClean="0"/>
              <a:t>.</a:t>
            </a:r>
          </a:p>
          <a:p>
            <a:r>
              <a:rPr lang="en-IN" dirty="0" smtClean="0"/>
              <a:t>Acts as organic </a:t>
            </a:r>
            <a:r>
              <a:rPr lang="en-IN" dirty="0"/>
              <a:t>acids that function by lowering the pH of the mixture, thus retarding vulcanization. </a:t>
            </a:r>
          </a:p>
          <a:p>
            <a:pPr marL="0" indent="0">
              <a:buNone/>
            </a:pPr>
            <a:r>
              <a:rPr lang="en-IN" dirty="0" smtClean="0"/>
              <a:t>Examples </a:t>
            </a:r>
          </a:p>
          <a:p>
            <a:pPr marL="0" indent="0">
              <a:buNone/>
            </a:pPr>
            <a:r>
              <a:rPr lang="en-IN" dirty="0" smtClean="0"/>
              <a:t>   Benzoic acid</a:t>
            </a:r>
          </a:p>
          <a:p>
            <a:pPr marL="0" indent="0">
              <a:buNone/>
            </a:pPr>
            <a:r>
              <a:rPr lang="en-IN" dirty="0" smtClean="0"/>
              <a:t>   </a:t>
            </a:r>
            <a:r>
              <a:rPr lang="en-IN" dirty="0" err="1" smtClean="0"/>
              <a:t>phthalic</a:t>
            </a:r>
            <a:r>
              <a:rPr lang="en-IN" dirty="0" smtClean="0"/>
              <a:t> </a:t>
            </a:r>
            <a:r>
              <a:rPr lang="en-IN" dirty="0"/>
              <a:t>anhydride (up to 2 </a:t>
            </a:r>
            <a:r>
              <a:rPr lang="en-IN" dirty="0" err="1"/>
              <a:t>phr</a:t>
            </a:r>
            <a:r>
              <a:rPr lang="en-IN" dirty="0" smtClean="0"/>
              <a:t>)</a:t>
            </a:r>
          </a:p>
          <a:p>
            <a:pPr marL="0" indent="0">
              <a:buNone/>
            </a:pPr>
            <a:r>
              <a:rPr lang="en-IN" dirty="0" smtClean="0"/>
              <a:t>   maleic acid</a:t>
            </a:r>
          </a:p>
          <a:p>
            <a:pPr marL="0" indent="0">
              <a:buNone/>
            </a:pPr>
            <a:r>
              <a:rPr lang="en-IN" dirty="0" smtClean="0"/>
              <a:t>  </a:t>
            </a:r>
            <a:r>
              <a:rPr lang="en-IN" dirty="0" err="1" smtClean="0"/>
              <a:t>Cyclohexylthiophthalimide</a:t>
            </a:r>
            <a:r>
              <a:rPr lang="en-IN" dirty="0" smtClean="0"/>
              <a:t> (CTP)</a:t>
            </a:r>
            <a:endParaRPr lang="en-IN" dirty="0"/>
          </a:p>
        </p:txBody>
      </p:sp>
    </p:spTree>
    <p:extLst>
      <p:ext uri="{BB962C8B-B14F-4D97-AF65-F5344CB8AC3E}">
        <p14:creationId xmlns:p14="http://schemas.microsoft.com/office/powerpoint/2010/main" val="1023245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Non- Sulphur Vulcanization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Peroxide Curing</a:t>
            </a:r>
          </a:p>
          <a:p>
            <a:pPr>
              <a:buFont typeface="Wingdings" panose="05000000000000000000" pitchFamily="2" charset="2"/>
              <a:buChar char="q"/>
            </a:pPr>
            <a:r>
              <a:rPr lang="en-IN" dirty="0" smtClean="0"/>
              <a:t>Metal oxide curing</a:t>
            </a:r>
          </a:p>
          <a:p>
            <a:pPr>
              <a:buFont typeface="Wingdings" panose="05000000000000000000" pitchFamily="2" charset="2"/>
              <a:buChar char="q"/>
            </a:pPr>
            <a:r>
              <a:rPr lang="en-IN" dirty="0" smtClean="0"/>
              <a:t>Resin curing</a:t>
            </a:r>
          </a:p>
          <a:p>
            <a:pPr>
              <a:buFont typeface="Wingdings" panose="05000000000000000000" pitchFamily="2" charset="2"/>
              <a:buChar char="q"/>
            </a:pPr>
            <a:r>
              <a:rPr lang="en-IN" dirty="0" smtClean="0"/>
              <a:t>Radiation curing</a:t>
            </a:r>
          </a:p>
        </p:txBody>
      </p:sp>
    </p:spTree>
    <p:extLst>
      <p:ext uri="{BB962C8B-B14F-4D97-AF65-F5344CB8AC3E}">
        <p14:creationId xmlns:p14="http://schemas.microsoft.com/office/powerpoint/2010/main" val="8212157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005" y="407705"/>
            <a:ext cx="10515600" cy="1325563"/>
          </a:xfrm>
        </p:spPr>
        <p:txBody>
          <a:bodyPr/>
          <a:lstStyle/>
          <a:p>
            <a:pPr algn="ctr"/>
            <a:r>
              <a:rPr lang="en-IN" dirty="0" smtClean="0"/>
              <a:t>Peroxide Curing</a:t>
            </a:r>
            <a:endParaRPr lang="en-IN" dirty="0"/>
          </a:p>
        </p:txBody>
      </p:sp>
      <p:sp>
        <p:nvSpPr>
          <p:cNvPr id="3" name="Content Placeholder 2"/>
          <p:cNvSpPr>
            <a:spLocks noGrp="1"/>
          </p:cNvSpPr>
          <p:nvPr>
            <p:ph idx="1"/>
          </p:nvPr>
        </p:nvSpPr>
        <p:spPr>
          <a:xfrm>
            <a:off x="797261" y="1351130"/>
            <a:ext cx="10515600" cy="4995081"/>
          </a:xfrm>
        </p:spPr>
        <p:txBody>
          <a:bodyPr>
            <a:normAutofit fontScale="92500" lnSpcReduction="10000"/>
          </a:bodyPr>
          <a:lstStyle/>
          <a:p>
            <a:pPr marL="0" indent="0">
              <a:buNone/>
            </a:pPr>
            <a:endParaRPr lang="en-IN" dirty="0" smtClean="0"/>
          </a:p>
          <a:p>
            <a:pPr>
              <a:buFont typeface="Wingdings" panose="05000000000000000000" pitchFamily="2" charset="2"/>
              <a:buChar char="q"/>
            </a:pPr>
            <a:r>
              <a:rPr lang="en-IN" dirty="0" smtClean="0"/>
              <a:t> </a:t>
            </a:r>
            <a:r>
              <a:rPr lang="en-IN" sz="2600" dirty="0" smtClean="0"/>
              <a:t>Curing saturated as well as unsaturated rubbers</a:t>
            </a:r>
          </a:p>
          <a:p>
            <a:pPr>
              <a:buFont typeface="Wingdings" panose="05000000000000000000" pitchFamily="2" charset="2"/>
              <a:buChar char="q"/>
            </a:pPr>
            <a:r>
              <a:rPr lang="en-IN" sz="2600" dirty="0" smtClean="0"/>
              <a:t>  Used for curing EPDM, Chlorinated PE, Hypalon, Silicone rubbers.</a:t>
            </a:r>
          </a:p>
          <a:p>
            <a:pPr>
              <a:buFont typeface="Wingdings" panose="05000000000000000000" pitchFamily="2" charset="2"/>
              <a:buChar char="q"/>
            </a:pPr>
            <a:endParaRPr lang="en-IN" sz="2600" dirty="0" smtClean="0"/>
          </a:p>
          <a:p>
            <a:pPr>
              <a:buFont typeface="Wingdings" panose="05000000000000000000" pitchFamily="2" charset="2"/>
              <a:buChar char="v"/>
            </a:pPr>
            <a:r>
              <a:rPr lang="en-IN" sz="2600" dirty="0" smtClean="0"/>
              <a:t>  Examples  </a:t>
            </a:r>
            <a:r>
              <a:rPr lang="en-IN" sz="2600" dirty="0"/>
              <a:t>- </a:t>
            </a:r>
            <a:r>
              <a:rPr lang="en-IN" sz="2600" dirty="0" err="1"/>
              <a:t>diacyl</a:t>
            </a:r>
            <a:r>
              <a:rPr lang="en-IN" sz="2600" dirty="0"/>
              <a:t> peroxides, </a:t>
            </a:r>
            <a:r>
              <a:rPr lang="en-IN" sz="2600" dirty="0" err="1"/>
              <a:t>dialkyl</a:t>
            </a:r>
            <a:r>
              <a:rPr lang="en-IN" sz="2600" dirty="0"/>
              <a:t> or </a:t>
            </a:r>
            <a:r>
              <a:rPr lang="en-IN" sz="2600" dirty="0" err="1"/>
              <a:t>diaralkyl</a:t>
            </a:r>
            <a:r>
              <a:rPr lang="en-IN" sz="2600" dirty="0"/>
              <a:t> peroxides, </a:t>
            </a:r>
            <a:r>
              <a:rPr lang="en-IN" sz="2600" dirty="0" err="1"/>
              <a:t>peresters</a:t>
            </a:r>
            <a:r>
              <a:rPr lang="en-IN" sz="2600" dirty="0"/>
              <a:t> and </a:t>
            </a:r>
            <a:r>
              <a:rPr lang="en-IN" sz="2600" dirty="0" err="1"/>
              <a:t>peroxyketals</a:t>
            </a:r>
            <a:endParaRPr lang="en-IN" sz="2600" dirty="0" smtClean="0"/>
          </a:p>
          <a:p>
            <a:pPr>
              <a:buFont typeface="Wingdings" panose="05000000000000000000" pitchFamily="2" charset="2"/>
              <a:buChar char="q"/>
            </a:pPr>
            <a:endParaRPr lang="en-IN" sz="2600" dirty="0" smtClean="0"/>
          </a:p>
          <a:p>
            <a:pPr>
              <a:buFont typeface="Wingdings" panose="05000000000000000000" pitchFamily="2" charset="2"/>
              <a:buChar char="q"/>
            </a:pPr>
            <a:r>
              <a:rPr lang="en-IN" sz="2600" dirty="0" smtClean="0"/>
              <a:t>  Curing takes place by thermal </a:t>
            </a:r>
            <a:r>
              <a:rPr lang="en-IN" sz="2600" dirty="0"/>
              <a:t>decomposition </a:t>
            </a:r>
            <a:r>
              <a:rPr lang="en-IN" sz="2600" dirty="0" smtClean="0"/>
              <a:t> into </a:t>
            </a:r>
            <a:r>
              <a:rPr lang="en-IN" sz="2600" dirty="0"/>
              <a:t>oxy and </a:t>
            </a:r>
            <a:r>
              <a:rPr lang="en-IN" sz="2600" dirty="0" err="1"/>
              <a:t>peroxy</a:t>
            </a:r>
            <a:r>
              <a:rPr lang="en-IN" sz="2600" dirty="0"/>
              <a:t> free </a:t>
            </a:r>
            <a:r>
              <a:rPr lang="en-IN" sz="2600" dirty="0" smtClean="0"/>
              <a:t>radicals and abstracting  </a:t>
            </a:r>
            <a:r>
              <a:rPr lang="en-IN" sz="2600" dirty="0"/>
              <a:t>hydrogen atoms from the saturated elastomer to generate elastomer chain radicals. </a:t>
            </a:r>
            <a:endParaRPr lang="en-IN" sz="2600" dirty="0" smtClean="0"/>
          </a:p>
          <a:p>
            <a:pPr>
              <a:buFont typeface="Wingdings" panose="05000000000000000000" pitchFamily="2" charset="2"/>
              <a:buChar char="q"/>
            </a:pPr>
            <a:endParaRPr lang="en-IN" sz="2600" dirty="0" smtClean="0"/>
          </a:p>
          <a:p>
            <a:pPr>
              <a:buFont typeface="Wingdings" panose="05000000000000000000" pitchFamily="2" charset="2"/>
              <a:buChar char="q"/>
            </a:pPr>
            <a:r>
              <a:rPr lang="en-IN" sz="2600" dirty="0" smtClean="0"/>
              <a:t> Cannot be </a:t>
            </a:r>
            <a:r>
              <a:rPr lang="en-IN" sz="2600" dirty="0"/>
              <a:t>used with butyl rubber because they cause chain scission and </a:t>
            </a:r>
            <a:r>
              <a:rPr lang="en-IN" sz="2600" dirty="0" smtClean="0"/>
              <a:t>depolymerisation.</a:t>
            </a:r>
          </a:p>
          <a:p>
            <a:endParaRPr lang="en-IN" dirty="0"/>
          </a:p>
        </p:txBody>
      </p:sp>
    </p:spTree>
    <p:extLst>
      <p:ext uri="{BB962C8B-B14F-4D97-AF65-F5344CB8AC3E}">
        <p14:creationId xmlns:p14="http://schemas.microsoft.com/office/powerpoint/2010/main" val="3926750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876921" y="1141208"/>
            <a:ext cx="5793121" cy="4107418"/>
          </a:xfrm>
          <a:prstGeom prst="rect">
            <a:avLst/>
          </a:prstGeom>
          <a:ln>
            <a:solidFill>
              <a:schemeClr val="bg1"/>
            </a:solidFill>
          </a:ln>
        </p:spPr>
      </p:pic>
    </p:spTree>
    <p:extLst>
      <p:ext uri="{BB962C8B-B14F-4D97-AF65-F5344CB8AC3E}">
        <p14:creationId xmlns:p14="http://schemas.microsoft.com/office/powerpoint/2010/main" val="3143957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Metal Oxide Curing</a:t>
            </a:r>
            <a:endParaRPr lang="en-IN" dirty="0"/>
          </a:p>
        </p:txBody>
      </p:sp>
      <p:sp>
        <p:nvSpPr>
          <p:cNvPr id="3" name="Content Placeholder 2"/>
          <p:cNvSpPr>
            <a:spLocks noGrp="1"/>
          </p:cNvSpPr>
          <p:nvPr>
            <p:ph idx="1"/>
          </p:nvPr>
        </p:nvSpPr>
        <p:spPr>
          <a:xfrm>
            <a:off x="1097280" y="1845734"/>
            <a:ext cx="10585204" cy="4023360"/>
          </a:xfrm>
        </p:spPr>
        <p:txBody>
          <a:bodyPr>
            <a:normAutofit fontScale="92500" lnSpcReduction="10000"/>
          </a:bodyPr>
          <a:lstStyle/>
          <a:p>
            <a:pPr marL="0" indent="0">
              <a:buNone/>
            </a:pPr>
            <a:endParaRPr lang="en-IN" dirty="0" smtClean="0"/>
          </a:p>
          <a:p>
            <a:pPr>
              <a:buFont typeface="Wingdings" panose="05000000000000000000" pitchFamily="2" charset="2"/>
              <a:buChar char="q"/>
            </a:pPr>
            <a:r>
              <a:rPr lang="en-IN" dirty="0" smtClean="0"/>
              <a:t> </a:t>
            </a:r>
            <a:r>
              <a:rPr lang="en-IN" sz="2600" dirty="0" smtClean="0"/>
              <a:t>Used for curing </a:t>
            </a:r>
            <a:r>
              <a:rPr lang="en-IN" sz="2600" dirty="0"/>
              <a:t>as </a:t>
            </a:r>
            <a:r>
              <a:rPr lang="en-IN" sz="2600" dirty="0" err="1"/>
              <a:t>polychloroprene</a:t>
            </a:r>
            <a:r>
              <a:rPr lang="en-IN" sz="2600" dirty="0"/>
              <a:t> </a:t>
            </a:r>
            <a:r>
              <a:rPr lang="en-IN" sz="2600" dirty="0" smtClean="0"/>
              <a:t>rubber (CR), halogenated butyl </a:t>
            </a:r>
            <a:r>
              <a:rPr lang="en-IN" sz="2600" dirty="0"/>
              <a:t>rubber, and </a:t>
            </a:r>
            <a:r>
              <a:rPr lang="en-IN" sz="2600" dirty="0" err="1" smtClean="0"/>
              <a:t>chlorosulfonated</a:t>
            </a:r>
            <a:r>
              <a:rPr lang="en-IN" sz="2600" dirty="0" smtClean="0"/>
              <a:t> </a:t>
            </a:r>
            <a:r>
              <a:rPr lang="en-IN" sz="2600" dirty="0"/>
              <a:t>polyethylene rubber</a:t>
            </a:r>
            <a:r>
              <a:rPr lang="en-IN" sz="2600" dirty="0" smtClean="0"/>
              <a:t>.</a:t>
            </a:r>
          </a:p>
          <a:p>
            <a:pPr>
              <a:buFont typeface="Wingdings" panose="05000000000000000000" pitchFamily="2" charset="2"/>
              <a:buChar char="q"/>
            </a:pPr>
            <a:endParaRPr lang="en-IN" sz="2600" dirty="0" smtClean="0"/>
          </a:p>
          <a:p>
            <a:pPr>
              <a:buFont typeface="Wingdings" panose="05000000000000000000" pitchFamily="2" charset="2"/>
              <a:buChar char="q"/>
            </a:pPr>
            <a:r>
              <a:rPr lang="en-IN" sz="2600" dirty="0" smtClean="0"/>
              <a:t> Curing agents - </a:t>
            </a:r>
            <a:r>
              <a:rPr lang="en-IN" sz="2600" dirty="0" err="1" smtClean="0"/>
              <a:t>ZnO</a:t>
            </a:r>
            <a:r>
              <a:rPr lang="en-IN" sz="2600" dirty="0"/>
              <a:t>, </a:t>
            </a:r>
            <a:r>
              <a:rPr lang="en-IN" sz="2600" dirty="0" err="1"/>
              <a:t>MgO</a:t>
            </a:r>
            <a:r>
              <a:rPr lang="en-IN" sz="2600" dirty="0"/>
              <a:t> and </a:t>
            </a:r>
            <a:r>
              <a:rPr lang="en-IN" sz="2600" dirty="0" smtClean="0"/>
              <a:t>Pb</a:t>
            </a:r>
            <a:r>
              <a:rPr lang="en-IN" sz="2600" baseline="-25000" dirty="0" smtClean="0"/>
              <a:t>2</a:t>
            </a:r>
            <a:r>
              <a:rPr lang="en-IN" sz="2600" dirty="0" smtClean="0"/>
              <a:t>O</a:t>
            </a:r>
            <a:r>
              <a:rPr lang="en-IN" sz="2600" baseline="-25000" dirty="0" smtClean="0"/>
              <a:t>3 </a:t>
            </a:r>
          </a:p>
          <a:p>
            <a:pPr>
              <a:buFont typeface="Wingdings" panose="05000000000000000000" pitchFamily="2" charset="2"/>
              <a:buChar char="q"/>
            </a:pPr>
            <a:endParaRPr lang="en-IN" sz="2600" dirty="0"/>
          </a:p>
          <a:p>
            <a:pPr>
              <a:buFont typeface="Wingdings" panose="05000000000000000000" pitchFamily="2" charset="2"/>
              <a:buChar char="q"/>
            </a:pPr>
            <a:r>
              <a:rPr lang="en-IN" sz="2600" dirty="0" smtClean="0"/>
              <a:t> </a:t>
            </a:r>
            <a:r>
              <a:rPr lang="en-IN" sz="2600" dirty="0"/>
              <a:t>M</a:t>
            </a:r>
            <a:r>
              <a:rPr lang="en-IN" sz="2600" dirty="0" smtClean="0"/>
              <a:t>ixtures </a:t>
            </a:r>
            <a:r>
              <a:rPr lang="en-IN" sz="2600" dirty="0"/>
              <a:t>of (</a:t>
            </a:r>
            <a:r>
              <a:rPr lang="en-IN" sz="2600" dirty="0" err="1"/>
              <a:t>ZnO</a:t>
            </a:r>
            <a:r>
              <a:rPr lang="en-IN" sz="2600" dirty="0"/>
              <a:t> and </a:t>
            </a:r>
            <a:r>
              <a:rPr lang="en-IN" sz="2600" dirty="0" err="1"/>
              <a:t>MgO</a:t>
            </a:r>
            <a:r>
              <a:rPr lang="en-IN" sz="2600" dirty="0"/>
              <a:t>) are used because </a:t>
            </a:r>
            <a:r>
              <a:rPr lang="en-IN" sz="2600" dirty="0" err="1"/>
              <a:t>ZnO</a:t>
            </a:r>
            <a:r>
              <a:rPr lang="en-IN" sz="2600" dirty="0"/>
              <a:t> alone is too </a:t>
            </a:r>
            <a:r>
              <a:rPr lang="en-IN" sz="2600" dirty="0" err="1"/>
              <a:t>scorchy</a:t>
            </a:r>
            <a:r>
              <a:rPr lang="en-IN" sz="2600" dirty="0"/>
              <a:t> </a:t>
            </a:r>
            <a:r>
              <a:rPr lang="en-IN" sz="2600" dirty="0" smtClean="0"/>
              <a:t>, </a:t>
            </a:r>
            <a:r>
              <a:rPr lang="en-IN" sz="2600" dirty="0" err="1" smtClean="0"/>
              <a:t>MgO</a:t>
            </a:r>
            <a:r>
              <a:rPr lang="en-IN" sz="2600" dirty="0" smtClean="0"/>
              <a:t> </a:t>
            </a:r>
            <a:r>
              <a:rPr lang="en-IN" sz="2600" dirty="0"/>
              <a:t>alone is inefficient</a:t>
            </a:r>
            <a:r>
              <a:rPr lang="en-IN" sz="2600" dirty="0" smtClean="0"/>
              <a:t>.</a:t>
            </a:r>
          </a:p>
          <a:p>
            <a:pPr>
              <a:buFont typeface="Wingdings" panose="05000000000000000000" pitchFamily="2" charset="2"/>
              <a:buChar char="q"/>
            </a:pPr>
            <a:endParaRPr lang="en-IN" sz="2600" dirty="0" smtClean="0"/>
          </a:p>
          <a:p>
            <a:pPr>
              <a:buFont typeface="Wingdings" panose="05000000000000000000" pitchFamily="2" charset="2"/>
              <a:buChar char="q"/>
            </a:pPr>
            <a:r>
              <a:rPr lang="en-IN" sz="2600" dirty="0" smtClean="0"/>
              <a:t> Zinc </a:t>
            </a:r>
            <a:r>
              <a:rPr lang="en-IN" sz="2600" dirty="0"/>
              <a:t>oxide and lead </a:t>
            </a:r>
            <a:r>
              <a:rPr lang="en-IN" sz="2600" dirty="0" smtClean="0"/>
              <a:t>oxide combination for </a:t>
            </a:r>
            <a:r>
              <a:rPr lang="en-IN" sz="2600" dirty="0"/>
              <a:t>improved water resistance. </a:t>
            </a:r>
            <a:endParaRPr lang="en-IN" sz="2600" dirty="0" smtClean="0"/>
          </a:p>
          <a:p>
            <a:pPr marL="0" indent="0">
              <a:buNone/>
            </a:pPr>
            <a:endParaRPr lang="en-IN" dirty="0"/>
          </a:p>
        </p:txBody>
      </p:sp>
    </p:spTree>
    <p:extLst>
      <p:ext uri="{BB962C8B-B14F-4D97-AF65-F5344CB8AC3E}">
        <p14:creationId xmlns:p14="http://schemas.microsoft.com/office/powerpoint/2010/main" val="38576465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9591"/>
            <a:ext cx="10515600" cy="1325563"/>
          </a:xfrm>
        </p:spPr>
        <p:txBody>
          <a:bodyPr/>
          <a:lstStyle/>
          <a:p>
            <a:pPr algn="ctr"/>
            <a:r>
              <a:rPr lang="en-IN" dirty="0" smtClean="0"/>
              <a:t>Resin Curing</a:t>
            </a:r>
            <a:endParaRPr lang="en-IN" dirty="0"/>
          </a:p>
        </p:txBody>
      </p:sp>
      <p:sp>
        <p:nvSpPr>
          <p:cNvPr id="3" name="Content Placeholder 2"/>
          <p:cNvSpPr>
            <a:spLocks noGrp="1"/>
          </p:cNvSpPr>
          <p:nvPr>
            <p:ph idx="1"/>
          </p:nvPr>
        </p:nvSpPr>
        <p:spPr>
          <a:xfrm>
            <a:off x="838200" y="1446663"/>
            <a:ext cx="10515600" cy="4730300"/>
          </a:xfrm>
        </p:spPr>
        <p:txBody>
          <a:bodyPr>
            <a:normAutofit/>
          </a:bodyPr>
          <a:lstStyle/>
          <a:p>
            <a:pPr>
              <a:buFont typeface="Wingdings" panose="05000000000000000000" pitchFamily="2" charset="2"/>
              <a:buChar char="q"/>
            </a:pPr>
            <a:r>
              <a:rPr lang="en-IN" dirty="0" smtClean="0"/>
              <a:t> </a:t>
            </a:r>
            <a:r>
              <a:rPr lang="en-IN" sz="2200" dirty="0" smtClean="0"/>
              <a:t>Used for curing unsaturated rubbers, used with butyl rubber for high temperature applications.</a:t>
            </a:r>
          </a:p>
          <a:p>
            <a:pPr>
              <a:buFont typeface="Wingdings" panose="05000000000000000000" pitchFamily="2" charset="2"/>
              <a:buChar char="q"/>
            </a:pPr>
            <a:r>
              <a:rPr lang="en-IN" sz="2200" dirty="0" smtClean="0"/>
              <a:t> Certain </a:t>
            </a:r>
            <a:r>
              <a:rPr lang="en-IN" sz="2200" dirty="0"/>
              <a:t>di-functional compounds form crosslinks with elastomers by reacting with two polymer molecules to form a bridge</a:t>
            </a:r>
            <a:r>
              <a:rPr lang="en-IN" sz="2200" dirty="0" smtClean="0"/>
              <a:t>.</a:t>
            </a:r>
          </a:p>
          <a:p>
            <a:pPr>
              <a:buFont typeface="Wingdings" panose="05000000000000000000" pitchFamily="2" charset="2"/>
              <a:buChar char="q"/>
            </a:pPr>
            <a:r>
              <a:rPr lang="en-IN" sz="2200" dirty="0" smtClean="0"/>
              <a:t> Resin </a:t>
            </a:r>
            <a:r>
              <a:rPr lang="en-IN" sz="2200" dirty="0"/>
              <a:t>cures are slower than accelerated sulphur cures and high temperatures are </a:t>
            </a:r>
            <a:r>
              <a:rPr lang="en-IN" sz="2200" dirty="0" smtClean="0"/>
              <a:t>required, </a:t>
            </a:r>
            <a:r>
              <a:rPr lang="en-IN" sz="2200" dirty="0"/>
              <a:t>activated only by zinc oxide and halogen </a:t>
            </a:r>
            <a:r>
              <a:rPr lang="en-IN" sz="2200" dirty="0" smtClean="0"/>
              <a:t>atoms (SnCl</a:t>
            </a:r>
            <a:r>
              <a:rPr lang="en-IN" sz="2200" baseline="-25000" dirty="0" smtClean="0"/>
              <a:t>2</a:t>
            </a:r>
            <a:r>
              <a:rPr lang="en-IN" sz="2200" dirty="0" smtClean="0"/>
              <a:t> ).</a:t>
            </a:r>
          </a:p>
          <a:p>
            <a:pPr>
              <a:buFont typeface="Wingdings" panose="05000000000000000000" pitchFamily="2" charset="2"/>
              <a:buChar char="q"/>
            </a:pPr>
            <a:r>
              <a:rPr lang="en-IN" sz="2200" dirty="0" smtClean="0"/>
              <a:t> Resin </a:t>
            </a:r>
            <a:r>
              <a:rPr lang="en-IN" sz="2200" dirty="0"/>
              <a:t>has got adhering </a:t>
            </a:r>
            <a:r>
              <a:rPr lang="en-IN" sz="2200" dirty="0" smtClean="0"/>
              <a:t>capacity, low </a:t>
            </a:r>
            <a:r>
              <a:rPr lang="en-IN" sz="2200" dirty="0"/>
              <a:t>molecular weight resin molecules diffuse into rubber </a:t>
            </a:r>
            <a:r>
              <a:rPr lang="en-IN" sz="2200" dirty="0" smtClean="0"/>
              <a:t>thereby </a:t>
            </a:r>
            <a:r>
              <a:rPr lang="en-IN" sz="2200" dirty="0"/>
              <a:t>stiffen the rubber.</a:t>
            </a:r>
          </a:p>
          <a:p>
            <a:pPr marL="0" indent="0">
              <a:buNone/>
            </a:pPr>
            <a:r>
              <a:rPr lang="en-IN" sz="2200" dirty="0" smtClean="0"/>
              <a:t>Examples  : </a:t>
            </a:r>
          </a:p>
          <a:p>
            <a:pPr marL="0" indent="0">
              <a:buNone/>
            </a:pPr>
            <a:r>
              <a:rPr lang="en-IN" sz="2200" dirty="0" smtClean="0"/>
              <a:t> 	Epoxy resins -  NBR</a:t>
            </a:r>
          </a:p>
          <a:p>
            <a:pPr marL="0" indent="0">
              <a:buNone/>
            </a:pPr>
            <a:r>
              <a:rPr lang="en-IN" sz="2200" dirty="0" smtClean="0"/>
              <a:t>	Quinone </a:t>
            </a:r>
            <a:r>
              <a:rPr lang="en-IN" sz="2200" dirty="0"/>
              <a:t>di-</a:t>
            </a:r>
            <a:r>
              <a:rPr lang="en-IN" sz="2200" dirty="0" err="1"/>
              <a:t>oximes</a:t>
            </a:r>
            <a:r>
              <a:rPr lang="en-IN" sz="2200" dirty="0"/>
              <a:t> and phenolic </a:t>
            </a:r>
            <a:r>
              <a:rPr lang="en-IN" sz="2200" dirty="0" smtClean="0"/>
              <a:t>resins -butyl rubbers</a:t>
            </a:r>
          </a:p>
          <a:p>
            <a:pPr marL="0" indent="0">
              <a:buNone/>
            </a:pPr>
            <a:r>
              <a:rPr lang="en-IN" sz="2200" dirty="0" smtClean="0"/>
              <a:t>	</a:t>
            </a:r>
            <a:r>
              <a:rPr lang="en-IN" sz="2200" dirty="0" err="1" smtClean="0"/>
              <a:t>dithiols</a:t>
            </a:r>
            <a:r>
              <a:rPr lang="en-IN" sz="2200" dirty="0" smtClean="0"/>
              <a:t> </a:t>
            </a:r>
            <a:r>
              <a:rPr lang="en-IN" sz="2200" dirty="0"/>
              <a:t>and </a:t>
            </a:r>
            <a:r>
              <a:rPr lang="en-IN" sz="2200" dirty="0" err="1"/>
              <a:t>diamines</a:t>
            </a:r>
            <a:r>
              <a:rPr lang="en-IN" sz="2200" dirty="0"/>
              <a:t>  </a:t>
            </a:r>
            <a:r>
              <a:rPr lang="en-IN" sz="2200" dirty="0" smtClean="0"/>
              <a:t>- fluorocarbon rubbers. </a:t>
            </a:r>
            <a:endParaRPr lang="en-IN" sz="2200" dirty="0"/>
          </a:p>
        </p:txBody>
      </p:sp>
    </p:spTree>
    <p:extLst>
      <p:ext uri="{BB962C8B-B14F-4D97-AF65-F5344CB8AC3E}">
        <p14:creationId xmlns:p14="http://schemas.microsoft.com/office/powerpoint/2010/main" val="917841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81714" y="700428"/>
            <a:ext cx="5228571" cy="5457143"/>
          </a:xfrm>
          <a:prstGeom prst="rect">
            <a:avLst/>
          </a:prstGeom>
        </p:spPr>
      </p:pic>
    </p:spTree>
    <p:extLst>
      <p:ext uri="{BB962C8B-B14F-4D97-AF65-F5344CB8AC3E}">
        <p14:creationId xmlns:p14="http://schemas.microsoft.com/office/powerpoint/2010/main" val="12725792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IN" dirty="0" smtClean="0"/>
              <a:t>Radiation Induced Crosslinking </a:t>
            </a:r>
            <a:br>
              <a:rPr lang="en-IN" dirty="0" smtClean="0"/>
            </a:br>
            <a:endParaRPr lang="en-IN" dirty="0"/>
          </a:p>
        </p:txBody>
      </p:sp>
      <p:sp>
        <p:nvSpPr>
          <p:cNvPr id="3" name="Content Placeholder 2"/>
          <p:cNvSpPr>
            <a:spLocks noGrp="1"/>
          </p:cNvSpPr>
          <p:nvPr>
            <p:ph idx="1"/>
          </p:nvPr>
        </p:nvSpPr>
        <p:spPr>
          <a:xfrm>
            <a:off x="838200" y="1388897"/>
            <a:ext cx="10515600" cy="4351338"/>
          </a:xfrm>
        </p:spPr>
        <p:txBody>
          <a:bodyPr>
            <a:normAutofit fontScale="92500" lnSpcReduction="10000"/>
          </a:bodyPr>
          <a:lstStyle/>
          <a:p>
            <a:pPr>
              <a:buFont typeface="Wingdings" panose="05000000000000000000" pitchFamily="2" charset="2"/>
              <a:buChar char="q"/>
            </a:pPr>
            <a:r>
              <a:rPr lang="en-IN" dirty="0"/>
              <a:t> </a:t>
            </a:r>
            <a:r>
              <a:rPr lang="en-IN" sz="2400" dirty="0"/>
              <a:t>P</a:t>
            </a:r>
            <a:r>
              <a:rPr lang="en-IN" sz="2400" dirty="0" smtClean="0"/>
              <a:t>hysically induced chemical reaction, which is easier and preferable for continuous curing.</a:t>
            </a:r>
          </a:p>
          <a:p>
            <a:pPr>
              <a:buFont typeface="Wingdings" panose="05000000000000000000" pitchFamily="2" charset="2"/>
              <a:buChar char="q"/>
            </a:pPr>
            <a:r>
              <a:rPr lang="en-IN" sz="2400" dirty="0" smtClean="0"/>
              <a:t> Includes </a:t>
            </a:r>
            <a:r>
              <a:rPr lang="en-IN" sz="2400" dirty="0"/>
              <a:t>electron beam crosslinking, photo-crosslinking, microwave crosslinking, ultrasonic crosslinking etc. </a:t>
            </a:r>
            <a:endParaRPr lang="en-IN" sz="2400" dirty="0" smtClean="0"/>
          </a:p>
          <a:p>
            <a:pPr>
              <a:buFont typeface="Wingdings" panose="05000000000000000000" pitchFamily="2" charset="2"/>
              <a:buChar char="q"/>
            </a:pPr>
            <a:r>
              <a:rPr lang="en-IN" sz="2400" dirty="0" smtClean="0"/>
              <a:t> Upon irradiation free radicals are formed in rubber molecules. </a:t>
            </a:r>
            <a:endParaRPr lang="en-IN" sz="2400" dirty="0"/>
          </a:p>
          <a:p>
            <a:pPr>
              <a:buFont typeface="Wingdings" panose="05000000000000000000" pitchFamily="2" charset="2"/>
              <a:buChar char="q"/>
            </a:pPr>
            <a:r>
              <a:rPr lang="en-IN" sz="2400" dirty="0" smtClean="0"/>
              <a:t> Free radicals can combine to form crosslinks as in the case with peroxide crosslinking.</a:t>
            </a:r>
          </a:p>
          <a:p>
            <a:pPr>
              <a:buFont typeface="Wingdings" panose="05000000000000000000" pitchFamily="2" charset="2"/>
              <a:buChar char="q"/>
            </a:pPr>
            <a:r>
              <a:rPr lang="en-IN" sz="2400" dirty="0"/>
              <a:t> </a:t>
            </a:r>
            <a:r>
              <a:rPr lang="en-IN" sz="2400" dirty="0" smtClean="0"/>
              <a:t> In radiation crosslinking of rubbers, kneaded rubber is placed in an aluminium die and is pressed at 100-200° C for 5-10 minutes, allowed to cool under pressure and then exposed to radiation.</a:t>
            </a:r>
          </a:p>
          <a:p>
            <a:pPr>
              <a:buFont typeface="Wingdings" panose="05000000000000000000" pitchFamily="2" charset="2"/>
              <a:buChar char="q"/>
            </a:pPr>
            <a:r>
              <a:rPr lang="en-IN" sz="2400" dirty="0"/>
              <a:t> U</a:t>
            </a:r>
            <a:r>
              <a:rPr lang="en-IN" sz="2400" dirty="0" smtClean="0"/>
              <a:t>se </a:t>
            </a:r>
            <a:r>
              <a:rPr lang="en-IN" sz="2400" dirty="0"/>
              <a:t>of sensitizers can reduce the required dose and radiation time. </a:t>
            </a:r>
            <a:endParaRPr lang="en-IN" sz="2400" dirty="0" smtClean="0"/>
          </a:p>
          <a:p>
            <a:pPr marL="0" indent="0">
              <a:buNone/>
            </a:pPr>
            <a:r>
              <a:rPr lang="en-IN" sz="2400" dirty="0"/>
              <a:t> </a:t>
            </a:r>
            <a:r>
              <a:rPr lang="en-IN" sz="2400" dirty="0" smtClean="0"/>
              <a:t>              Examples : Halogen </a:t>
            </a:r>
            <a:r>
              <a:rPr lang="en-IN" sz="2400" dirty="0"/>
              <a:t>compounds, nitrous oxide, sulphur </a:t>
            </a:r>
            <a:r>
              <a:rPr lang="en-IN" sz="2400" dirty="0" err="1"/>
              <a:t>monochloride</a:t>
            </a:r>
            <a:r>
              <a:rPr lang="en-IN" sz="2400" dirty="0"/>
              <a:t> and bases like amine, ammonia etc. </a:t>
            </a:r>
          </a:p>
        </p:txBody>
      </p:sp>
    </p:spTree>
    <p:extLst>
      <p:ext uri="{BB962C8B-B14F-4D97-AF65-F5344CB8AC3E}">
        <p14:creationId xmlns:p14="http://schemas.microsoft.com/office/powerpoint/2010/main" val="26297427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1412"/>
          </a:xfrm>
        </p:spPr>
        <p:txBody>
          <a:bodyPr/>
          <a:lstStyle/>
          <a:p>
            <a:pPr algn="ctr"/>
            <a:r>
              <a:rPr lang="en-IN" dirty="0" smtClean="0"/>
              <a:t>Antidegradants</a:t>
            </a:r>
            <a:endParaRPr lang="en-IN" dirty="0"/>
          </a:p>
        </p:txBody>
      </p:sp>
      <p:sp>
        <p:nvSpPr>
          <p:cNvPr id="3" name="Content Placeholder 2"/>
          <p:cNvSpPr>
            <a:spLocks noGrp="1"/>
          </p:cNvSpPr>
          <p:nvPr>
            <p:ph idx="1"/>
          </p:nvPr>
        </p:nvSpPr>
        <p:spPr>
          <a:xfrm>
            <a:off x="838200" y="1419367"/>
            <a:ext cx="10515600" cy="4757596"/>
          </a:xfrm>
        </p:spPr>
        <p:txBody>
          <a:bodyPr>
            <a:normAutofit/>
          </a:bodyPr>
          <a:lstStyle/>
          <a:p>
            <a:endParaRPr lang="en-IN" dirty="0"/>
          </a:p>
          <a:p>
            <a:endParaRPr lang="en-IN" dirty="0" smtClean="0"/>
          </a:p>
          <a:p>
            <a:endParaRPr lang="en-IN" dirty="0"/>
          </a:p>
          <a:p>
            <a:endParaRPr lang="en-IN" dirty="0" smtClean="0"/>
          </a:p>
          <a:p>
            <a:pPr marL="0" indent="0">
              <a:buNone/>
            </a:pPr>
            <a:endParaRPr lang="en-IN" dirty="0" smtClean="0"/>
          </a:p>
          <a:p>
            <a:pPr marL="0" indent="0">
              <a:buNone/>
            </a:pPr>
            <a:r>
              <a:rPr lang="en-IN" dirty="0"/>
              <a:t> </a:t>
            </a:r>
            <a:endParaRPr lang="en-IN" dirty="0" smtClean="0"/>
          </a:p>
          <a:p>
            <a:endParaRPr lang="en-IN" dirty="0"/>
          </a:p>
        </p:txBody>
      </p:sp>
      <p:graphicFrame>
        <p:nvGraphicFramePr>
          <p:cNvPr id="4" name="Diagram 3"/>
          <p:cNvGraphicFramePr/>
          <p:nvPr>
            <p:extLst>
              <p:ext uri="{D42A27DB-BD31-4B8C-83A1-F6EECF244321}">
                <p14:modId xmlns:p14="http://schemas.microsoft.com/office/powerpoint/2010/main" val="1901515285"/>
              </p:ext>
            </p:extLst>
          </p:nvPr>
        </p:nvGraphicFramePr>
        <p:xfrm>
          <a:off x="838200" y="898016"/>
          <a:ext cx="10735101" cy="3425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1097508" y="4442012"/>
            <a:ext cx="10980760" cy="1292662"/>
          </a:xfrm>
          <a:prstGeom prst="rect">
            <a:avLst/>
          </a:prstGeom>
        </p:spPr>
        <p:txBody>
          <a:bodyPr wrap="square">
            <a:spAutoFit/>
          </a:bodyPr>
          <a:lstStyle/>
          <a:p>
            <a:r>
              <a:rPr lang="en-IN" sz="2400" b="1" dirty="0" smtClean="0"/>
              <a:t>Factors affecting degradation</a:t>
            </a:r>
          </a:p>
          <a:p>
            <a:pPr marL="285750" indent="-285750">
              <a:buFont typeface="Arial" panose="020B0604020202020204" pitchFamily="34" charset="0"/>
              <a:buChar char="•"/>
            </a:pPr>
            <a:r>
              <a:rPr lang="en-IN" dirty="0" smtClean="0"/>
              <a:t>External </a:t>
            </a:r>
            <a:r>
              <a:rPr lang="en-IN" dirty="0"/>
              <a:t>factors – oxygen, ozone, pro-oxidants, heat, light and fatigue </a:t>
            </a:r>
          </a:p>
          <a:p>
            <a:pPr marL="285750" indent="-285750">
              <a:buFont typeface="Arial" panose="020B0604020202020204" pitchFamily="34" charset="0"/>
              <a:buChar char="•"/>
            </a:pPr>
            <a:r>
              <a:rPr lang="en-IN" dirty="0"/>
              <a:t>Internal factors – type of rubber, degree and type of vulcanization accelerators used, compounding ingredients and protective agents</a:t>
            </a:r>
          </a:p>
        </p:txBody>
      </p:sp>
    </p:spTree>
    <p:extLst>
      <p:ext uri="{BB962C8B-B14F-4D97-AF65-F5344CB8AC3E}">
        <p14:creationId xmlns:p14="http://schemas.microsoft.com/office/powerpoint/2010/main" val="39232835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9466"/>
            <a:ext cx="10515600" cy="740344"/>
          </a:xfrm>
        </p:spPr>
        <p:txBody>
          <a:bodyPr/>
          <a:lstStyle/>
          <a:p>
            <a:pPr algn="ctr"/>
            <a:r>
              <a:rPr lang="en-IN" dirty="0" smtClean="0"/>
              <a:t>Factors contributing to degradation</a:t>
            </a:r>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745192257"/>
              </p:ext>
            </p:extLst>
          </p:nvPr>
        </p:nvGraphicFramePr>
        <p:xfrm>
          <a:off x="286604" y="928037"/>
          <a:ext cx="11408391" cy="5668527"/>
        </p:xfrm>
        <a:graphic>
          <a:graphicData uri="http://schemas.openxmlformats.org/drawingml/2006/table">
            <a:tbl>
              <a:tblPr firstRow="1" bandRow="1">
                <a:tableStyleId>{5C22544A-7EE6-4342-B048-85BDC9FD1C3A}</a:tableStyleId>
              </a:tblPr>
              <a:tblGrid>
                <a:gridCol w="1624083"/>
                <a:gridCol w="5981511"/>
                <a:gridCol w="3802797"/>
              </a:tblGrid>
              <a:tr h="914400">
                <a:tc>
                  <a:txBody>
                    <a:bodyPr/>
                    <a:lstStyle/>
                    <a:p>
                      <a:r>
                        <a:rPr lang="en-IN" sz="1600" b="0" dirty="0" smtClean="0">
                          <a:solidFill>
                            <a:schemeClr val="accent6">
                              <a:lumMod val="50000"/>
                            </a:schemeClr>
                          </a:solidFill>
                        </a:rPr>
                        <a:t>Oxygen</a:t>
                      </a:r>
                      <a:endParaRPr lang="en-IN" sz="1600" b="0" dirty="0">
                        <a:solidFill>
                          <a:schemeClr val="accent6">
                            <a:lumMod val="50000"/>
                          </a:schemeClr>
                        </a:solidFill>
                      </a:endParaRPr>
                    </a:p>
                  </a:txBody>
                  <a:tcPr/>
                </a:tc>
                <a:tc gridSpan="2">
                  <a:txBody>
                    <a:bodyPr/>
                    <a:lstStyle/>
                    <a:p>
                      <a:r>
                        <a:rPr lang="en-IN" sz="1600" b="0" dirty="0" smtClean="0">
                          <a:solidFill>
                            <a:schemeClr val="accent6">
                              <a:lumMod val="50000"/>
                            </a:schemeClr>
                          </a:solidFill>
                        </a:rPr>
                        <a:t>Mode of attack oxygen on unvulcanised rubber is different from vulcanized rubber.</a:t>
                      </a:r>
                    </a:p>
                    <a:p>
                      <a:pPr marL="285750" indent="-285750">
                        <a:buFont typeface="Wingdings" panose="05000000000000000000" pitchFamily="2" charset="2"/>
                        <a:buChar char="ü"/>
                      </a:pPr>
                      <a:r>
                        <a:rPr lang="en-IN" sz="1600" b="0" dirty="0" smtClean="0">
                          <a:solidFill>
                            <a:schemeClr val="accent6">
                              <a:lumMod val="50000"/>
                            </a:schemeClr>
                          </a:solidFill>
                        </a:rPr>
                        <a:t> Unvulcanised stock – initial induction period   followed by rapid up-take of oxygen</a:t>
                      </a:r>
                    </a:p>
                    <a:p>
                      <a:pPr marL="285750" indent="-285750">
                        <a:buFont typeface="Wingdings" panose="05000000000000000000" pitchFamily="2" charset="2"/>
                        <a:buChar char="ü"/>
                      </a:pPr>
                      <a:r>
                        <a:rPr lang="en-IN" sz="1600" b="0" dirty="0" smtClean="0">
                          <a:solidFill>
                            <a:schemeClr val="accent6">
                              <a:lumMod val="50000"/>
                            </a:schemeClr>
                          </a:solidFill>
                        </a:rPr>
                        <a:t>Vulcanised stock- no induction period</a:t>
                      </a:r>
                      <a:endParaRPr lang="en-IN" sz="1600" b="0" dirty="0">
                        <a:solidFill>
                          <a:schemeClr val="accent6">
                            <a:lumMod val="50000"/>
                          </a:schemeClr>
                        </a:solidFill>
                      </a:endParaRPr>
                    </a:p>
                  </a:txBody>
                  <a:tcPr/>
                </a:tc>
                <a:tc hMerge="1">
                  <a:txBody>
                    <a:bodyPr/>
                    <a:lstStyle/>
                    <a:p>
                      <a:endParaRPr lang="en-IN" dirty="0"/>
                    </a:p>
                  </a:txBody>
                  <a:tcPr/>
                </a:tc>
              </a:tr>
              <a:tr h="655092">
                <a:tc>
                  <a:txBody>
                    <a:bodyPr/>
                    <a:lstStyle/>
                    <a:p>
                      <a:r>
                        <a:rPr lang="en-IN" sz="1600" b="0" dirty="0" smtClean="0">
                          <a:solidFill>
                            <a:schemeClr val="accent6">
                              <a:lumMod val="50000"/>
                            </a:schemeClr>
                          </a:solidFill>
                        </a:rPr>
                        <a:t>Pro-oxidants</a:t>
                      </a:r>
                      <a:endParaRPr lang="en-IN" sz="1600" b="0" dirty="0">
                        <a:solidFill>
                          <a:schemeClr val="accent6">
                            <a:lumMod val="50000"/>
                          </a:schemeClr>
                        </a:solidFill>
                      </a:endParaRPr>
                    </a:p>
                  </a:txBody>
                  <a:tcPr/>
                </a:tc>
                <a:tc gridSpan="2">
                  <a:txBody>
                    <a:bodyPr/>
                    <a:lstStyle/>
                    <a:p>
                      <a:pPr marL="285750" indent="-285750">
                        <a:buFont typeface="Wingdings" panose="05000000000000000000" pitchFamily="2" charset="2"/>
                        <a:buChar char="ü"/>
                      </a:pPr>
                      <a:r>
                        <a:rPr lang="en-IN" sz="1600" b="0" dirty="0" smtClean="0">
                          <a:solidFill>
                            <a:schemeClr val="accent6">
                              <a:lumMod val="50000"/>
                            </a:schemeClr>
                          </a:solidFill>
                        </a:rPr>
                        <a:t>Cu</a:t>
                      </a:r>
                      <a:r>
                        <a:rPr lang="en-IN" sz="1600" b="0" baseline="0" dirty="0" smtClean="0">
                          <a:solidFill>
                            <a:schemeClr val="accent6">
                              <a:lumMod val="50000"/>
                            </a:schemeClr>
                          </a:solidFill>
                        </a:rPr>
                        <a:t> , </a:t>
                      </a:r>
                      <a:r>
                        <a:rPr lang="en-IN" sz="1600" b="0" baseline="0" dirty="0" err="1" smtClean="0">
                          <a:solidFill>
                            <a:schemeClr val="accent6">
                              <a:lumMod val="50000"/>
                            </a:schemeClr>
                          </a:solidFill>
                        </a:rPr>
                        <a:t>Mn</a:t>
                      </a:r>
                      <a:r>
                        <a:rPr lang="en-IN" sz="1600" b="0" baseline="0" dirty="0" smtClean="0">
                          <a:solidFill>
                            <a:schemeClr val="accent6">
                              <a:lumMod val="50000"/>
                            </a:schemeClr>
                          </a:solidFill>
                        </a:rPr>
                        <a:t>,  Co, Ni and Iron  ( increase the rate of oxygen attack) in NR ; Iron – SBR</a:t>
                      </a:r>
                    </a:p>
                    <a:p>
                      <a:pPr marL="285750" indent="-285750">
                        <a:buFont typeface="Wingdings" panose="05000000000000000000" pitchFamily="2" charset="2"/>
                        <a:buChar char="ü"/>
                      </a:pPr>
                      <a:r>
                        <a:rPr lang="en-IN" sz="1600" b="0" baseline="0" dirty="0" smtClean="0">
                          <a:solidFill>
                            <a:schemeClr val="accent6">
                              <a:lumMod val="50000"/>
                            </a:schemeClr>
                          </a:solidFill>
                        </a:rPr>
                        <a:t>Cu salts – increases rate of chain scission ; Co salts – increases rate of crosslinking</a:t>
                      </a:r>
                      <a:endParaRPr lang="en-IN" sz="1600" b="0" dirty="0">
                        <a:solidFill>
                          <a:schemeClr val="accent6">
                            <a:lumMod val="50000"/>
                          </a:schemeClr>
                        </a:solidFill>
                      </a:endParaRPr>
                    </a:p>
                  </a:txBody>
                  <a:tcPr/>
                </a:tc>
                <a:tc hMerge="1">
                  <a:txBody>
                    <a:bodyPr/>
                    <a:lstStyle/>
                    <a:p>
                      <a:endParaRPr lang="en-IN" dirty="0"/>
                    </a:p>
                  </a:txBody>
                  <a:tcPr/>
                </a:tc>
              </a:tr>
              <a:tr h="1542208">
                <a:tc>
                  <a:txBody>
                    <a:bodyPr/>
                    <a:lstStyle/>
                    <a:p>
                      <a:r>
                        <a:rPr lang="en-IN" sz="1600" b="0" dirty="0" smtClean="0">
                          <a:solidFill>
                            <a:schemeClr val="accent6">
                              <a:lumMod val="50000"/>
                            </a:schemeClr>
                          </a:solidFill>
                        </a:rPr>
                        <a:t>Ozone</a:t>
                      </a:r>
                      <a:endParaRPr lang="en-IN" sz="1600" b="0" dirty="0">
                        <a:solidFill>
                          <a:schemeClr val="accent6">
                            <a:lumMod val="50000"/>
                          </a:schemeClr>
                        </a:solidFill>
                      </a:endParaRPr>
                    </a:p>
                  </a:txBody>
                  <a:tcPr/>
                </a:tc>
                <a:tc gridSpan="2">
                  <a:txBody>
                    <a:bodyPr/>
                    <a:lstStyle/>
                    <a:p>
                      <a:pPr marL="285750" indent="-285750">
                        <a:buFont typeface="Wingdings" panose="05000000000000000000" pitchFamily="2" charset="2"/>
                        <a:buChar char="ü"/>
                      </a:pPr>
                      <a:r>
                        <a:rPr lang="en-IN" sz="1600" b="0" dirty="0" smtClean="0">
                          <a:solidFill>
                            <a:schemeClr val="accent6">
                              <a:lumMod val="50000"/>
                            </a:schemeClr>
                          </a:solidFill>
                        </a:rPr>
                        <a:t>Ozone concentration in atmosphere 0-6 ppm</a:t>
                      </a:r>
                    </a:p>
                    <a:p>
                      <a:pPr marL="285750" indent="-285750">
                        <a:buFont typeface="Wingdings" panose="05000000000000000000" pitchFamily="2" charset="2"/>
                        <a:buChar char="ü"/>
                      </a:pPr>
                      <a:r>
                        <a:rPr lang="en-IN" sz="1600" b="0" dirty="0" smtClean="0">
                          <a:solidFill>
                            <a:schemeClr val="accent6">
                              <a:lumMod val="50000"/>
                            </a:schemeClr>
                          </a:solidFill>
                        </a:rPr>
                        <a:t>Ozone reacts with unsaturated rubber forming</a:t>
                      </a:r>
                      <a:r>
                        <a:rPr lang="en-IN" sz="1600" b="0" baseline="0" dirty="0" smtClean="0">
                          <a:solidFill>
                            <a:schemeClr val="accent6">
                              <a:lumMod val="50000"/>
                            </a:schemeClr>
                          </a:solidFill>
                        </a:rPr>
                        <a:t> </a:t>
                      </a:r>
                      <a:r>
                        <a:rPr lang="en-IN" sz="1600" b="0" dirty="0" err="1" smtClean="0">
                          <a:solidFill>
                            <a:schemeClr val="accent6">
                              <a:lumMod val="50000"/>
                            </a:schemeClr>
                          </a:solidFill>
                        </a:rPr>
                        <a:t>ozonides</a:t>
                      </a:r>
                      <a:r>
                        <a:rPr lang="en-IN" sz="1600" b="0" dirty="0" smtClean="0">
                          <a:solidFill>
                            <a:schemeClr val="accent6">
                              <a:lumMod val="50000"/>
                            </a:schemeClr>
                          </a:solidFill>
                        </a:rPr>
                        <a:t> which decompose into products</a:t>
                      </a:r>
                      <a:r>
                        <a:rPr lang="en-IN" sz="1600" b="0" baseline="0" dirty="0" smtClean="0">
                          <a:solidFill>
                            <a:schemeClr val="accent6">
                              <a:lumMod val="50000"/>
                            </a:schemeClr>
                          </a:solidFill>
                        </a:rPr>
                        <a:t> of lower molecular weight</a:t>
                      </a:r>
                    </a:p>
                    <a:p>
                      <a:pPr marL="0" indent="0">
                        <a:buFont typeface="Wingdings" panose="05000000000000000000" pitchFamily="2" charset="2"/>
                        <a:buNone/>
                      </a:pPr>
                      <a:r>
                        <a:rPr lang="en-IN" sz="1600" b="0" baseline="0" dirty="0" smtClean="0">
                          <a:solidFill>
                            <a:schemeClr val="accent6">
                              <a:lumMod val="50000"/>
                            </a:schemeClr>
                          </a:solidFill>
                        </a:rPr>
                        <a:t>Ozone degradation occurs in two ways</a:t>
                      </a:r>
                    </a:p>
                    <a:p>
                      <a:pPr marL="285750" indent="-285750">
                        <a:buFont typeface="Wingdings" panose="05000000000000000000" pitchFamily="2" charset="2"/>
                        <a:buChar char="§"/>
                      </a:pPr>
                      <a:r>
                        <a:rPr lang="en-IN" sz="1600" b="0" baseline="0" dirty="0" smtClean="0">
                          <a:solidFill>
                            <a:schemeClr val="accent6">
                              <a:lumMod val="50000"/>
                            </a:schemeClr>
                          </a:solidFill>
                        </a:rPr>
                        <a:t>In rubber under stress cracks appear perpendicular to stress</a:t>
                      </a:r>
                    </a:p>
                    <a:p>
                      <a:pPr marL="285750" indent="-285750">
                        <a:buFont typeface="Wingdings" panose="05000000000000000000" pitchFamily="2" charset="2"/>
                        <a:buChar char="§"/>
                      </a:pPr>
                      <a:r>
                        <a:rPr lang="en-IN" sz="1600" b="0" baseline="0" dirty="0" smtClean="0">
                          <a:solidFill>
                            <a:schemeClr val="accent6">
                              <a:lumMod val="50000"/>
                            </a:schemeClr>
                          </a:solidFill>
                        </a:rPr>
                        <a:t>In unstressed rubber , silvery film appears on the surface of the article in hot humid weather</a:t>
                      </a:r>
                      <a:endParaRPr lang="en-IN" sz="1600" b="0" dirty="0">
                        <a:solidFill>
                          <a:schemeClr val="accent6">
                            <a:lumMod val="50000"/>
                          </a:schemeClr>
                        </a:solidFill>
                      </a:endParaRPr>
                    </a:p>
                  </a:txBody>
                  <a:tcPr/>
                </a:tc>
                <a:tc hMerge="1">
                  <a:txBody>
                    <a:bodyPr/>
                    <a:lstStyle/>
                    <a:p>
                      <a:endParaRPr lang="en-IN" dirty="0"/>
                    </a:p>
                  </a:txBody>
                  <a:tcPr/>
                </a:tc>
              </a:tr>
              <a:tr h="410955">
                <a:tc>
                  <a:txBody>
                    <a:bodyPr/>
                    <a:lstStyle/>
                    <a:p>
                      <a:r>
                        <a:rPr lang="en-IN" sz="1600" b="0" dirty="0" smtClean="0">
                          <a:solidFill>
                            <a:schemeClr val="accent6">
                              <a:lumMod val="50000"/>
                            </a:schemeClr>
                          </a:solidFill>
                        </a:rPr>
                        <a:t>Heat</a:t>
                      </a:r>
                      <a:endParaRPr lang="en-IN" sz="1600" b="0" dirty="0">
                        <a:solidFill>
                          <a:schemeClr val="accent6">
                            <a:lumMod val="50000"/>
                          </a:schemeClr>
                        </a:solidFill>
                      </a:endParaRPr>
                    </a:p>
                  </a:txBody>
                  <a:tcPr/>
                </a:tc>
                <a:tc gridSpan="2">
                  <a:txBody>
                    <a:bodyPr/>
                    <a:lstStyle/>
                    <a:p>
                      <a:r>
                        <a:rPr lang="en-IN" sz="1600" b="0" dirty="0" smtClean="0">
                          <a:solidFill>
                            <a:schemeClr val="accent6">
                              <a:lumMod val="50000"/>
                            </a:schemeClr>
                          </a:solidFill>
                        </a:rPr>
                        <a:t>Combination of crosslinking and increase in rate of oxidation</a:t>
                      </a:r>
                      <a:endParaRPr lang="en-IN" sz="1600" b="0" dirty="0">
                        <a:solidFill>
                          <a:schemeClr val="accent6">
                            <a:lumMod val="50000"/>
                          </a:schemeClr>
                        </a:solidFill>
                      </a:endParaRPr>
                    </a:p>
                  </a:txBody>
                  <a:tcPr/>
                </a:tc>
                <a:tc hMerge="1">
                  <a:txBody>
                    <a:bodyPr/>
                    <a:lstStyle/>
                    <a:p>
                      <a:endParaRPr lang="en-IN" dirty="0"/>
                    </a:p>
                  </a:txBody>
                  <a:tcPr/>
                </a:tc>
              </a:tr>
              <a:tr h="410955">
                <a:tc>
                  <a:txBody>
                    <a:bodyPr/>
                    <a:lstStyle/>
                    <a:p>
                      <a:r>
                        <a:rPr lang="en-IN" sz="1600" b="0" dirty="0" smtClean="0">
                          <a:solidFill>
                            <a:schemeClr val="accent6">
                              <a:lumMod val="50000"/>
                            </a:schemeClr>
                          </a:solidFill>
                        </a:rPr>
                        <a:t>Fatigue</a:t>
                      </a:r>
                      <a:endParaRPr lang="en-IN" sz="1600" b="0" dirty="0">
                        <a:solidFill>
                          <a:schemeClr val="accent6">
                            <a:lumMod val="50000"/>
                          </a:schemeClr>
                        </a:solidFill>
                      </a:endParaRPr>
                    </a:p>
                  </a:txBody>
                  <a:tcPr/>
                </a:tc>
                <a:tc>
                  <a:txBody>
                    <a:bodyPr/>
                    <a:lstStyle/>
                    <a:p>
                      <a:r>
                        <a:rPr lang="en-IN" sz="1600" b="0" dirty="0" smtClean="0">
                          <a:solidFill>
                            <a:schemeClr val="accent6">
                              <a:lumMod val="50000"/>
                            </a:schemeClr>
                          </a:solidFill>
                        </a:rPr>
                        <a:t>Weakening of rubber due to continuously repeated distortions</a:t>
                      </a:r>
                    </a:p>
                    <a:p>
                      <a:r>
                        <a:rPr lang="en-IN" sz="1600" b="0" dirty="0" smtClean="0">
                          <a:solidFill>
                            <a:schemeClr val="accent6">
                              <a:lumMod val="50000"/>
                            </a:schemeClr>
                          </a:solidFill>
                        </a:rPr>
                        <a:t>Cause</a:t>
                      </a:r>
                      <a:r>
                        <a:rPr lang="en-IN" sz="1600" b="0" baseline="0" dirty="0" smtClean="0">
                          <a:solidFill>
                            <a:schemeClr val="accent6">
                              <a:lumMod val="50000"/>
                            </a:schemeClr>
                          </a:solidFill>
                        </a:rPr>
                        <a:t> of failure due to :</a:t>
                      </a:r>
                    </a:p>
                    <a:p>
                      <a:pPr marL="285750" indent="-285750">
                        <a:buFont typeface="Wingdings" panose="05000000000000000000" pitchFamily="2" charset="2"/>
                        <a:buChar char="ü"/>
                      </a:pPr>
                      <a:r>
                        <a:rPr lang="en-IN" sz="1600" b="0" baseline="0" dirty="0" smtClean="0">
                          <a:solidFill>
                            <a:schemeClr val="accent6">
                              <a:lumMod val="50000"/>
                            </a:schemeClr>
                          </a:solidFill>
                        </a:rPr>
                        <a:t>Stress breaking of chain or cross links</a:t>
                      </a:r>
                    </a:p>
                    <a:p>
                      <a:pPr marL="285750" indent="-285750">
                        <a:buFont typeface="Wingdings" panose="05000000000000000000" pitchFamily="2" charset="2"/>
                        <a:buChar char="ü"/>
                      </a:pPr>
                      <a:r>
                        <a:rPr lang="en-IN" sz="1600" b="0" baseline="0" dirty="0" smtClean="0">
                          <a:solidFill>
                            <a:schemeClr val="accent6">
                              <a:lumMod val="50000"/>
                            </a:schemeClr>
                          </a:solidFill>
                        </a:rPr>
                        <a:t>Oxidation accelerated by heat build p in flexing </a:t>
                      </a:r>
                      <a:endParaRPr lang="en-IN" sz="1600" b="0" dirty="0">
                        <a:solidFill>
                          <a:schemeClr val="accent6">
                            <a:lumMod val="50000"/>
                          </a:schemeClr>
                        </a:solidFill>
                      </a:endParaRPr>
                    </a:p>
                  </a:txBody>
                  <a:tcPr/>
                </a:tc>
                <a:tc>
                  <a:txBody>
                    <a:bodyPr/>
                    <a:lstStyle/>
                    <a:p>
                      <a:endParaRPr lang="en-IN" sz="1600" b="0" dirty="0">
                        <a:solidFill>
                          <a:schemeClr val="accent6">
                            <a:lumMod val="50000"/>
                          </a:schemeClr>
                        </a:solidFill>
                      </a:endParaRPr>
                    </a:p>
                  </a:txBody>
                  <a:tcPr/>
                </a:tc>
              </a:tr>
              <a:tr h="410955">
                <a:tc>
                  <a:txBody>
                    <a:bodyPr/>
                    <a:lstStyle/>
                    <a:p>
                      <a:r>
                        <a:rPr lang="en-IN" sz="1600" b="0" dirty="0" smtClean="0">
                          <a:solidFill>
                            <a:schemeClr val="accent6">
                              <a:lumMod val="50000"/>
                            </a:schemeClr>
                          </a:solidFill>
                        </a:rPr>
                        <a:t>Light and weathering ( UV radiation)</a:t>
                      </a:r>
                      <a:endParaRPr lang="en-IN" sz="1600" b="0" dirty="0">
                        <a:solidFill>
                          <a:schemeClr val="accent6">
                            <a:lumMod val="50000"/>
                          </a:schemeClr>
                        </a:solidFill>
                      </a:endParaRPr>
                    </a:p>
                  </a:txBody>
                  <a:tcPr/>
                </a:tc>
                <a:tc gridSpan="2">
                  <a:txBody>
                    <a:bodyPr/>
                    <a:lstStyle/>
                    <a:p>
                      <a:r>
                        <a:rPr lang="en-IN" sz="1600" b="0" dirty="0" smtClean="0">
                          <a:solidFill>
                            <a:schemeClr val="accent6">
                              <a:lumMod val="50000"/>
                            </a:schemeClr>
                          </a:solidFill>
                        </a:rPr>
                        <a:t>Light promotes action of oxygen at the surface producing a film of oxidised rubber</a:t>
                      </a:r>
                    </a:p>
                    <a:p>
                      <a:r>
                        <a:rPr lang="en-IN" sz="1600" b="0" dirty="0" smtClean="0">
                          <a:solidFill>
                            <a:schemeClr val="accent6">
                              <a:lumMod val="50000"/>
                            </a:schemeClr>
                          </a:solidFill>
                        </a:rPr>
                        <a:t>Oxidised</a:t>
                      </a:r>
                      <a:r>
                        <a:rPr lang="en-IN" sz="1600" b="0" baseline="0" dirty="0" smtClean="0">
                          <a:solidFill>
                            <a:schemeClr val="accent6">
                              <a:lumMod val="50000"/>
                            </a:schemeClr>
                          </a:solidFill>
                        </a:rPr>
                        <a:t> film reacts with water vapour and heat to produce crazing (fine cracks), exposing filler by washing of the oxidised layer</a:t>
                      </a:r>
                    </a:p>
                    <a:p>
                      <a:r>
                        <a:rPr lang="en-IN" sz="1600" b="0" baseline="0" dirty="0" smtClean="0">
                          <a:solidFill>
                            <a:schemeClr val="accent6">
                              <a:lumMod val="50000"/>
                            </a:schemeClr>
                          </a:solidFill>
                        </a:rPr>
                        <a:t>Exposed filler can be rubbed off , a condition known a s Chalking.</a:t>
                      </a:r>
                    </a:p>
                  </a:txBody>
                  <a:tcPr/>
                </a:tc>
                <a:tc hMerge="1">
                  <a:txBody>
                    <a:bodyPr/>
                    <a:lstStyle/>
                    <a:p>
                      <a:endParaRPr lang="en-IN" dirty="0"/>
                    </a:p>
                  </a:txBody>
                  <a:tcPr/>
                </a:tc>
              </a:tr>
            </a:tbl>
          </a:graphicData>
        </a:graphic>
      </p:graphicFrame>
    </p:spTree>
    <p:extLst>
      <p:ext uri="{BB962C8B-B14F-4D97-AF65-F5344CB8AC3E}">
        <p14:creationId xmlns:p14="http://schemas.microsoft.com/office/powerpoint/2010/main" val="34399530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188" y="177421"/>
            <a:ext cx="10515600" cy="4634765"/>
          </a:xfrm>
        </p:spPr>
        <p:txBody>
          <a:bodyPr>
            <a:noAutofit/>
          </a:bodyPr>
          <a:lstStyle/>
          <a:p>
            <a:pPr>
              <a:buFont typeface="Wingdings" panose="05000000000000000000" pitchFamily="2" charset="2"/>
              <a:buChar char="q"/>
            </a:pPr>
            <a:r>
              <a:rPr lang="en-IN" sz="2400" dirty="0" smtClean="0"/>
              <a:t>   Antidegradants are used </a:t>
            </a:r>
            <a:r>
              <a:rPr lang="en-IN" sz="2400" dirty="0"/>
              <a:t>to protect the rubber from degradation so that a longer service life is </a:t>
            </a:r>
            <a:r>
              <a:rPr lang="en-IN" sz="2400" dirty="0" smtClean="0"/>
              <a:t>obtained.</a:t>
            </a:r>
          </a:p>
          <a:p>
            <a:pPr marL="0" indent="0">
              <a:buNone/>
            </a:pPr>
            <a:r>
              <a:rPr lang="en-IN" sz="2400" dirty="0"/>
              <a:t> </a:t>
            </a:r>
            <a:r>
              <a:rPr lang="en-IN" sz="2400" dirty="0" smtClean="0"/>
              <a:t>                               </a:t>
            </a:r>
            <a:r>
              <a:rPr lang="en-IN" sz="2400" i="1" dirty="0" smtClean="0">
                <a:solidFill>
                  <a:srgbClr val="C00000"/>
                </a:solidFill>
              </a:rPr>
              <a:t>Includes </a:t>
            </a:r>
            <a:r>
              <a:rPr lang="en-IN" sz="2400" i="1" dirty="0">
                <a:solidFill>
                  <a:srgbClr val="C00000"/>
                </a:solidFill>
              </a:rPr>
              <a:t>antioxidants and antiozonants.</a:t>
            </a:r>
          </a:p>
          <a:p>
            <a:pPr>
              <a:buFont typeface="Wingdings" panose="05000000000000000000" pitchFamily="2" charset="2"/>
              <a:buChar char="q"/>
            </a:pPr>
            <a:r>
              <a:rPr lang="en-IN" sz="2400" dirty="0" smtClean="0"/>
              <a:t> </a:t>
            </a:r>
            <a:r>
              <a:rPr lang="en-US" sz="2400" dirty="0" smtClean="0">
                <a:solidFill>
                  <a:srgbClr val="C00000"/>
                </a:solidFill>
              </a:rPr>
              <a:t>Selection of antidegradants is </a:t>
            </a:r>
            <a:r>
              <a:rPr lang="en-US" sz="2400" dirty="0">
                <a:solidFill>
                  <a:srgbClr val="C00000"/>
                </a:solidFill>
              </a:rPr>
              <a:t>based </a:t>
            </a:r>
            <a:r>
              <a:rPr lang="en-US" sz="2400" dirty="0" smtClean="0">
                <a:solidFill>
                  <a:srgbClr val="C00000"/>
                </a:solidFill>
              </a:rPr>
              <a:t>on</a:t>
            </a:r>
            <a:endParaRPr lang="en-US" sz="2400" dirty="0"/>
          </a:p>
          <a:p>
            <a:pPr lvl="3">
              <a:buFont typeface="Wingdings" panose="05000000000000000000" pitchFamily="2" charset="2"/>
              <a:buChar char="ü"/>
            </a:pPr>
            <a:r>
              <a:rPr lang="en-US" dirty="0"/>
              <a:t>Type of protection </a:t>
            </a:r>
            <a:r>
              <a:rPr lang="en-US" dirty="0" smtClean="0"/>
              <a:t>desired</a:t>
            </a:r>
          </a:p>
          <a:p>
            <a:pPr lvl="3">
              <a:buFont typeface="Wingdings" panose="05000000000000000000" pitchFamily="2" charset="2"/>
              <a:buChar char="ü"/>
            </a:pPr>
            <a:r>
              <a:rPr lang="en-US" dirty="0" smtClean="0"/>
              <a:t>Environment </a:t>
            </a:r>
            <a:r>
              <a:rPr lang="en-US" dirty="0"/>
              <a:t>in which the product is </a:t>
            </a:r>
            <a:r>
              <a:rPr lang="en-US" dirty="0" smtClean="0"/>
              <a:t>exposed.</a:t>
            </a:r>
          </a:p>
          <a:p>
            <a:pPr lvl="3">
              <a:buFont typeface="Wingdings" panose="05000000000000000000" pitchFamily="2" charset="2"/>
              <a:buChar char="ü"/>
            </a:pPr>
            <a:r>
              <a:rPr lang="en-US" sz="1800" dirty="0" smtClean="0"/>
              <a:t>Chemical activity</a:t>
            </a:r>
          </a:p>
          <a:p>
            <a:pPr lvl="3">
              <a:buFont typeface="Wingdings" panose="05000000000000000000" pitchFamily="2" charset="2"/>
              <a:buChar char="ü"/>
            </a:pPr>
            <a:r>
              <a:rPr lang="en-US" sz="1800" dirty="0" smtClean="0"/>
              <a:t>Persistence </a:t>
            </a:r>
            <a:r>
              <a:rPr lang="en-US" sz="1800" dirty="0"/>
              <a:t>(volatility and </a:t>
            </a:r>
            <a:r>
              <a:rPr lang="en-US" sz="1800" dirty="0" smtClean="0"/>
              <a:t>extractability)</a:t>
            </a:r>
          </a:p>
          <a:p>
            <a:pPr lvl="3">
              <a:buFont typeface="Wingdings" panose="05000000000000000000" pitchFamily="2" charset="2"/>
              <a:buChar char="ü"/>
            </a:pPr>
            <a:r>
              <a:rPr lang="en-US" sz="1800" dirty="0" smtClean="0"/>
              <a:t>Nature </a:t>
            </a:r>
            <a:r>
              <a:rPr lang="en-US" sz="1800" dirty="0"/>
              <a:t>of end </a:t>
            </a:r>
            <a:r>
              <a:rPr lang="en-US" sz="1800" dirty="0" smtClean="0"/>
              <a:t>use</a:t>
            </a:r>
          </a:p>
          <a:p>
            <a:pPr lvl="3">
              <a:buFont typeface="Wingdings" panose="05000000000000000000" pitchFamily="2" charset="2"/>
              <a:buChar char="ü"/>
            </a:pPr>
            <a:r>
              <a:rPr lang="en-US" sz="1800" dirty="0" smtClean="0"/>
              <a:t>Discoloration </a:t>
            </a:r>
            <a:r>
              <a:rPr lang="en-US" sz="1800" dirty="0"/>
              <a:t>and </a:t>
            </a:r>
            <a:r>
              <a:rPr lang="en-US" sz="1800" dirty="0" smtClean="0"/>
              <a:t>staining</a:t>
            </a:r>
          </a:p>
          <a:p>
            <a:pPr lvl="3">
              <a:buFont typeface="Wingdings" panose="05000000000000000000" pitchFamily="2" charset="2"/>
              <a:buChar char="ü"/>
            </a:pPr>
            <a:r>
              <a:rPr lang="en-US" sz="1800" dirty="0" smtClean="0"/>
              <a:t>Toxicology</a:t>
            </a:r>
            <a:endParaRPr lang="en-US" dirty="0" smtClean="0"/>
          </a:p>
          <a:p>
            <a:pPr lvl="3">
              <a:buFont typeface="Wingdings" panose="05000000000000000000" pitchFamily="2" charset="2"/>
              <a:buChar char="ü"/>
            </a:pPr>
            <a:r>
              <a:rPr lang="en-US" sz="1800" dirty="0" smtClean="0"/>
              <a:t>Cost</a:t>
            </a:r>
            <a:endParaRPr lang="en-US" sz="1800" dirty="0"/>
          </a:p>
          <a:p>
            <a:endParaRPr lang="en-IN" sz="2400" dirty="0"/>
          </a:p>
        </p:txBody>
      </p:sp>
      <p:graphicFrame>
        <p:nvGraphicFramePr>
          <p:cNvPr id="4" name="Diagram 3"/>
          <p:cNvGraphicFramePr/>
          <p:nvPr>
            <p:extLst>
              <p:ext uri="{D42A27DB-BD31-4B8C-83A1-F6EECF244321}">
                <p14:modId xmlns:p14="http://schemas.microsoft.com/office/powerpoint/2010/main" val="4099303584"/>
              </p:ext>
            </p:extLst>
          </p:nvPr>
        </p:nvGraphicFramePr>
        <p:xfrm>
          <a:off x="1040262" y="3603009"/>
          <a:ext cx="9235364" cy="32549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47283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433007127"/>
              </p:ext>
            </p:extLst>
          </p:nvPr>
        </p:nvGraphicFramePr>
        <p:xfrm>
          <a:off x="627797" y="1088646"/>
          <a:ext cx="10876128" cy="3840480"/>
        </p:xfrm>
        <a:graphic>
          <a:graphicData uri="http://schemas.openxmlformats.org/drawingml/2006/table">
            <a:tbl>
              <a:tblPr firstRow="1" bandRow="1">
                <a:tableStyleId>{5C22544A-7EE6-4342-B048-85BDC9FD1C3A}</a:tableStyleId>
              </a:tblPr>
              <a:tblGrid>
                <a:gridCol w="4462818"/>
                <a:gridCol w="900752"/>
                <a:gridCol w="1250800"/>
                <a:gridCol w="1468031"/>
                <a:gridCol w="1453914"/>
                <a:gridCol w="1339813"/>
              </a:tblGrid>
              <a:tr h="370840">
                <a:tc>
                  <a:txBody>
                    <a:bodyPr/>
                    <a:lstStyle/>
                    <a:p>
                      <a:pPr algn="ctr"/>
                      <a:r>
                        <a:rPr lang="en-IN" dirty="0" smtClean="0"/>
                        <a:t>Chemical Name</a:t>
                      </a:r>
                      <a:endParaRPr lang="en-IN" dirty="0"/>
                    </a:p>
                  </a:txBody>
                  <a:tcPr/>
                </a:tc>
                <a:tc>
                  <a:txBody>
                    <a:bodyPr/>
                    <a:lstStyle/>
                    <a:p>
                      <a:pPr algn="ctr"/>
                      <a:r>
                        <a:rPr lang="en-IN" dirty="0" smtClean="0"/>
                        <a:t>Oxygen</a:t>
                      </a:r>
                      <a:endParaRPr lang="en-IN" dirty="0"/>
                    </a:p>
                  </a:txBody>
                  <a:tcPr/>
                </a:tc>
                <a:tc>
                  <a:txBody>
                    <a:bodyPr/>
                    <a:lstStyle/>
                    <a:p>
                      <a:pPr algn="ctr"/>
                      <a:r>
                        <a:rPr lang="en-IN" dirty="0" smtClean="0"/>
                        <a:t>Heat</a:t>
                      </a:r>
                      <a:endParaRPr lang="en-IN" dirty="0"/>
                    </a:p>
                  </a:txBody>
                  <a:tcPr/>
                </a:tc>
                <a:tc>
                  <a:txBody>
                    <a:bodyPr/>
                    <a:lstStyle/>
                    <a:p>
                      <a:pPr algn="ctr"/>
                      <a:r>
                        <a:rPr lang="en-IN" dirty="0" smtClean="0"/>
                        <a:t>Flexing</a:t>
                      </a:r>
                      <a:endParaRPr lang="en-IN" dirty="0"/>
                    </a:p>
                  </a:txBody>
                  <a:tcPr/>
                </a:tc>
                <a:tc>
                  <a:txBody>
                    <a:bodyPr/>
                    <a:lstStyle/>
                    <a:p>
                      <a:pPr algn="ctr"/>
                      <a:r>
                        <a:rPr lang="en-IN" dirty="0" smtClean="0"/>
                        <a:t>Pro-oxidant</a:t>
                      </a:r>
                      <a:endParaRPr lang="en-IN" dirty="0"/>
                    </a:p>
                  </a:txBody>
                  <a:tcPr/>
                </a:tc>
                <a:tc>
                  <a:txBody>
                    <a:bodyPr/>
                    <a:lstStyle/>
                    <a:p>
                      <a:pPr algn="ctr"/>
                      <a:r>
                        <a:rPr lang="en-IN" dirty="0" smtClean="0"/>
                        <a:t>Ozone</a:t>
                      </a:r>
                    </a:p>
                    <a:p>
                      <a:pPr algn="ctr"/>
                      <a:endParaRPr lang="en-IN" dirty="0"/>
                    </a:p>
                  </a:txBody>
                  <a:tcPr/>
                </a:tc>
              </a:tr>
              <a:tr h="560383">
                <a:tc>
                  <a:txBody>
                    <a:bodyPr/>
                    <a:lstStyle/>
                    <a:p>
                      <a:r>
                        <a:rPr lang="en-IN" dirty="0" smtClean="0"/>
                        <a:t>N- phenyl-N-isopropyl P-</a:t>
                      </a:r>
                      <a:r>
                        <a:rPr lang="en-IN" baseline="0" dirty="0" smtClean="0"/>
                        <a:t> </a:t>
                      </a:r>
                      <a:r>
                        <a:rPr lang="en-IN" baseline="0" dirty="0" err="1" smtClean="0"/>
                        <a:t>phenylene</a:t>
                      </a:r>
                      <a:r>
                        <a:rPr lang="en-IN" baseline="0" dirty="0" smtClean="0"/>
                        <a:t> </a:t>
                      </a:r>
                      <a:r>
                        <a:rPr lang="en-IN" baseline="0" dirty="0" err="1" smtClean="0"/>
                        <a:t>diamine</a:t>
                      </a:r>
                      <a:endParaRPr lang="en-IN" dirty="0"/>
                    </a:p>
                  </a:txBody>
                  <a:tcPr/>
                </a:tc>
                <a:tc>
                  <a:txBody>
                    <a:bodyPr/>
                    <a:lstStyle/>
                    <a:p>
                      <a:pPr algn="ctr"/>
                      <a:r>
                        <a:rPr lang="en-IN" dirty="0" smtClean="0"/>
                        <a:t>Good</a:t>
                      </a:r>
                      <a:endParaRPr lang="en-IN" dirty="0"/>
                    </a:p>
                  </a:txBody>
                  <a:tcPr/>
                </a:tc>
                <a:tc>
                  <a:txBody>
                    <a:bodyPr/>
                    <a:lstStyle/>
                    <a:p>
                      <a:pPr algn="ctr"/>
                      <a:r>
                        <a:rPr lang="en-IN" dirty="0" smtClean="0"/>
                        <a:t>Vey good</a:t>
                      </a:r>
                      <a:endParaRPr lang="en-IN" dirty="0"/>
                    </a:p>
                  </a:txBody>
                  <a:tcPr/>
                </a:tc>
                <a:tc>
                  <a:txBody>
                    <a:bodyPr/>
                    <a:lstStyle/>
                    <a:p>
                      <a:pPr algn="ctr"/>
                      <a:r>
                        <a:rPr lang="en-IN" dirty="0" smtClean="0"/>
                        <a:t>Excellent</a:t>
                      </a:r>
                      <a:endParaRPr lang="en-IN" dirty="0"/>
                    </a:p>
                  </a:txBody>
                  <a:tcPr/>
                </a:tc>
                <a:tc>
                  <a:txBody>
                    <a:bodyPr/>
                    <a:lstStyle/>
                    <a:p>
                      <a:pPr algn="ctr"/>
                      <a:r>
                        <a:rPr lang="en-IN" dirty="0" smtClean="0"/>
                        <a:t>Excellent</a:t>
                      </a:r>
                      <a:endParaRPr lang="en-IN"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smtClean="0"/>
                        <a:t>Excellent</a:t>
                      </a:r>
                    </a:p>
                    <a:p>
                      <a:pPr algn="ctr"/>
                      <a:endParaRPr lang="en-IN" dirty="0"/>
                    </a:p>
                  </a:txBody>
                  <a:tcPr/>
                </a:tc>
              </a:tr>
              <a:tr h="370840">
                <a:tc>
                  <a:txBody>
                    <a:bodyPr/>
                    <a:lstStyle/>
                    <a:p>
                      <a:r>
                        <a:rPr lang="en-IN" dirty="0" smtClean="0"/>
                        <a:t>N- (1,3-dimethylbutyl)</a:t>
                      </a:r>
                      <a:r>
                        <a:rPr lang="en-IN" baseline="0" dirty="0" smtClean="0"/>
                        <a:t> N-</a:t>
                      </a:r>
                      <a:r>
                        <a:rPr lang="en-IN" baseline="0" dirty="0" err="1" smtClean="0"/>
                        <a:t>phenylenediamine</a:t>
                      </a:r>
                      <a:endParaRPr lang="en-IN" dirty="0"/>
                    </a:p>
                  </a:txBody>
                  <a:tcPr/>
                </a:tc>
                <a:tc>
                  <a:txBody>
                    <a:bodyPr/>
                    <a:lstStyle/>
                    <a:p>
                      <a:pPr algn="ctr"/>
                      <a:r>
                        <a:rPr lang="en-IN" dirty="0" smtClean="0"/>
                        <a:t>Good</a:t>
                      </a:r>
                      <a:endParaRPr lang="en-IN" dirty="0"/>
                    </a:p>
                  </a:txBody>
                  <a:tcPr/>
                </a:tc>
                <a:tc>
                  <a:txBody>
                    <a:bodyPr/>
                    <a:lstStyle/>
                    <a:p>
                      <a:pPr algn="ctr"/>
                      <a:r>
                        <a:rPr lang="en-IN" dirty="0" smtClean="0"/>
                        <a:t>Vey good</a:t>
                      </a:r>
                      <a:endParaRPr lang="en-IN" dirty="0"/>
                    </a:p>
                  </a:txBody>
                  <a:tcPr/>
                </a:tc>
                <a:tc>
                  <a:txBody>
                    <a:bodyPr/>
                    <a:lstStyle/>
                    <a:p>
                      <a:pPr algn="ctr"/>
                      <a:r>
                        <a:rPr lang="en-IN" dirty="0" smtClean="0"/>
                        <a:t>Excellent</a:t>
                      </a:r>
                      <a:endParaRPr lang="en-IN" dirty="0"/>
                    </a:p>
                  </a:txBody>
                  <a:tcPr/>
                </a:tc>
                <a:tc>
                  <a:txBody>
                    <a:bodyPr/>
                    <a:lstStyle/>
                    <a:p>
                      <a:pPr algn="ctr"/>
                      <a:r>
                        <a:rPr lang="en-IN" dirty="0" smtClean="0"/>
                        <a:t>Excellent</a:t>
                      </a:r>
                      <a:endParaRPr lang="en-IN"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smtClean="0"/>
                        <a:t>Excellent</a:t>
                      </a:r>
                    </a:p>
                    <a:p>
                      <a:pPr marL="0" marR="0" indent="0" algn="ctr" defTabSz="914400" rtl="0" eaLnBrk="1" fontAlgn="auto" latinLnBrk="0" hangingPunct="1">
                        <a:lnSpc>
                          <a:spcPct val="100000"/>
                        </a:lnSpc>
                        <a:spcBef>
                          <a:spcPts val="0"/>
                        </a:spcBef>
                        <a:spcAft>
                          <a:spcPts val="0"/>
                        </a:spcAft>
                        <a:buClrTx/>
                        <a:buSzTx/>
                        <a:buFontTx/>
                        <a:buNone/>
                        <a:tabLst/>
                        <a:defRPr/>
                      </a:pPr>
                      <a:endParaRPr lang="en-IN" dirty="0" smtClean="0"/>
                    </a:p>
                  </a:txBody>
                  <a:tcPr/>
                </a:tc>
              </a:tr>
              <a:tr h="370840">
                <a:tc>
                  <a:txBody>
                    <a:bodyPr/>
                    <a:lstStyle/>
                    <a:p>
                      <a:r>
                        <a:rPr lang="en-IN" dirty="0" smtClean="0"/>
                        <a:t>Phenyl-</a:t>
                      </a:r>
                      <a:r>
                        <a:rPr lang="el-GR" dirty="0" smtClean="0"/>
                        <a:t>β</a:t>
                      </a:r>
                      <a:r>
                        <a:rPr lang="en-IN" dirty="0" smtClean="0"/>
                        <a:t>-</a:t>
                      </a:r>
                      <a:r>
                        <a:rPr lang="en-IN" dirty="0" err="1" smtClean="0"/>
                        <a:t>naphthylamine</a:t>
                      </a:r>
                      <a:endParaRPr lang="en-IN" dirty="0"/>
                    </a:p>
                  </a:txBody>
                  <a:tcPr/>
                </a:tc>
                <a:tc>
                  <a:txBody>
                    <a:bodyPr/>
                    <a:lstStyle/>
                    <a:p>
                      <a:pPr algn="ctr"/>
                      <a:r>
                        <a:rPr lang="en-IN" dirty="0" smtClean="0"/>
                        <a:t>Good</a:t>
                      </a:r>
                      <a:endParaRPr lang="en-IN" dirty="0"/>
                    </a:p>
                  </a:txBody>
                  <a:tcPr/>
                </a:tc>
                <a:tc>
                  <a:txBody>
                    <a:bodyPr/>
                    <a:lstStyle/>
                    <a:p>
                      <a:pPr algn="ctr"/>
                      <a:r>
                        <a:rPr lang="en-IN" dirty="0" smtClean="0"/>
                        <a:t>Good</a:t>
                      </a:r>
                      <a:endParaRPr lang="en-IN" dirty="0"/>
                    </a:p>
                  </a:txBody>
                  <a:tcPr/>
                </a:tc>
                <a:tc>
                  <a:txBody>
                    <a:bodyPr/>
                    <a:lstStyle/>
                    <a:p>
                      <a:pPr algn="ctr"/>
                      <a:r>
                        <a:rPr lang="en-IN" dirty="0" smtClean="0"/>
                        <a:t>Good</a:t>
                      </a:r>
                      <a:endParaRPr lang="en-IN" dirty="0"/>
                    </a:p>
                  </a:txBody>
                  <a:tcPr/>
                </a:tc>
                <a:tc>
                  <a:txBody>
                    <a:bodyPr/>
                    <a:lstStyle/>
                    <a:p>
                      <a:pPr algn="ctr"/>
                      <a:r>
                        <a:rPr lang="en-IN" dirty="0" smtClean="0"/>
                        <a:t>Moderate</a:t>
                      </a:r>
                    </a:p>
                    <a:p>
                      <a:pPr algn="ctr"/>
                      <a:endParaRPr lang="en-IN" dirty="0"/>
                    </a:p>
                  </a:txBody>
                  <a:tcPr/>
                </a:tc>
                <a:tc>
                  <a:txBody>
                    <a:bodyPr/>
                    <a:lstStyle/>
                    <a:p>
                      <a:pPr algn="ctr"/>
                      <a:r>
                        <a:rPr lang="en-IN" dirty="0" smtClean="0"/>
                        <a:t>--</a:t>
                      </a:r>
                      <a:endParaRPr lang="en-IN" dirty="0"/>
                    </a:p>
                  </a:txBody>
                  <a:tcPr/>
                </a:tc>
              </a:tr>
              <a:tr h="0">
                <a:tc>
                  <a:txBody>
                    <a:bodyPr/>
                    <a:lstStyle/>
                    <a:p>
                      <a:r>
                        <a:rPr lang="en-IN" dirty="0" smtClean="0"/>
                        <a:t>Substituted phenol</a:t>
                      </a:r>
                      <a:endParaRPr lang="en-IN" dirty="0"/>
                    </a:p>
                  </a:txBody>
                  <a:tcPr/>
                </a:tc>
                <a:tc>
                  <a:txBody>
                    <a:bodyPr/>
                    <a:lstStyle/>
                    <a:p>
                      <a:pPr algn="ctr"/>
                      <a:r>
                        <a:rPr lang="en-IN" dirty="0" smtClean="0"/>
                        <a:t>Poor</a:t>
                      </a:r>
                      <a:endParaRPr lang="en-IN" dirty="0"/>
                    </a:p>
                  </a:txBody>
                  <a:tcPr/>
                </a:tc>
                <a:tc>
                  <a:txBody>
                    <a:bodyPr/>
                    <a:lstStyle/>
                    <a:p>
                      <a:pPr algn="ctr"/>
                      <a:r>
                        <a:rPr lang="en-IN" dirty="0" smtClean="0"/>
                        <a:t>Poor</a:t>
                      </a:r>
                      <a:endParaRPr lang="en-IN" dirty="0"/>
                    </a:p>
                  </a:txBody>
                  <a:tcPr/>
                </a:tc>
                <a:tc>
                  <a:txBody>
                    <a:bodyPr/>
                    <a:lstStyle/>
                    <a:p>
                      <a:pPr algn="ctr"/>
                      <a:r>
                        <a:rPr lang="en-IN" dirty="0" smtClean="0"/>
                        <a:t>Moderate</a:t>
                      </a:r>
                      <a:endParaRPr lang="en-IN" dirty="0"/>
                    </a:p>
                  </a:txBody>
                  <a:tcPr/>
                </a:tc>
                <a:tc>
                  <a:txBody>
                    <a:bodyPr/>
                    <a:lstStyle/>
                    <a:p>
                      <a:pPr algn="ctr"/>
                      <a:r>
                        <a:rPr lang="en-IN" dirty="0" smtClean="0"/>
                        <a:t>No</a:t>
                      </a:r>
                      <a:endParaRPr lang="en-IN" dirty="0"/>
                    </a:p>
                  </a:txBody>
                  <a:tcPr/>
                </a:tc>
                <a:tc>
                  <a:txBody>
                    <a:bodyPr/>
                    <a:lstStyle/>
                    <a:p>
                      <a:pPr algn="ctr"/>
                      <a:r>
                        <a:rPr lang="en-IN" dirty="0" smtClean="0"/>
                        <a:t>No</a:t>
                      </a:r>
                    </a:p>
                    <a:p>
                      <a:pPr algn="ctr"/>
                      <a:endParaRPr lang="en-IN" dirty="0"/>
                    </a:p>
                  </a:txBody>
                  <a:tcPr/>
                </a:tc>
              </a:tr>
              <a:tr h="453390">
                <a:tc>
                  <a:txBody>
                    <a:bodyPr/>
                    <a:lstStyle/>
                    <a:p>
                      <a:r>
                        <a:rPr lang="en-IN" dirty="0" smtClean="0"/>
                        <a:t>Blend of </a:t>
                      </a:r>
                      <a:r>
                        <a:rPr lang="en-IN" dirty="0" err="1" smtClean="0"/>
                        <a:t>arylamines</a:t>
                      </a:r>
                      <a:r>
                        <a:rPr lang="en-IN" dirty="0" smtClean="0"/>
                        <a:t> and </a:t>
                      </a:r>
                      <a:r>
                        <a:rPr lang="en-IN" dirty="0" err="1" smtClean="0"/>
                        <a:t>diphenyl</a:t>
                      </a:r>
                      <a:r>
                        <a:rPr lang="en-IN" dirty="0" smtClean="0"/>
                        <a:t>-p-</a:t>
                      </a:r>
                      <a:r>
                        <a:rPr lang="en-IN" dirty="0" err="1" smtClean="0"/>
                        <a:t>phenylenediamine</a:t>
                      </a:r>
                      <a:endParaRPr lang="en-IN" dirty="0"/>
                    </a:p>
                  </a:txBody>
                  <a:tcPr/>
                </a:tc>
                <a:tc>
                  <a:txBody>
                    <a:bodyPr/>
                    <a:lstStyle/>
                    <a:p>
                      <a:pPr algn="ctr"/>
                      <a:r>
                        <a:rPr lang="en-IN" dirty="0" smtClean="0"/>
                        <a:t>Good </a:t>
                      </a:r>
                      <a:endParaRPr lang="en-IN" dirty="0"/>
                    </a:p>
                  </a:txBody>
                  <a:tcPr/>
                </a:tc>
                <a:tc>
                  <a:txBody>
                    <a:bodyPr/>
                    <a:lstStyle/>
                    <a:p>
                      <a:pPr algn="ctr"/>
                      <a:r>
                        <a:rPr lang="en-IN" dirty="0" smtClean="0"/>
                        <a:t>Good</a:t>
                      </a:r>
                      <a:endParaRPr lang="en-IN" dirty="0"/>
                    </a:p>
                  </a:txBody>
                  <a:tcPr/>
                </a:tc>
                <a:tc>
                  <a:txBody>
                    <a:bodyPr/>
                    <a:lstStyle/>
                    <a:p>
                      <a:pPr algn="ctr"/>
                      <a:r>
                        <a:rPr lang="en-IN" dirty="0" smtClean="0"/>
                        <a:t>Excellent</a:t>
                      </a:r>
                      <a:endParaRPr lang="en-IN" dirty="0"/>
                    </a:p>
                  </a:txBody>
                  <a:tcPr/>
                </a:tc>
                <a:tc>
                  <a:txBody>
                    <a:bodyPr/>
                    <a:lstStyle/>
                    <a:p>
                      <a:pPr algn="ctr"/>
                      <a:r>
                        <a:rPr lang="en-IN" dirty="0" smtClean="0"/>
                        <a:t>Poor</a:t>
                      </a:r>
                      <a:endParaRPr lang="en-IN" dirty="0"/>
                    </a:p>
                  </a:txBody>
                  <a:tcPr/>
                </a:tc>
                <a:tc>
                  <a:txBody>
                    <a:bodyPr/>
                    <a:lstStyle/>
                    <a:p>
                      <a:pPr algn="ctr"/>
                      <a:r>
                        <a:rPr lang="en-IN" dirty="0" smtClean="0"/>
                        <a:t>Fair</a:t>
                      </a:r>
                      <a:endParaRPr lang="en-IN" dirty="0"/>
                    </a:p>
                  </a:txBody>
                  <a:tcPr/>
                </a:tc>
              </a:tr>
            </a:tbl>
          </a:graphicData>
        </a:graphic>
      </p:graphicFrame>
    </p:spTree>
    <p:extLst>
      <p:ext uri="{BB962C8B-B14F-4D97-AF65-F5344CB8AC3E}">
        <p14:creationId xmlns:p14="http://schemas.microsoft.com/office/powerpoint/2010/main" val="27977520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566381" y="291460"/>
            <a:ext cx="10228997"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smtClean="0">
                <a:latin typeface="+mn-lt"/>
              </a:rPr>
              <a:t>FILLERS</a:t>
            </a:r>
            <a:endParaRPr lang="en-IN" sz="4000" dirty="0">
              <a:latin typeface="+mn-lt"/>
            </a:endParaRPr>
          </a:p>
        </p:txBody>
      </p:sp>
      <p:sp>
        <p:nvSpPr>
          <p:cNvPr id="3" name="Rectangle 3"/>
          <p:cNvSpPr txBox="1">
            <a:spLocks noChangeArrowheads="1"/>
          </p:cNvSpPr>
          <p:nvPr/>
        </p:nvSpPr>
        <p:spPr>
          <a:xfrm>
            <a:off x="457199" y="1146412"/>
            <a:ext cx="10897737" cy="49845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anose="05000000000000000000" pitchFamily="2" charset="2"/>
              <a:buChar char="q"/>
            </a:pPr>
            <a:r>
              <a:rPr lang="en-US" dirty="0" smtClean="0"/>
              <a:t>  Fillers are materials used to</a:t>
            </a:r>
          </a:p>
          <a:p>
            <a:pPr marL="457200" lvl="1" indent="0">
              <a:buNone/>
            </a:pPr>
            <a:r>
              <a:rPr lang="en-US" dirty="0"/>
              <a:t> </a:t>
            </a:r>
            <a:r>
              <a:rPr lang="en-US" dirty="0" smtClean="0"/>
              <a:t>                </a:t>
            </a:r>
            <a:r>
              <a:rPr lang="en-US" dirty="0"/>
              <a:t>E</a:t>
            </a:r>
            <a:r>
              <a:rPr lang="en-US" dirty="0" smtClean="0"/>
              <a:t>xtent the range of physical properties</a:t>
            </a:r>
          </a:p>
          <a:p>
            <a:pPr marL="457200" lvl="1" indent="0">
              <a:buNone/>
            </a:pPr>
            <a:r>
              <a:rPr lang="en-US" dirty="0"/>
              <a:t> </a:t>
            </a:r>
            <a:r>
              <a:rPr lang="en-US" dirty="0" smtClean="0"/>
              <a:t>                Reduce compound cost</a:t>
            </a:r>
          </a:p>
          <a:p>
            <a:pPr marL="457200" lvl="1" indent="0">
              <a:buNone/>
            </a:pPr>
            <a:r>
              <a:rPr lang="en-US" dirty="0"/>
              <a:t> </a:t>
            </a:r>
            <a:r>
              <a:rPr lang="en-US" dirty="0" smtClean="0"/>
              <a:t>                Modify the processing properties </a:t>
            </a:r>
            <a:endParaRPr lang="en-US" dirty="0"/>
          </a:p>
          <a:p>
            <a:pPr marL="457200" lvl="1" indent="0">
              <a:buNone/>
            </a:pPr>
            <a:r>
              <a:rPr lang="en-US" dirty="0" smtClean="0"/>
              <a:t>                 Influence the chemical resistance of the compound</a:t>
            </a:r>
          </a:p>
          <a:p>
            <a:pPr marL="457200" lvl="1" indent="0">
              <a:buNone/>
            </a:pPr>
            <a:endParaRPr lang="en-US" sz="2800" dirty="0" smtClean="0"/>
          </a:p>
          <a:p>
            <a:pPr lvl="1">
              <a:buFont typeface="Wingdings" panose="05000000000000000000" pitchFamily="2" charset="2"/>
              <a:buChar char="q"/>
            </a:pPr>
            <a:r>
              <a:rPr lang="en-US" sz="2800" dirty="0"/>
              <a:t> </a:t>
            </a:r>
            <a:r>
              <a:rPr lang="en-US" dirty="0" smtClean="0"/>
              <a:t>The effect of a filler on rubber depends on-</a:t>
            </a:r>
          </a:p>
          <a:p>
            <a:pPr lvl="3">
              <a:buFontTx/>
              <a:buChar char="•"/>
            </a:pPr>
            <a:r>
              <a:rPr lang="en-US" sz="2400" dirty="0" smtClean="0"/>
              <a:t> Structure</a:t>
            </a:r>
          </a:p>
          <a:p>
            <a:pPr lvl="3">
              <a:buFontTx/>
              <a:buChar char="•"/>
            </a:pPr>
            <a:r>
              <a:rPr lang="en-US" sz="2400" dirty="0" smtClean="0"/>
              <a:t> Particle size</a:t>
            </a:r>
          </a:p>
          <a:p>
            <a:pPr lvl="3">
              <a:buFontTx/>
              <a:buChar char="•"/>
            </a:pPr>
            <a:r>
              <a:rPr lang="en-US" sz="2400" dirty="0" smtClean="0"/>
              <a:t> Surface area</a:t>
            </a:r>
          </a:p>
          <a:p>
            <a:pPr lvl="3">
              <a:buFontTx/>
              <a:buChar char="•"/>
            </a:pPr>
            <a:r>
              <a:rPr lang="en-US" sz="2400" dirty="0" smtClean="0"/>
              <a:t> Geometrical characteristics</a:t>
            </a:r>
          </a:p>
          <a:p>
            <a:pPr lvl="1">
              <a:buFont typeface="Wingdings" panose="05000000000000000000" pitchFamily="2" charset="2"/>
              <a:buNone/>
            </a:pPr>
            <a:endParaRPr lang="en-IN" sz="2500" dirty="0"/>
          </a:p>
        </p:txBody>
      </p:sp>
    </p:spTree>
    <p:extLst>
      <p:ext uri="{BB962C8B-B14F-4D97-AF65-F5344CB8AC3E}">
        <p14:creationId xmlns:p14="http://schemas.microsoft.com/office/powerpoint/2010/main" val="35616170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742138704"/>
              </p:ext>
            </p:extLst>
          </p:nvPr>
        </p:nvGraphicFramePr>
        <p:xfrm>
          <a:off x="395785" y="736979"/>
          <a:ext cx="10945504" cy="5237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24362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40"/>
          <p:cNvGraphicFramePr>
            <a:graphicFrameLocks/>
          </p:cNvGraphicFramePr>
          <p:nvPr>
            <p:extLst>
              <p:ext uri="{D42A27DB-BD31-4B8C-83A1-F6EECF244321}">
                <p14:modId xmlns:p14="http://schemas.microsoft.com/office/powerpoint/2010/main" val="2095180678"/>
              </p:ext>
            </p:extLst>
          </p:nvPr>
        </p:nvGraphicFramePr>
        <p:xfrm>
          <a:off x="1784444" y="674427"/>
          <a:ext cx="8686800" cy="5330588"/>
        </p:xfrm>
        <a:graphic>
          <a:graphicData uri="http://schemas.openxmlformats.org/drawingml/2006/table">
            <a:tbl>
              <a:tblPr/>
              <a:tblGrid>
                <a:gridCol w="2895600"/>
                <a:gridCol w="2895600"/>
                <a:gridCol w="2895600"/>
              </a:tblGrid>
              <a:tr h="1509713">
                <a:tc rowSpan="2">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Reinforcing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Carbon Black (listed in order of increasing particle size)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N220 (ISAF)</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N330(HAF)</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N550 (FEF)</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N762 (SRF-LM)</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N990 (MT)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11300">
                <a:tc vMerge="1">
                  <a:txBody>
                    <a:bodyPr/>
                    <a:lstStyle/>
                    <a:p>
                      <a:endParaRPr lang="en-IN"/>
                    </a:p>
                  </a:txBody>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rPr>
                        <a:t>Non-black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Silica</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Zinc Oxide</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Magnesium Carbonate</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Aluminium</a:t>
                      </a: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 Silicate</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Sodium </a:t>
                      </a:r>
                      <a:r>
                        <a:rPr kumimoji="0" lang="en-US" sz="20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Aluminosilicate</a:t>
                      </a:r>
                      <a:endPar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Magnesium Silicate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46268">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Extending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endParaRPr kumimoji="0" lang="en-US" sz="2000" b="0" i="0" u="none" strike="noStrike" cap="none" normalizeH="0" baseline="0" smtClean="0">
                        <a:ln>
                          <a:noFill/>
                        </a:ln>
                        <a:solidFill>
                          <a:schemeClr val="tx1"/>
                        </a:solidFill>
                        <a:effectLst>
                          <a:outerShdw blurRad="38100" dist="38100" dir="2700000" algn="tl">
                            <a:srgbClr val="FFFFFF"/>
                          </a:outerShdw>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0000"/>
                        <a:buFont typeface="Wingdings" panose="05000000000000000000" pitchFamily="2" charset="2"/>
                        <a:defRPr sz="2800">
                          <a:solidFill>
                            <a:schemeClr val="tx1"/>
                          </a:solidFill>
                          <a:effectLst>
                            <a:outerShdw blurRad="38100" dist="38100" dir="2700000" algn="tl">
                              <a:srgbClr val="FFFFFF"/>
                            </a:outerShdw>
                          </a:effectLst>
                          <a:latin typeface="Times New Roman" panose="02020603050405020304" pitchFamily="18" charset="0"/>
                        </a:defRPr>
                      </a:lvl1pPr>
                      <a:lvl2pPr>
                        <a:spcBef>
                          <a:spcPct val="20000"/>
                        </a:spcBef>
                        <a:buClr>
                          <a:schemeClr val="tx2"/>
                        </a:buClr>
                        <a:buSzPct val="60000"/>
                        <a:buFont typeface="Wingdings" panose="05000000000000000000" pitchFamily="2" charset="2"/>
                        <a:defRPr sz="2400">
                          <a:solidFill>
                            <a:schemeClr val="tx1"/>
                          </a:solidFill>
                          <a:effectLst>
                            <a:outerShdw blurRad="38100" dist="38100" dir="2700000" algn="tl">
                              <a:srgbClr val="FFFFFF"/>
                            </a:outerShdw>
                          </a:effectLst>
                          <a:latin typeface="Times New Roman" panose="02020603050405020304" pitchFamily="18" charset="0"/>
                        </a:defRPr>
                      </a:lvl2pPr>
                      <a:lvl3pPr>
                        <a:spcBef>
                          <a:spcPct val="20000"/>
                        </a:spcBef>
                        <a:buClr>
                          <a:schemeClr val="folHlink"/>
                        </a:buClr>
                        <a:buSzPct val="60000"/>
                        <a:buFont typeface="Wingdings" panose="05000000000000000000" pitchFamily="2" charset="2"/>
                        <a:defRPr sz="2000">
                          <a:solidFill>
                            <a:schemeClr val="tx1"/>
                          </a:solidFill>
                          <a:effectLst>
                            <a:outerShdw blurRad="38100" dist="38100" dir="2700000" algn="tl">
                              <a:srgbClr val="FFFFFF"/>
                            </a:outerShdw>
                          </a:effectLst>
                          <a:latin typeface="Times New Roman" panose="02020603050405020304" pitchFamily="18" charset="0"/>
                        </a:defRPr>
                      </a:lvl3pPr>
                      <a:lvl4pPr>
                        <a:spcBef>
                          <a:spcPct val="20000"/>
                        </a:spcBef>
                        <a:buClr>
                          <a:schemeClr val="tx1"/>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4pPr>
                      <a:lvl5pPr>
                        <a:spcBef>
                          <a:spcPct val="20000"/>
                        </a:spcBef>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effectLst>
                            <a:outerShdw blurRad="38100" dist="38100" dir="2700000" algn="tl">
                              <a:srgbClr val="FFFFFF"/>
                            </a:outerShdw>
                          </a:effectLst>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Calcium Carbonate</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Barium Sulfate</a:t>
                      </a: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None/>
                        <a:tabLst/>
                      </a:pPr>
                      <a:r>
                        <a:rPr kumimoji="0" lang="en-US" sz="20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Aluminium</a:t>
                      </a:r>
                      <a:r>
                        <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rPr>
                        <a:t> </a:t>
                      </a:r>
                      <a:r>
                        <a:rPr kumimoji="0" lang="en-US" sz="2000" b="0" i="0" u="none" strike="noStrike" cap="none" normalizeH="0" baseline="0" dirty="0" err="1" smtClean="0">
                          <a:ln>
                            <a:noFill/>
                          </a:ln>
                          <a:solidFill>
                            <a:schemeClr val="tx1"/>
                          </a:solidFill>
                          <a:effectLst>
                            <a:outerShdw blurRad="38100" dist="38100" dir="2700000" algn="tl">
                              <a:srgbClr val="FFFFFF"/>
                            </a:outerShdw>
                          </a:effectLst>
                          <a:latin typeface="Times New Roman" panose="02020603050405020304" pitchFamily="18" charset="0"/>
                        </a:rPr>
                        <a:t>Trihydrate</a:t>
                      </a:r>
                      <a:endParaRPr kumimoji="0" lang="en-US" sz="2000" b="0" i="0" u="none" strike="noStrike" cap="none" normalizeH="0" baseline="0" dirty="0" smtClean="0">
                        <a:ln>
                          <a:noFill/>
                        </a:ln>
                        <a:solidFill>
                          <a:schemeClr val="tx1"/>
                        </a:solidFill>
                        <a:effectLst>
                          <a:outerShdw blurRad="38100" dist="38100" dir="2700000" algn="tl">
                            <a:srgbClr val="FFFFFF"/>
                          </a:outerShdw>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2892211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303498"/>
            <a:ext cx="9144000" cy="1306938"/>
          </a:xfrm>
        </p:spPr>
        <p:txBody>
          <a:bodyPr>
            <a:normAutofit/>
          </a:bodyPr>
          <a:lstStyle/>
          <a:p>
            <a:r>
              <a:rPr lang="en-IN" sz="4800" b="1" dirty="0"/>
              <a:t>Reinforcement by fillers</a:t>
            </a:r>
            <a:endParaRPr lang="en-IN" sz="4800" dirty="0"/>
          </a:p>
        </p:txBody>
      </p:sp>
      <p:sp>
        <p:nvSpPr>
          <p:cNvPr id="5" name="Subtitle 4"/>
          <p:cNvSpPr>
            <a:spLocks noGrp="1"/>
          </p:cNvSpPr>
          <p:nvPr>
            <p:ph type="subTitle" idx="1"/>
          </p:nvPr>
        </p:nvSpPr>
        <p:spPr>
          <a:xfrm>
            <a:off x="1524000" y="1774209"/>
            <a:ext cx="9144000" cy="4572000"/>
          </a:xfrm>
        </p:spPr>
        <p:txBody>
          <a:bodyPr>
            <a:normAutofit/>
          </a:bodyPr>
          <a:lstStyle/>
          <a:p>
            <a:pPr marL="342900" indent="-342900" algn="just">
              <a:buFont typeface="Wingdings" panose="05000000000000000000" pitchFamily="2" charset="2"/>
              <a:buChar char="q"/>
            </a:pPr>
            <a:r>
              <a:rPr lang="en-IN" dirty="0"/>
              <a:t>C</a:t>
            </a:r>
            <a:r>
              <a:rPr lang="en-IN" dirty="0" smtClean="0"/>
              <a:t>ondition </a:t>
            </a:r>
            <a:r>
              <a:rPr lang="en-IN" dirty="0"/>
              <a:t>for filler reinforcement is the interaction between the filler particles and the polymer. </a:t>
            </a:r>
            <a:endParaRPr lang="en-IN" dirty="0" smtClean="0"/>
          </a:p>
          <a:p>
            <a:pPr marL="342900" indent="-342900" algn="just">
              <a:buFont typeface="Wingdings" panose="05000000000000000000" pitchFamily="2" charset="2"/>
              <a:buChar char="q"/>
            </a:pPr>
            <a:r>
              <a:rPr lang="en-IN" dirty="0" smtClean="0"/>
              <a:t>Interactions </a:t>
            </a:r>
            <a:r>
              <a:rPr lang="en-IN" dirty="0"/>
              <a:t>can be strong, for example in the case of covalent bonds between functional groups on the filler surface and the polymer, or weak as in the case of physical attractive forces. </a:t>
            </a:r>
            <a:endParaRPr lang="en-IN" dirty="0" smtClean="0"/>
          </a:p>
          <a:p>
            <a:pPr marL="342900" indent="-342900" algn="just">
              <a:buFont typeface="Wingdings" panose="05000000000000000000" pitchFamily="2" charset="2"/>
              <a:buChar char="q"/>
            </a:pPr>
            <a:r>
              <a:rPr lang="en-IN" dirty="0" smtClean="0"/>
              <a:t>When </a:t>
            </a:r>
            <a:r>
              <a:rPr lang="en-IN" dirty="0"/>
              <a:t>carbon black is blended with a polymer, the level of physical interaction is high</a:t>
            </a:r>
            <a:r>
              <a:rPr lang="en-IN" dirty="0" smtClean="0"/>
              <a:t>.</a:t>
            </a:r>
          </a:p>
          <a:p>
            <a:pPr marL="342900" indent="-342900" algn="just">
              <a:buFont typeface="Wingdings" panose="05000000000000000000" pitchFamily="2" charset="2"/>
              <a:buChar char="q"/>
            </a:pPr>
            <a:r>
              <a:rPr lang="en-IN" dirty="0" smtClean="0"/>
              <a:t> But interaction </a:t>
            </a:r>
            <a:r>
              <a:rPr lang="en-IN" dirty="0"/>
              <a:t>between silica particles and the polymer is very weak, and only by the use of a coupling agent a bond is formed between the filler and the polymer.  </a:t>
            </a:r>
          </a:p>
          <a:p>
            <a:pPr algn="just"/>
            <a:endParaRPr lang="en-IN" dirty="0"/>
          </a:p>
        </p:txBody>
      </p:sp>
    </p:spTree>
    <p:extLst>
      <p:ext uri="{BB962C8B-B14F-4D97-AF65-F5344CB8AC3E}">
        <p14:creationId xmlns:p14="http://schemas.microsoft.com/office/powerpoint/2010/main" val="260335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797" y="0"/>
            <a:ext cx="11068334" cy="1600200"/>
          </a:xfrm>
        </p:spPr>
        <p:txBody>
          <a:bodyPr>
            <a:normAutofit/>
          </a:bodyPr>
          <a:lstStyle/>
          <a:p>
            <a:r>
              <a:rPr lang="en-IN" sz="4800" b="1" dirty="0"/>
              <a:t>Factors influencing elastomer reinforcement</a:t>
            </a:r>
            <a:endParaRPr lang="en-IN" sz="4800" dirty="0"/>
          </a:p>
        </p:txBody>
      </p:sp>
      <p:sp>
        <p:nvSpPr>
          <p:cNvPr id="6" name="Content Placeholder 5"/>
          <p:cNvSpPr>
            <a:spLocks noGrp="1"/>
          </p:cNvSpPr>
          <p:nvPr>
            <p:ph idx="1"/>
          </p:nvPr>
        </p:nvSpPr>
        <p:spPr>
          <a:xfrm>
            <a:off x="5360609" y="2057400"/>
            <a:ext cx="6172200" cy="4873625"/>
          </a:xfrm>
        </p:spPr>
        <p:txBody>
          <a:bodyPr>
            <a:noAutofit/>
          </a:bodyPr>
          <a:lstStyle/>
          <a:p>
            <a:pPr marL="0" indent="0">
              <a:buNone/>
            </a:pPr>
            <a:r>
              <a:rPr lang="en-IN" sz="2000" dirty="0"/>
              <a:t>There is an optimum loading of filler indicating that there are two opposing factors in action when a reinforcing fillers such as carbon black is added.</a:t>
            </a:r>
          </a:p>
          <a:p>
            <a:r>
              <a:rPr lang="en-IN" sz="2000" dirty="0" smtClean="0"/>
              <a:t> First</a:t>
            </a:r>
            <a:r>
              <a:rPr lang="en-IN" sz="2000" dirty="0"/>
              <a:t>, there is an increase of modulus and TS, which is dependent on the particle size of filler. ( smaller PS, greater SA,  interaction between polymer and filler surface)</a:t>
            </a:r>
          </a:p>
          <a:p>
            <a:pPr lvl="0"/>
            <a:r>
              <a:rPr lang="en-IN" sz="2000" dirty="0"/>
              <a:t>Secondly, the reduction in properties at higher loading is a simple dilution effect, generally to all fillers, due to a diminishing volume fraction of polymer in composite. If there is not enough rubber matrix to hold the filler particles together, strength rapidly approaches to zero.</a:t>
            </a:r>
          </a:p>
        </p:txBody>
      </p:sp>
      <p:sp>
        <p:nvSpPr>
          <p:cNvPr id="7" name="Text Placeholder 6"/>
          <p:cNvSpPr>
            <a:spLocks noGrp="1"/>
          </p:cNvSpPr>
          <p:nvPr>
            <p:ph type="body" sz="half" idx="2"/>
          </p:nvPr>
        </p:nvSpPr>
        <p:spPr/>
        <p:txBody>
          <a:bodyPr/>
          <a:lstStyle/>
          <a:p>
            <a:endParaRPr lang="en-IN" dirty="0"/>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996287" y="2388359"/>
            <a:ext cx="3775738" cy="3166280"/>
          </a:xfrm>
          <a:prstGeom prst="rect">
            <a:avLst/>
          </a:prstGeom>
          <a:noFill/>
          <a:ln>
            <a:noFill/>
          </a:ln>
        </p:spPr>
      </p:pic>
    </p:spTree>
    <p:extLst>
      <p:ext uri="{BB962C8B-B14F-4D97-AF65-F5344CB8AC3E}">
        <p14:creationId xmlns:p14="http://schemas.microsoft.com/office/powerpoint/2010/main" val="53484465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91886" y="235258"/>
            <a:ext cx="11132457" cy="1184109"/>
          </a:xfrm>
        </p:spPr>
        <p:txBody>
          <a:bodyPr>
            <a:noAutofit/>
          </a:bodyPr>
          <a:lstStyle/>
          <a:p>
            <a:r>
              <a:rPr lang="en-IN" sz="4400" dirty="0" smtClean="0"/>
              <a:t>Carbon black </a:t>
            </a:r>
            <a:endParaRPr lang="en-IN" sz="3200" dirty="0"/>
          </a:p>
        </p:txBody>
      </p:sp>
      <p:graphicFrame>
        <p:nvGraphicFramePr>
          <p:cNvPr id="7" name="Table 6"/>
          <p:cNvGraphicFramePr>
            <a:graphicFrameLocks noGrp="1"/>
          </p:cNvGraphicFramePr>
          <p:nvPr>
            <p:extLst>
              <p:ext uri="{D42A27DB-BD31-4B8C-83A1-F6EECF244321}">
                <p14:modId xmlns:p14="http://schemas.microsoft.com/office/powerpoint/2010/main" val="886949252"/>
              </p:ext>
            </p:extLst>
          </p:nvPr>
        </p:nvGraphicFramePr>
        <p:xfrm>
          <a:off x="1306286" y="2936574"/>
          <a:ext cx="9579429" cy="3200400"/>
        </p:xfrm>
        <a:graphic>
          <a:graphicData uri="http://schemas.openxmlformats.org/drawingml/2006/table">
            <a:tbl>
              <a:tblPr firstRow="1" bandRow="1">
                <a:tableStyleId>{22838BEF-8BB2-4498-84A7-C5851F593DF1}</a:tableStyleId>
              </a:tblPr>
              <a:tblGrid>
                <a:gridCol w="2685143"/>
                <a:gridCol w="2902857"/>
                <a:gridCol w="3991429"/>
              </a:tblGrid>
              <a:tr h="370840">
                <a:tc>
                  <a:txBody>
                    <a:bodyPr/>
                    <a:lstStyle/>
                    <a:p>
                      <a:pPr algn="ctr"/>
                      <a:r>
                        <a:rPr lang="en-IN" sz="2400" dirty="0" smtClean="0"/>
                        <a:t>Chemical process</a:t>
                      </a:r>
                      <a:endParaRPr lang="en-IN" sz="2400" dirty="0"/>
                    </a:p>
                  </a:txBody>
                  <a:tcPr/>
                </a:tc>
                <a:tc>
                  <a:txBody>
                    <a:bodyPr/>
                    <a:lstStyle/>
                    <a:p>
                      <a:pPr algn="ctr"/>
                      <a:r>
                        <a:rPr lang="en-IN" sz="2400" dirty="0" smtClean="0"/>
                        <a:t>Manufacturing method</a:t>
                      </a:r>
                      <a:endParaRPr lang="en-IN" sz="2400" dirty="0"/>
                    </a:p>
                  </a:txBody>
                  <a:tcPr/>
                </a:tc>
                <a:tc>
                  <a:txBody>
                    <a:bodyPr/>
                    <a:lstStyle/>
                    <a:p>
                      <a:pPr algn="ctr"/>
                      <a:r>
                        <a:rPr lang="en-IN" sz="2400" dirty="0" smtClean="0"/>
                        <a:t>Raw materials</a:t>
                      </a:r>
                      <a:endParaRPr lang="en-IN" sz="2400" dirty="0"/>
                    </a:p>
                  </a:txBody>
                  <a:tcPr/>
                </a:tc>
              </a:tr>
              <a:tr h="370840">
                <a:tc rowSpan="3">
                  <a:txBody>
                    <a:bodyPr/>
                    <a:lstStyle/>
                    <a:p>
                      <a:r>
                        <a:rPr lang="en-IN" dirty="0" smtClean="0"/>
                        <a:t>Thermal –oxidative decomposition</a:t>
                      </a:r>
                      <a:endParaRPr lang="en-IN" dirty="0"/>
                    </a:p>
                  </a:txBody>
                  <a:tcPr/>
                </a:tc>
                <a:tc>
                  <a:txBody>
                    <a:bodyPr/>
                    <a:lstStyle/>
                    <a:p>
                      <a:r>
                        <a:rPr lang="en-IN" dirty="0" smtClean="0"/>
                        <a:t>Furnace black process</a:t>
                      </a:r>
                      <a:endParaRPr lang="en-IN" dirty="0"/>
                    </a:p>
                  </a:txBody>
                  <a:tcPr/>
                </a:tc>
                <a:tc>
                  <a:txBody>
                    <a:bodyPr/>
                    <a:lstStyle/>
                    <a:p>
                      <a:r>
                        <a:rPr lang="en-IN" dirty="0" smtClean="0"/>
                        <a:t>Aromatic oils on coal tar basis or mineral oil, natural gas</a:t>
                      </a:r>
                      <a:endParaRPr lang="en-IN" dirty="0"/>
                    </a:p>
                  </a:txBody>
                  <a:tcPr/>
                </a:tc>
              </a:tr>
              <a:tr h="320040">
                <a:tc vMerge="1">
                  <a:txBody>
                    <a:bodyPr/>
                    <a:lstStyle/>
                    <a:p>
                      <a:endParaRPr lang="en-IN" dirty="0"/>
                    </a:p>
                  </a:txBody>
                  <a:tcPr/>
                </a:tc>
                <a:tc>
                  <a:txBody>
                    <a:bodyPr/>
                    <a:lstStyle/>
                    <a:p>
                      <a:r>
                        <a:rPr lang="en-IN" dirty="0" smtClean="0"/>
                        <a:t>Lamp black process</a:t>
                      </a:r>
                      <a:endParaRPr lang="en-IN" dirty="0"/>
                    </a:p>
                  </a:txBody>
                  <a:tcPr/>
                </a:tc>
                <a:tc>
                  <a:txBody>
                    <a:bodyPr/>
                    <a:lstStyle/>
                    <a:p>
                      <a:r>
                        <a:rPr lang="en-IN" dirty="0" smtClean="0"/>
                        <a:t>Aromatic oils on coal tar basis or mineral oil </a:t>
                      </a:r>
                      <a:endParaRPr lang="en-IN" dirty="0"/>
                    </a:p>
                  </a:txBody>
                  <a:tcPr/>
                </a:tc>
              </a:tr>
              <a:tr h="320040">
                <a:tc vMerge="1">
                  <a:txBody>
                    <a:bodyPr/>
                    <a:lstStyle/>
                    <a:p>
                      <a:endParaRPr lang="en-IN"/>
                    </a:p>
                  </a:txBody>
                  <a:tcPr/>
                </a:tc>
                <a:tc>
                  <a:txBody>
                    <a:bodyPr/>
                    <a:lstStyle/>
                    <a:p>
                      <a:r>
                        <a:rPr lang="en-IN" dirty="0" smtClean="0"/>
                        <a:t>Channel Black process</a:t>
                      </a:r>
                      <a:endParaRPr lang="en-IN" dirty="0"/>
                    </a:p>
                  </a:txBody>
                  <a:tcPr/>
                </a:tc>
                <a:tc>
                  <a:txBody>
                    <a:bodyPr/>
                    <a:lstStyle/>
                    <a:p>
                      <a:r>
                        <a:rPr lang="en-IN" dirty="0" smtClean="0"/>
                        <a:t>Coal tar</a:t>
                      </a:r>
                      <a:r>
                        <a:rPr lang="en-IN" baseline="0" dirty="0" smtClean="0"/>
                        <a:t> distillates</a:t>
                      </a:r>
                      <a:endParaRPr lang="en-IN" dirty="0"/>
                    </a:p>
                  </a:txBody>
                  <a:tcPr/>
                </a:tc>
              </a:tr>
              <a:tr h="185420">
                <a:tc rowSpan="2">
                  <a:txBody>
                    <a:bodyPr/>
                    <a:lstStyle/>
                    <a:p>
                      <a:pPr algn="just"/>
                      <a:r>
                        <a:rPr lang="en-IN" dirty="0" smtClean="0"/>
                        <a:t>Thermal decomposition</a:t>
                      </a:r>
                      <a:endParaRPr lang="en-IN" dirty="0"/>
                    </a:p>
                  </a:txBody>
                  <a:tcPr/>
                </a:tc>
                <a:tc>
                  <a:txBody>
                    <a:bodyPr/>
                    <a:lstStyle/>
                    <a:p>
                      <a:r>
                        <a:rPr lang="en-IN" dirty="0" smtClean="0"/>
                        <a:t>Thermal black process</a:t>
                      </a:r>
                      <a:endParaRPr lang="en-IN" dirty="0"/>
                    </a:p>
                  </a:txBody>
                  <a:tcPr/>
                </a:tc>
                <a:tc>
                  <a:txBody>
                    <a:bodyPr/>
                    <a:lstStyle/>
                    <a:p>
                      <a:r>
                        <a:rPr lang="en-IN" dirty="0" smtClean="0"/>
                        <a:t>Natural gas or mineral oils</a:t>
                      </a:r>
                      <a:endParaRPr lang="en-IN" dirty="0"/>
                    </a:p>
                  </a:txBody>
                  <a:tcPr/>
                </a:tc>
              </a:tr>
              <a:tr h="185420">
                <a:tc vMerge="1">
                  <a:txBody>
                    <a:bodyPr/>
                    <a:lstStyle/>
                    <a:p>
                      <a:endParaRPr lang="en-IN" dirty="0"/>
                    </a:p>
                  </a:txBody>
                  <a:tcPr/>
                </a:tc>
                <a:tc>
                  <a:txBody>
                    <a:bodyPr/>
                    <a:lstStyle/>
                    <a:p>
                      <a:r>
                        <a:rPr lang="en-IN" dirty="0" smtClean="0"/>
                        <a:t>Acetylene black process</a:t>
                      </a:r>
                      <a:endParaRPr lang="en-IN" dirty="0"/>
                    </a:p>
                  </a:txBody>
                  <a:tcPr/>
                </a:tc>
                <a:tc>
                  <a:txBody>
                    <a:bodyPr/>
                    <a:lstStyle/>
                    <a:p>
                      <a:r>
                        <a:rPr lang="en-IN" dirty="0" smtClean="0"/>
                        <a:t>Acetylene</a:t>
                      </a:r>
                      <a:endParaRPr lang="en-IN" dirty="0"/>
                    </a:p>
                  </a:txBody>
                  <a:tcPr/>
                </a:tc>
              </a:tr>
            </a:tbl>
          </a:graphicData>
        </a:graphic>
      </p:graphicFrame>
      <p:sp>
        <p:nvSpPr>
          <p:cNvPr id="8" name="Rectangle 7"/>
          <p:cNvSpPr/>
          <p:nvPr/>
        </p:nvSpPr>
        <p:spPr>
          <a:xfrm>
            <a:off x="1088570" y="1343763"/>
            <a:ext cx="10537373" cy="1384995"/>
          </a:xfrm>
          <a:prstGeom prst="rect">
            <a:avLst/>
          </a:prstGeom>
        </p:spPr>
        <p:txBody>
          <a:bodyPr wrap="square">
            <a:spAutoFit/>
          </a:bodyPr>
          <a:lstStyle/>
          <a:p>
            <a:pPr algn="just">
              <a:spcBef>
                <a:spcPct val="50000"/>
              </a:spcBef>
            </a:pPr>
            <a:r>
              <a:rPr lang="en-US" sz="2800" dirty="0"/>
              <a:t>Carbon blacks are produced by converting either liquid or gaseous hydrocarbons to elemental carbon and hydrogen by partial combustion or thermal decomposition.</a:t>
            </a:r>
          </a:p>
        </p:txBody>
      </p:sp>
    </p:spTree>
    <p:extLst>
      <p:ext uri="{BB962C8B-B14F-4D97-AF65-F5344CB8AC3E}">
        <p14:creationId xmlns:p14="http://schemas.microsoft.com/office/powerpoint/2010/main" val="29073794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063514" cy="1325563"/>
          </a:xfrm>
        </p:spPr>
        <p:txBody>
          <a:bodyPr>
            <a:normAutofit/>
          </a:bodyPr>
          <a:lstStyle/>
          <a:p>
            <a:pPr marL="571500" indent="-571500" algn="just">
              <a:buFont typeface="Wingdings" panose="05000000000000000000" pitchFamily="2" charset="2"/>
              <a:buChar char="Ø"/>
            </a:pPr>
            <a:r>
              <a:rPr lang="en-US" sz="3600" dirty="0"/>
              <a:t>Depending on the process adopted for the preparation, carbon blacks are classified as</a:t>
            </a:r>
            <a:endParaRPr lang="en-IN" sz="3600" dirty="0"/>
          </a:p>
        </p:txBody>
      </p:sp>
      <p:sp>
        <p:nvSpPr>
          <p:cNvPr id="3" name="Content Placeholder 2"/>
          <p:cNvSpPr>
            <a:spLocks noGrp="1"/>
          </p:cNvSpPr>
          <p:nvPr>
            <p:ph idx="1"/>
          </p:nvPr>
        </p:nvSpPr>
        <p:spPr/>
        <p:txBody>
          <a:bodyPr>
            <a:normAutofit fontScale="92500" lnSpcReduction="20000"/>
          </a:bodyPr>
          <a:lstStyle/>
          <a:p>
            <a:pPr algn="just">
              <a:spcBef>
                <a:spcPct val="50000"/>
              </a:spcBef>
            </a:pPr>
            <a:r>
              <a:rPr lang="en-US" b="1" dirty="0"/>
              <a:t>Furnace blacks-</a:t>
            </a:r>
            <a:r>
              <a:rPr lang="en-US" dirty="0"/>
              <a:t> produced by incomplete combustion of natural gas or  heavy aromatic residue oils from the petroleum industries </a:t>
            </a:r>
            <a:r>
              <a:rPr lang="en-US" dirty="0">
                <a:solidFill>
                  <a:srgbClr val="CC3300"/>
                </a:solidFill>
              </a:rPr>
              <a:t>(particle size 20 nm – 80 nm)</a:t>
            </a:r>
            <a:r>
              <a:rPr lang="en-US" dirty="0"/>
              <a:t>.</a:t>
            </a:r>
          </a:p>
          <a:p>
            <a:pPr algn="just">
              <a:spcBef>
                <a:spcPct val="50000"/>
              </a:spcBef>
            </a:pPr>
            <a:r>
              <a:rPr lang="en-US" b="1" dirty="0"/>
              <a:t>Thermal blacks</a:t>
            </a:r>
            <a:r>
              <a:rPr lang="en-US" dirty="0"/>
              <a:t> – decomposition of natural gas or oil at 1300 </a:t>
            </a:r>
            <a:r>
              <a:rPr lang="en-US" baseline="30000" dirty="0" err="1"/>
              <a:t>o</a:t>
            </a:r>
            <a:r>
              <a:rPr lang="en-US" dirty="0" err="1"/>
              <a:t>C</a:t>
            </a:r>
            <a:r>
              <a:rPr lang="en-US" dirty="0"/>
              <a:t> in the absence of free air </a:t>
            </a:r>
            <a:r>
              <a:rPr lang="en-US" dirty="0">
                <a:solidFill>
                  <a:srgbClr val="CC3300"/>
                </a:solidFill>
              </a:rPr>
              <a:t>(particle size 20 nm – 80nm)</a:t>
            </a:r>
            <a:r>
              <a:rPr lang="en-US" dirty="0"/>
              <a:t>.</a:t>
            </a:r>
          </a:p>
          <a:p>
            <a:pPr algn="just">
              <a:spcBef>
                <a:spcPct val="50000"/>
              </a:spcBef>
            </a:pPr>
            <a:r>
              <a:rPr lang="en-US" dirty="0">
                <a:solidFill>
                  <a:srgbClr val="CC3300"/>
                </a:solidFill>
              </a:rPr>
              <a:t>Acetylene black</a:t>
            </a:r>
            <a:r>
              <a:rPr lang="en-US" dirty="0"/>
              <a:t> is a thermal type. Decomposition of acetylene gas is exothermic, so heat is supplied only to start the reaction.</a:t>
            </a:r>
          </a:p>
          <a:p>
            <a:pPr algn="just">
              <a:spcBef>
                <a:spcPct val="50000"/>
              </a:spcBef>
            </a:pPr>
            <a:r>
              <a:rPr lang="en-US" b="1" dirty="0"/>
              <a:t>Channel blacks </a:t>
            </a:r>
            <a:r>
              <a:rPr lang="en-US" dirty="0"/>
              <a:t>- produced by feeding the natural gas or oil into thousands of small burner trips where the small flames impinge on to a large rotating drum</a:t>
            </a:r>
          </a:p>
          <a:p>
            <a:pPr algn="just">
              <a:spcBef>
                <a:spcPct val="50000"/>
              </a:spcBef>
            </a:pPr>
            <a:r>
              <a:rPr lang="en-US" b="1" dirty="0"/>
              <a:t>Lamp black</a:t>
            </a:r>
            <a:r>
              <a:rPr lang="en-US" dirty="0"/>
              <a:t> - made by burning oil and allowing the black formed to settle out by gravity in series of chambers.</a:t>
            </a:r>
          </a:p>
          <a:p>
            <a:endParaRPr lang="en-IN" dirty="0"/>
          </a:p>
        </p:txBody>
      </p:sp>
    </p:spTree>
    <p:extLst>
      <p:ext uri="{BB962C8B-B14F-4D97-AF65-F5344CB8AC3E}">
        <p14:creationId xmlns:p14="http://schemas.microsoft.com/office/powerpoint/2010/main" val="2909561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547" y="-71932"/>
            <a:ext cx="10515600" cy="1015361"/>
          </a:xfrm>
        </p:spPr>
        <p:txBody>
          <a:bodyPr/>
          <a:lstStyle/>
          <a:p>
            <a:pPr algn="ctr"/>
            <a:r>
              <a:rPr lang="en-IN" dirty="0" smtClean="0"/>
              <a:t>Properties of Carbon black</a:t>
            </a:r>
            <a:endParaRPr lang="en-IN" dirty="0"/>
          </a:p>
        </p:txBody>
      </p:sp>
      <p:sp>
        <p:nvSpPr>
          <p:cNvPr id="3" name="Content Placeholder 2"/>
          <p:cNvSpPr>
            <a:spLocks noGrp="1"/>
          </p:cNvSpPr>
          <p:nvPr>
            <p:ph idx="1"/>
          </p:nvPr>
        </p:nvSpPr>
        <p:spPr>
          <a:xfrm>
            <a:off x="899526" y="943429"/>
            <a:ext cx="10515600" cy="4351338"/>
          </a:xfrm>
        </p:spPr>
        <p:txBody>
          <a:bodyPr>
            <a:normAutofit/>
          </a:bodyPr>
          <a:lstStyle/>
          <a:p>
            <a:pPr algn="just">
              <a:buFont typeface="Wingdings" panose="05000000000000000000" pitchFamily="2" charset="2"/>
              <a:buChar char="q"/>
            </a:pPr>
            <a:r>
              <a:rPr lang="en-IN" sz="2000" dirty="0" smtClean="0"/>
              <a:t> Composed from </a:t>
            </a:r>
            <a:r>
              <a:rPr lang="en-IN" sz="2000" dirty="0"/>
              <a:t>three colloidal particles morphological forms existing in rubber compounding includes (primary particle, aggregate, and agglomerate). </a:t>
            </a:r>
            <a:endParaRPr lang="en-IN" sz="2000" dirty="0" smtClean="0"/>
          </a:p>
          <a:p>
            <a:pPr algn="just">
              <a:buFont typeface="Wingdings" panose="05000000000000000000" pitchFamily="2" charset="2"/>
              <a:buChar char="q"/>
            </a:pPr>
            <a:r>
              <a:rPr lang="en-IN" sz="2000" dirty="0"/>
              <a:t> </a:t>
            </a:r>
            <a:r>
              <a:rPr lang="en-IN" sz="2000" dirty="0" smtClean="0"/>
              <a:t> Sizes </a:t>
            </a:r>
            <a:r>
              <a:rPr lang="en-IN" sz="2000" dirty="0"/>
              <a:t>of these morphological forms have the following order: </a:t>
            </a:r>
            <a:endParaRPr lang="en-IN" sz="2000" dirty="0" smtClean="0"/>
          </a:p>
          <a:p>
            <a:pPr marL="0" indent="0" algn="just">
              <a:buNone/>
            </a:pPr>
            <a:r>
              <a:rPr lang="en-IN" sz="2000" dirty="0"/>
              <a:t> </a:t>
            </a:r>
            <a:r>
              <a:rPr lang="en-IN" sz="2000" dirty="0" smtClean="0"/>
              <a:t>             particle </a:t>
            </a:r>
            <a:r>
              <a:rPr lang="en-IN" sz="2000" dirty="0"/>
              <a:t>&lt; aggregate &lt; agglomerate. </a:t>
            </a:r>
            <a:endParaRPr lang="en-IN" sz="2000" dirty="0" smtClean="0"/>
          </a:p>
          <a:p>
            <a:pPr marL="0" indent="0" algn="just">
              <a:buNone/>
            </a:pPr>
            <a:r>
              <a:rPr lang="en-IN" sz="2000" dirty="0"/>
              <a:t> </a:t>
            </a:r>
            <a:r>
              <a:rPr lang="en-IN" sz="2000" dirty="0" smtClean="0"/>
              <a:t>               </a:t>
            </a:r>
            <a:endParaRPr lang="en-IN" sz="2000" dirty="0"/>
          </a:p>
        </p:txBody>
      </p:sp>
      <p:grpSp>
        <p:nvGrpSpPr>
          <p:cNvPr id="8" name="Group 7"/>
          <p:cNvGrpSpPr/>
          <p:nvPr/>
        </p:nvGrpSpPr>
        <p:grpSpPr>
          <a:xfrm>
            <a:off x="1891038" y="2372725"/>
            <a:ext cx="7990059" cy="4212503"/>
            <a:chOff x="1891038" y="2372725"/>
            <a:chExt cx="7990059" cy="4212503"/>
          </a:xfrm>
        </p:grpSpPr>
        <p:pic>
          <p:nvPicPr>
            <p:cNvPr id="7" name="Picture 2" descr="File:Diagram of carbon black structure and texture cre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038" y="2372725"/>
              <a:ext cx="6991704" cy="4212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531047" y="4294310"/>
              <a:ext cx="1350050" cy="369332"/>
            </a:xfrm>
            <a:prstGeom prst="rect">
              <a:avLst/>
            </a:prstGeom>
            <a:noFill/>
          </p:spPr>
          <p:txBody>
            <a:bodyPr wrap="none" rtlCol="0">
              <a:spAutoFit/>
            </a:bodyPr>
            <a:lstStyle/>
            <a:p>
              <a:r>
                <a:rPr lang="en-IN" dirty="0"/>
                <a:t>8</a:t>
              </a:r>
              <a:r>
                <a:rPr lang="en-IN" dirty="0" smtClean="0"/>
                <a:t>5 – 500 nm</a:t>
              </a:r>
              <a:endParaRPr lang="en-IN" dirty="0"/>
            </a:p>
          </p:txBody>
        </p:sp>
        <p:sp>
          <p:nvSpPr>
            <p:cNvPr id="4" name="TextBox 3"/>
            <p:cNvSpPr txBox="1"/>
            <p:nvPr/>
          </p:nvSpPr>
          <p:spPr>
            <a:xfrm>
              <a:off x="8524204" y="5758369"/>
              <a:ext cx="1350050" cy="369332"/>
            </a:xfrm>
            <a:prstGeom prst="rect">
              <a:avLst/>
            </a:prstGeom>
            <a:noFill/>
          </p:spPr>
          <p:txBody>
            <a:bodyPr wrap="none" rtlCol="0">
              <a:spAutoFit/>
            </a:bodyPr>
            <a:lstStyle/>
            <a:p>
              <a:r>
                <a:rPr lang="en-IN" dirty="0" smtClean="0"/>
                <a:t>15 – 300 nm</a:t>
              </a:r>
              <a:endParaRPr lang="en-IN" dirty="0"/>
            </a:p>
          </p:txBody>
        </p:sp>
        <p:sp>
          <p:nvSpPr>
            <p:cNvPr id="5" name="TextBox 4"/>
            <p:cNvSpPr txBox="1"/>
            <p:nvPr/>
          </p:nvSpPr>
          <p:spPr>
            <a:xfrm>
              <a:off x="2638965" y="6152472"/>
              <a:ext cx="1237839" cy="369332"/>
            </a:xfrm>
            <a:prstGeom prst="rect">
              <a:avLst/>
            </a:prstGeom>
            <a:noFill/>
          </p:spPr>
          <p:txBody>
            <a:bodyPr wrap="none" rtlCol="0">
              <a:spAutoFit/>
            </a:bodyPr>
            <a:lstStyle/>
            <a:p>
              <a:r>
                <a:rPr lang="en-IN" dirty="0" smtClean="0"/>
                <a:t>1 – 100 </a:t>
              </a:r>
              <a:r>
                <a:rPr lang="en-IN" dirty="0"/>
                <a:t>µ</a:t>
              </a:r>
              <a:r>
                <a:rPr lang="en-IN" dirty="0" smtClean="0"/>
                <a:t>m</a:t>
              </a:r>
              <a:endParaRPr lang="en-IN" dirty="0"/>
            </a:p>
          </p:txBody>
        </p:sp>
      </p:grpSp>
    </p:spTree>
    <p:extLst>
      <p:ext uri="{BB962C8B-B14F-4D97-AF65-F5344CB8AC3E}">
        <p14:creationId xmlns:p14="http://schemas.microsoft.com/office/powerpoint/2010/main" val="199059352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Important properties of carbon black</a:t>
            </a:r>
            <a:endParaRPr lang="en-IN" dirty="0"/>
          </a:p>
        </p:txBody>
      </p:sp>
      <p:sp>
        <p:nvSpPr>
          <p:cNvPr id="3" name="Content Placeholder 2"/>
          <p:cNvSpPr>
            <a:spLocks noGrp="1"/>
          </p:cNvSpPr>
          <p:nvPr>
            <p:ph idx="1"/>
          </p:nvPr>
        </p:nvSpPr>
        <p:spPr/>
        <p:txBody>
          <a:bodyPr/>
          <a:lstStyle/>
          <a:p>
            <a:pPr>
              <a:spcBef>
                <a:spcPct val="50000"/>
              </a:spcBef>
              <a:buFont typeface="Wingdings" panose="05000000000000000000" pitchFamily="2" charset="2"/>
              <a:buChar char="Ø"/>
            </a:pPr>
            <a:r>
              <a:rPr lang="en-US" dirty="0" smtClean="0">
                <a:solidFill>
                  <a:srgbClr val="003399"/>
                </a:solidFill>
              </a:rPr>
              <a:t> Particle size</a:t>
            </a:r>
          </a:p>
          <a:p>
            <a:pPr>
              <a:spcBef>
                <a:spcPct val="50000"/>
              </a:spcBef>
              <a:buFont typeface="Wingdings" panose="05000000000000000000" pitchFamily="2" charset="2"/>
              <a:buChar char="Ø"/>
            </a:pPr>
            <a:r>
              <a:rPr lang="en-US" dirty="0" smtClean="0">
                <a:solidFill>
                  <a:srgbClr val="003399"/>
                </a:solidFill>
              </a:rPr>
              <a:t>Structure</a:t>
            </a:r>
          </a:p>
          <a:p>
            <a:pPr>
              <a:spcBef>
                <a:spcPct val="50000"/>
              </a:spcBef>
              <a:buFont typeface="Wingdings" panose="05000000000000000000" pitchFamily="2" charset="2"/>
              <a:buChar char="Ø"/>
            </a:pPr>
            <a:r>
              <a:rPr lang="en-US" dirty="0" smtClean="0">
                <a:solidFill>
                  <a:srgbClr val="003399"/>
                </a:solidFill>
              </a:rPr>
              <a:t>Physical </a:t>
            </a:r>
            <a:r>
              <a:rPr lang="en-US" dirty="0">
                <a:solidFill>
                  <a:srgbClr val="003399"/>
                </a:solidFill>
              </a:rPr>
              <a:t>nature of the </a:t>
            </a:r>
            <a:r>
              <a:rPr lang="en-US" dirty="0" smtClean="0">
                <a:solidFill>
                  <a:srgbClr val="003399"/>
                </a:solidFill>
              </a:rPr>
              <a:t>surface</a:t>
            </a:r>
          </a:p>
          <a:p>
            <a:pPr>
              <a:spcBef>
                <a:spcPct val="50000"/>
              </a:spcBef>
              <a:buFont typeface="Wingdings" panose="05000000000000000000" pitchFamily="2" charset="2"/>
              <a:buChar char="Ø"/>
            </a:pPr>
            <a:r>
              <a:rPr lang="en-US" dirty="0" smtClean="0">
                <a:solidFill>
                  <a:srgbClr val="003399"/>
                </a:solidFill>
              </a:rPr>
              <a:t>Chemical </a:t>
            </a:r>
            <a:r>
              <a:rPr lang="en-US" dirty="0">
                <a:solidFill>
                  <a:srgbClr val="003399"/>
                </a:solidFill>
              </a:rPr>
              <a:t>nature of the </a:t>
            </a:r>
            <a:r>
              <a:rPr lang="en-US" dirty="0" smtClean="0">
                <a:solidFill>
                  <a:srgbClr val="003399"/>
                </a:solidFill>
              </a:rPr>
              <a:t>surface</a:t>
            </a:r>
          </a:p>
          <a:p>
            <a:pPr>
              <a:spcBef>
                <a:spcPct val="50000"/>
              </a:spcBef>
              <a:buFont typeface="Wingdings" panose="05000000000000000000" pitchFamily="2" charset="2"/>
              <a:buChar char="Ø"/>
            </a:pPr>
            <a:r>
              <a:rPr lang="en-US" dirty="0" smtClean="0">
                <a:solidFill>
                  <a:srgbClr val="003399"/>
                </a:solidFill>
              </a:rPr>
              <a:t>Particle </a:t>
            </a:r>
            <a:r>
              <a:rPr lang="en-US" dirty="0">
                <a:solidFill>
                  <a:srgbClr val="003399"/>
                </a:solidFill>
              </a:rPr>
              <a:t>porosity</a:t>
            </a:r>
          </a:p>
          <a:p>
            <a:endParaRPr lang="en-IN" dirty="0"/>
          </a:p>
        </p:txBody>
      </p:sp>
    </p:spTree>
    <p:extLst>
      <p:ext uri="{BB962C8B-B14F-4D97-AF65-F5344CB8AC3E}">
        <p14:creationId xmlns:p14="http://schemas.microsoft.com/office/powerpoint/2010/main" val="1139382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Particle size</a:t>
            </a:r>
            <a:endParaRPr lang="en-IN" dirty="0"/>
          </a:p>
        </p:txBody>
      </p:sp>
      <p:sp>
        <p:nvSpPr>
          <p:cNvPr id="3" name="Content Placeholder 2"/>
          <p:cNvSpPr>
            <a:spLocks noGrp="1"/>
          </p:cNvSpPr>
          <p:nvPr>
            <p:ph idx="1"/>
          </p:nvPr>
        </p:nvSpPr>
        <p:spPr/>
        <p:txBody>
          <a:bodyPr/>
          <a:lstStyle/>
          <a:p>
            <a:pPr algn="just"/>
            <a:r>
              <a:rPr lang="en-US" dirty="0">
                <a:solidFill>
                  <a:srgbClr val="043F64"/>
                </a:solidFill>
              </a:rPr>
              <a:t>The particles of carbon blacks are not discrete but are fused clusters of individual particles.</a:t>
            </a:r>
            <a:r>
              <a:rPr lang="en-US" sz="3200" dirty="0">
                <a:solidFill>
                  <a:srgbClr val="043F64"/>
                </a:solidFill>
              </a:rPr>
              <a:t> </a:t>
            </a:r>
          </a:p>
          <a:p>
            <a:pPr algn="just"/>
            <a:endParaRPr lang="en-US" sz="3200" dirty="0">
              <a:solidFill>
                <a:srgbClr val="043F64"/>
              </a:solidFill>
            </a:endParaRPr>
          </a:p>
          <a:p>
            <a:pPr algn="just"/>
            <a:r>
              <a:rPr lang="en-US" dirty="0"/>
              <a:t>It  is the fundamental property that has a significant effect on rubber properties. Finer particles lead to </a:t>
            </a:r>
            <a:r>
              <a:rPr lang="en-US" dirty="0">
                <a:solidFill>
                  <a:srgbClr val="CC0000"/>
                </a:solidFill>
              </a:rPr>
              <a:t>increased reinforcement, increased abrasion resistance, and improved tensile strength</a:t>
            </a:r>
            <a:r>
              <a:rPr lang="en-US" dirty="0"/>
              <a:t>.  </a:t>
            </a:r>
          </a:p>
          <a:p>
            <a:pPr algn="just"/>
            <a:endParaRPr lang="en-US" dirty="0"/>
          </a:p>
          <a:p>
            <a:pPr algn="just"/>
            <a:r>
              <a:rPr lang="en-US" dirty="0"/>
              <a:t>Transmission electron microscope and surface area by adsorption methods are used to determine particle size .  </a:t>
            </a:r>
          </a:p>
          <a:p>
            <a:endParaRPr lang="en-IN" dirty="0"/>
          </a:p>
        </p:txBody>
      </p:sp>
    </p:spTree>
    <p:extLst>
      <p:ext uri="{BB962C8B-B14F-4D97-AF65-F5344CB8AC3E}">
        <p14:creationId xmlns:p14="http://schemas.microsoft.com/office/powerpoint/2010/main" val="22336965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057"/>
            <a:ext cx="10515600" cy="753991"/>
          </a:xfrm>
        </p:spPr>
        <p:txBody>
          <a:bodyPr/>
          <a:lstStyle/>
          <a:p>
            <a:pPr algn="ctr"/>
            <a:r>
              <a:rPr lang="en-IN" dirty="0" smtClean="0"/>
              <a:t>Determination of particle size</a:t>
            </a:r>
            <a:endParaRPr lang="en-IN" dirty="0"/>
          </a:p>
        </p:txBody>
      </p:sp>
      <p:sp>
        <p:nvSpPr>
          <p:cNvPr id="3" name="Content Placeholder 2"/>
          <p:cNvSpPr>
            <a:spLocks noGrp="1"/>
          </p:cNvSpPr>
          <p:nvPr>
            <p:ph idx="1"/>
          </p:nvPr>
        </p:nvSpPr>
        <p:spPr>
          <a:xfrm>
            <a:off x="838200" y="1105469"/>
            <a:ext cx="10515600" cy="5098790"/>
          </a:xfrm>
        </p:spPr>
        <p:txBody>
          <a:bodyPr>
            <a:normAutofit fontScale="92500" lnSpcReduction="10000"/>
          </a:bodyPr>
          <a:lstStyle/>
          <a:p>
            <a:r>
              <a:rPr lang="en-IN" sz="2600" dirty="0"/>
              <a:t>Surface area measurements give an indirect characterization of carbon black particle size. </a:t>
            </a:r>
            <a:endParaRPr lang="en-IN" sz="2600" dirty="0" smtClean="0"/>
          </a:p>
          <a:p>
            <a:r>
              <a:rPr lang="en-IN" sz="2600" dirty="0"/>
              <a:t>S</a:t>
            </a:r>
            <a:r>
              <a:rPr lang="en-IN" sz="2600" dirty="0" smtClean="0"/>
              <a:t>urface </a:t>
            </a:r>
            <a:r>
              <a:rPr lang="en-IN" sz="2600" dirty="0"/>
              <a:t>area </a:t>
            </a:r>
            <a:r>
              <a:rPr lang="en-IN" sz="2600" dirty="0" smtClean="0"/>
              <a:t>determination</a:t>
            </a:r>
            <a:r>
              <a:rPr lang="en-IN" sz="2600" dirty="0"/>
              <a:t> </a:t>
            </a:r>
            <a:r>
              <a:rPr lang="en-IN" sz="2600" dirty="0" smtClean="0"/>
              <a:t>using </a:t>
            </a:r>
          </a:p>
          <a:p>
            <a:pPr marL="0" indent="0">
              <a:buNone/>
            </a:pPr>
            <a:endParaRPr lang="en-IN" sz="2600" dirty="0" smtClean="0"/>
          </a:p>
          <a:p>
            <a:pPr lvl="1">
              <a:buFont typeface="Wingdings" panose="05000000000000000000" pitchFamily="2" charset="2"/>
              <a:buChar char="ü"/>
            </a:pPr>
            <a:r>
              <a:rPr lang="en-IN" dirty="0" smtClean="0"/>
              <a:t> </a:t>
            </a:r>
            <a:r>
              <a:rPr lang="en-IN" sz="2200" dirty="0" smtClean="0">
                <a:solidFill>
                  <a:srgbClr val="FF0000"/>
                </a:solidFill>
              </a:rPr>
              <a:t>Iodine </a:t>
            </a:r>
            <a:r>
              <a:rPr lang="en-IN" sz="2200" dirty="0">
                <a:solidFill>
                  <a:srgbClr val="FF0000"/>
                </a:solidFill>
              </a:rPr>
              <a:t>adsorption </a:t>
            </a:r>
            <a:r>
              <a:rPr lang="en-IN" sz="2200" dirty="0"/>
              <a:t>(expressed in mg/g of carbon) measures the amount of iodine which can be adsorbed on the surface of a given mass of carbon black</a:t>
            </a:r>
            <a:r>
              <a:rPr lang="en-IN" sz="2200" dirty="0" smtClean="0"/>
              <a:t>.</a:t>
            </a:r>
          </a:p>
          <a:p>
            <a:pPr lvl="1">
              <a:buFont typeface="Wingdings" panose="05000000000000000000" pitchFamily="2" charset="2"/>
              <a:buChar char="ü"/>
            </a:pPr>
            <a:r>
              <a:rPr lang="en-IN" sz="2200" dirty="0" smtClean="0"/>
              <a:t> </a:t>
            </a:r>
            <a:r>
              <a:rPr lang="en-IN" sz="2200" dirty="0" smtClean="0">
                <a:solidFill>
                  <a:srgbClr val="FF0000"/>
                </a:solidFill>
              </a:rPr>
              <a:t>BET (</a:t>
            </a:r>
            <a:r>
              <a:rPr lang="en-IN" sz="2200" dirty="0" err="1">
                <a:solidFill>
                  <a:srgbClr val="FF0000"/>
                </a:solidFill>
              </a:rPr>
              <a:t>Brunauer</a:t>
            </a:r>
            <a:r>
              <a:rPr lang="en-IN" sz="2200" dirty="0">
                <a:solidFill>
                  <a:srgbClr val="FF0000"/>
                </a:solidFill>
              </a:rPr>
              <a:t>, Emmett and Teller </a:t>
            </a:r>
            <a:r>
              <a:rPr lang="en-IN" sz="2200" dirty="0" smtClean="0">
                <a:solidFill>
                  <a:srgbClr val="FF0000"/>
                </a:solidFill>
              </a:rPr>
              <a:t>) method / Nitrogen  adsorption </a:t>
            </a:r>
            <a:r>
              <a:rPr lang="en-IN" sz="2200" dirty="0" smtClean="0"/>
              <a:t>surface </a:t>
            </a:r>
            <a:r>
              <a:rPr lang="en-IN" sz="2200" dirty="0"/>
              <a:t>area is a measurement of the amount of nitrogen which can be adsorbed on a given mass of carbon </a:t>
            </a:r>
            <a:r>
              <a:rPr lang="en-IN" sz="2200" dirty="0" smtClean="0"/>
              <a:t>black.</a:t>
            </a:r>
          </a:p>
          <a:p>
            <a:pPr lvl="1">
              <a:buFont typeface="Wingdings" panose="05000000000000000000" pitchFamily="2" charset="2"/>
              <a:buChar char="ü"/>
            </a:pPr>
            <a:endParaRPr lang="en-IN" sz="2200" dirty="0" smtClean="0"/>
          </a:p>
          <a:p>
            <a:pPr lvl="1">
              <a:buFont typeface="Wingdings" panose="05000000000000000000" pitchFamily="2" charset="2"/>
              <a:buChar char="ü"/>
            </a:pPr>
            <a:r>
              <a:rPr lang="en-IN" sz="2200" dirty="0" smtClean="0"/>
              <a:t>Iodine </a:t>
            </a:r>
            <a:r>
              <a:rPr lang="en-IN" sz="2200" dirty="0"/>
              <a:t>and nitrogen molecules are sufficiently small to be adsorbed in the narrow slits or pores which can be formed in CB by oxidation at higher temperatures. </a:t>
            </a:r>
            <a:endParaRPr lang="en-IN" sz="2200" dirty="0" smtClean="0"/>
          </a:p>
          <a:p>
            <a:pPr lvl="1">
              <a:buFont typeface="Wingdings" panose="05000000000000000000" pitchFamily="2" charset="2"/>
              <a:buChar char="ü"/>
            </a:pPr>
            <a:r>
              <a:rPr lang="en-IN" sz="2200" dirty="0"/>
              <a:t> </a:t>
            </a:r>
            <a:r>
              <a:rPr lang="en-IN" sz="2200" dirty="0" smtClean="0"/>
              <a:t>Rubber </a:t>
            </a:r>
            <a:r>
              <a:rPr lang="en-IN" sz="2200" dirty="0"/>
              <a:t>molecules are much bigger than these imperfections, so the extra surface area is not available for rubber- CB interactions. </a:t>
            </a:r>
            <a:endParaRPr lang="en-IN" sz="2200" dirty="0" smtClean="0"/>
          </a:p>
          <a:p>
            <a:pPr lvl="1">
              <a:buFont typeface="Wingdings" panose="05000000000000000000" pitchFamily="2" charset="2"/>
              <a:buChar char="ü"/>
            </a:pPr>
            <a:r>
              <a:rPr lang="en-IN" sz="2200" dirty="0" err="1" smtClean="0"/>
              <a:t>Overcomed</a:t>
            </a:r>
            <a:r>
              <a:rPr lang="en-IN" sz="2200" dirty="0" smtClean="0"/>
              <a:t> using  </a:t>
            </a:r>
            <a:r>
              <a:rPr lang="en-IN" sz="2200" dirty="0" err="1">
                <a:solidFill>
                  <a:srgbClr val="FF0000"/>
                </a:solidFill>
              </a:rPr>
              <a:t>cetyl</a:t>
            </a:r>
            <a:r>
              <a:rPr lang="en-IN" sz="2200" dirty="0">
                <a:solidFill>
                  <a:srgbClr val="FF0000"/>
                </a:solidFill>
              </a:rPr>
              <a:t> </a:t>
            </a:r>
            <a:r>
              <a:rPr lang="en-IN" sz="2200" dirty="0" err="1">
                <a:solidFill>
                  <a:srgbClr val="FF0000"/>
                </a:solidFill>
              </a:rPr>
              <a:t>trimethyl</a:t>
            </a:r>
            <a:r>
              <a:rPr lang="en-IN" sz="2200" dirty="0">
                <a:solidFill>
                  <a:srgbClr val="FF0000"/>
                </a:solidFill>
              </a:rPr>
              <a:t> ammonium bromide molecule (CTAB) </a:t>
            </a:r>
            <a:r>
              <a:rPr lang="en-IN" sz="2200" dirty="0"/>
              <a:t>.CTAB (m</a:t>
            </a:r>
            <a:r>
              <a:rPr lang="en-IN" sz="2200" baseline="30000" dirty="0"/>
              <a:t>2</a:t>
            </a:r>
            <a:r>
              <a:rPr lang="en-IN" sz="2200" dirty="0"/>
              <a:t>/g) </a:t>
            </a:r>
            <a:r>
              <a:rPr lang="en-IN" sz="2200" dirty="0" smtClean="0"/>
              <a:t>gives </a:t>
            </a:r>
            <a:r>
              <a:rPr lang="en-IN" sz="2200" dirty="0"/>
              <a:t>best correlation with primary particle size.</a:t>
            </a:r>
          </a:p>
          <a:p>
            <a:pPr lvl="1">
              <a:buFont typeface="Wingdings" panose="05000000000000000000" pitchFamily="2" charset="2"/>
              <a:buChar char="ü"/>
            </a:pPr>
            <a:endParaRPr lang="en-IN" dirty="0" smtClean="0"/>
          </a:p>
        </p:txBody>
      </p:sp>
    </p:spTree>
    <p:extLst>
      <p:ext uri="{BB962C8B-B14F-4D97-AF65-F5344CB8AC3E}">
        <p14:creationId xmlns:p14="http://schemas.microsoft.com/office/powerpoint/2010/main" val="61090179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Structure</a:t>
            </a:r>
            <a:endParaRPr lang="en-IN" dirty="0"/>
          </a:p>
        </p:txBody>
      </p:sp>
      <p:sp>
        <p:nvSpPr>
          <p:cNvPr id="3" name="Content Placeholder 2"/>
          <p:cNvSpPr>
            <a:spLocks noGrp="1"/>
          </p:cNvSpPr>
          <p:nvPr>
            <p:ph idx="1"/>
          </p:nvPr>
        </p:nvSpPr>
        <p:spPr>
          <a:xfrm>
            <a:off x="769257" y="1690688"/>
            <a:ext cx="11422743" cy="4351338"/>
          </a:xfrm>
        </p:spPr>
        <p:txBody>
          <a:bodyPr>
            <a:normAutofit/>
          </a:bodyPr>
          <a:lstStyle/>
          <a:p>
            <a:pPr algn="just">
              <a:buFont typeface="Wingdings" panose="05000000000000000000" pitchFamily="2" charset="2"/>
              <a:buChar char="Ø"/>
            </a:pPr>
            <a:endParaRPr lang="en-US" dirty="0" smtClean="0"/>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smtClean="0"/>
              <a:t>Carbon </a:t>
            </a:r>
            <a:r>
              <a:rPr lang="en-US" dirty="0"/>
              <a:t>blacks do not exist as primary particles</a:t>
            </a:r>
            <a:r>
              <a:rPr lang="en-US" dirty="0" smtClean="0"/>
              <a:t>.</a:t>
            </a:r>
          </a:p>
          <a:p>
            <a:pPr algn="just">
              <a:buFont typeface="Wingdings" panose="05000000000000000000" pitchFamily="2" charset="2"/>
              <a:buChar char="Ø"/>
            </a:pPr>
            <a:endParaRPr lang="en-US" dirty="0" smtClean="0"/>
          </a:p>
          <a:p>
            <a:pPr algn="just">
              <a:buFont typeface="Wingdings" panose="05000000000000000000" pitchFamily="2" charset="2"/>
              <a:buChar char="Ø"/>
            </a:pPr>
            <a:r>
              <a:rPr lang="en-US" dirty="0" smtClean="0"/>
              <a:t>Primary </a:t>
            </a:r>
            <a:r>
              <a:rPr lang="en-US" dirty="0"/>
              <a:t>particles fuse to form aggregates, which may contain a large number of particles. </a:t>
            </a:r>
            <a:endParaRPr lang="en-US" dirty="0" smtClean="0"/>
          </a:p>
          <a:p>
            <a:pPr algn="just">
              <a:buFont typeface="Wingdings" panose="05000000000000000000" pitchFamily="2" charset="2"/>
              <a:buChar char="Ø"/>
            </a:pPr>
            <a:endParaRPr lang="en-US" dirty="0" smtClean="0"/>
          </a:p>
          <a:p>
            <a:pPr algn="just">
              <a:buFont typeface="Wingdings" panose="05000000000000000000" pitchFamily="2" charset="2"/>
              <a:buChar char="Ø"/>
            </a:pPr>
            <a:r>
              <a:rPr lang="en-US" dirty="0" smtClean="0">
                <a:solidFill>
                  <a:srgbClr val="CC0000"/>
                </a:solidFill>
              </a:rPr>
              <a:t>The </a:t>
            </a:r>
            <a:r>
              <a:rPr lang="en-US" dirty="0">
                <a:solidFill>
                  <a:srgbClr val="CC0000"/>
                </a:solidFill>
              </a:rPr>
              <a:t>shape and degree of branching of the aggregates is referred to as structure</a:t>
            </a:r>
            <a:r>
              <a:rPr lang="en-US" dirty="0"/>
              <a:t>.  </a:t>
            </a:r>
            <a:endParaRPr lang="en-US" dirty="0" smtClean="0"/>
          </a:p>
          <a:p>
            <a:pPr algn="just">
              <a:buFont typeface="Wingdings" panose="05000000000000000000" pitchFamily="2" charset="2"/>
              <a:buChar char="Ø"/>
            </a:pPr>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1800" y="694078"/>
            <a:ext cx="3810000" cy="2479675"/>
          </a:xfrm>
          <a:prstGeom prst="rect">
            <a:avLst/>
          </a:prstGeom>
          <a:noFill/>
          <a:ln w="57150">
            <a:solidFill>
              <a:schemeClr val="bg1"/>
            </a:solidFill>
            <a:miter lim="800000"/>
            <a:headEnd/>
            <a:tailEnd/>
          </a:ln>
          <a:effectLst>
            <a:outerShdw dist="89803" dir="2700000" algn="ctr" rotWithShape="0">
              <a:schemeClr val="bg2"/>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9963446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Structure</a:t>
            </a:r>
            <a:endParaRPr lang="en-IN" dirty="0"/>
          </a:p>
        </p:txBody>
      </p:sp>
      <p:sp>
        <p:nvSpPr>
          <p:cNvPr id="3" name="Content Placeholder 2"/>
          <p:cNvSpPr>
            <a:spLocks noGrp="1"/>
          </p:cNvSpPr>
          <p:nvPr>
            <p:ph idx="1"/>
          </p:nvPr>
        </p:nvSpPr>
        <p:spPr/>
        <p:txBody>
          <a:bodyPr>
            <a:normAutofit lnSpcReduction="10000"/>
          </a:bodyPr>
          <a:lstStyle/>
          <a:p>
            <a:pPr algn="just">
              <a:spcBef>
                <a:spcPct val="50000"/>
              </a:spcBef>
              <a:buFont typeface="Wingdings" panose="05000000000000000000" pitchFamily="2" charset="2"/>
              <a:buChar char="Ø"/>
            </a:pPr>
            <a:r>
              <a:rPr lang="en-US" dirty="0"/>
              <a:t>Increasing carbon black structure increases modulus, hardness, electrical conductivity, and improves dispersibility of carbon black, but increases compound viscosity</a:t>
            </a:r>
            <a:r>
              <a:rPr lang="en-US" dirty="0" smtClean="0"/>
              <a:t>.</a:t>
            </a:r>
            <a:endParaRPr lang="en-US" dirty="0" smtClean="0">
              <a:solidFill>
                <a:srgbClr val="CC3300"/>
              </a:solidFill>
            </a:endParaRPr>
          </a:p>
          <a:p>
            <a:pPr algn="just">
              <a:spcBef>
                <a:spcPct val="50000"/>
              </a:spcBef>
              <a:buFont typeface="Wingdings" panose="05000000000000000000" pitchFamily="2" charset="2"/>
              <a:buChar char="Ø"/>
            </a:pPr>
            <a:r>
              <a:rPr lang="en-US" dirty="0" smtClean="0">
                <a:solidFill>
                  <a:srgbClr val="CC3300"/>
                </a:solidFill>
              </a:rPr>
              <a:t>Thermal </a:t>
            </a:r>
            <a:r>
              <a:rPr lang="en-US" dirty="0">
                <a:solidFill>
                  <a:srgbClr val="CC3300"/>
                </a:solidFill>
              </a:rPr>
              <a:t>process</a:t>
            </a:r>
            <a:r>
              <a:rPr lang="en-US" dirty="0"/>
              <a:t> produces blacks with little or </a:t>
            </a:r>
            <a:r>
              <a:rPr lang="en-US" dirty="0">
                <a:solidFill>
                  <a:srgbClr val="CC3300"/>
                </a:solidFill>
              </a:rPr>
              <a:t>no </a:t>
            </a:r>
            <a:r>
              <a:rPr lang="en-US" dirty="0" smtClean="0">
                <a:solidFill>
                  <a:srgbClr val="CC3300"/>
                </a:solidFill>
              </a:rPr>
              <a:t>structure</a:t>
            </a:r>
            <a:endParaRPr lang="en-US" dirty="0">
              <a:solidFill>
                <a:srgbClr val="CC3300"/>
              </a:solidFill>
            </a:endParaRPr>
          </a:p>
          <a:p>
            <a:pPr algn="just">
              <a:spcBef>
                <a:spcPct val="50000"/>
              </a:spcBef>
              <a:buFont typeface="Wingdings" panose="05000000000000000000" pitchFamily="2" charset="2"/>
              <a:buChar char="Ø"/>
            </a:pPr>
            <a:r>
              <a:rPr lang="en-US" dirty="0"/>
              <a:t>Some particle </a:t>
            </a:r>
            <a:r>
              <a:rPr lang="en-US" dirty="0">
                <a:solidFill>
                  <a:srgbClr val="CC3300"/>
                </a:solidFill>
              </a:rPr>
              <a:t>agglomeration</a:t>
            </a:r>
            <a:r>
              <a:rPr lang="en-US" dirty="0"/>
              <a:t> in </a:t>
            </a:r>
            <a:r>
              <a:rPr lang="en-US" dirty="0">
                <a:solidFill>
                  <a:srgbClr val="CC3300"/>
                </a:solidFill>
              </a:rPr>
              <a:t>channel </a:t>
            </a:r>
            <a:r>
              <a:rPr lang="en-US" dirty="0" smtClean="0">
                <a:solidFill>
                  <a:srgbClr val="CC3300"/>
                </a:solidFill>
              </a:rPr>
              <a:t>process</a:t>
            </a:r>
            <a:endParaRPr lang="en-US" dirty="0">
              <a:solidFill>
                <a:srgbClr val="CC3300"/>
              </a:solidFill>
            </a:endParaRPr>
          </a:p>
          <a:p>
            <a:pPr algn="just">
              <a:spcBef>
                <a:spcPct val="50000"/>
              </a:spcBef>
              <a:buFont typeface="Wingdings" panose="05000000000000000000" pitchFamily="2" charset="2"/>
              <a:buChar char="Ø"/>
            </a:pPr>
            <a:r>
              <a:rPr lang="en-US" dirty="0">
                <a:solidFill>
                  <a:srgbClr val="CC3300"/>
                </a:solidFill>
              </a:rPr>
              <a:t>Oil furnace</a:t>
            </a:r>
            <a:r>
              <a:rPr lang="en-US" dirty="0"/>
              <a:t> process gives blacks with </a:t>
            </a:r>
            <a:r>
              <a:rPr lang="en-US" dirty="0">
                <a:solidFill>
                  <a:srgbClr val="CC3300"/>
                </a:solidFill>
              </a:rPr>
              <a:t>high structure</a:t>
            </a:r>
            <a:r>
              <a:rPr lang="en-US" dirty="0" smtClean="0"/>
              <a:t>.</a:t>
            </a:r>
            <a:endParaRPr lang="en-US" dirty="0"/>
          </a:p>
          <a:p>
            <a:pPr algn="just">
              <a:spcBef>
                <a:spcPct val="50000"/>
              </a:spcBef>
              <a:buFont typeface="Wingdings" panose="05000000000000000000" pitchFamily="2" charset="2"/>
              <a:buChar char="Ø"/>
            </a:pPr>
            <a:r>
              <a:rPr lang="en-US" dirty="0"/>
              <a:t>The structure is measured by determining the total volume of the air spaces between the aggregates per unit weight of black (DBP absorption method).</a:t>
            </a:r>
          </a:p>
          <a:p>
            <a:endParaRPr lang="en-IN" dirty="0"/>
          </a:p>
        </p:txBody>
      </p:sp>
    </p:spTree>
    <p:extLst>
      <p:ext uri="{BB962C8B-B14F-4D97-AF65-F5344CB8AC3E}">
        <p14:creationId xmlns:p14="http://schemas.microsoft.com/office/powerpoint/2010/main" val="18275766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Determination of structure</a:t>
            </a:r>
            <a:endParaRPr lang="en-IN" dirty="0"/>
          </a:p>
        </p:txBody>
      </p:sp>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Ø"/>
            </a:pPr>
            <a:r>
              <a:rPr lang="en-IN" dirty="0" smtClean="0"/>
              <a:t> </a:t>
            </a:r>
            <a:r>
              <a:rPr lang="en-IN" dirty="0" err="1" smtClean="0"/>
              <a:t>Dibutyl</a:t>
            </a:r>
            <a:r>
              <a:rPr lang="en-IN" dirty="0" smtClean="0"/>
              <a:t>-Phthalate </a:t>
            </a:r>
            <a:r>
              <a:rPr lang="en-IN" dirty="0"/>
              <a:t>(DBP) oil absorption test measures the amount of DBP absorbed on 100g of carbon black. </a:t>
            </a:r>
            <a:endParaRPr lang="en-IN" dirty="0" smtClean="0"/>
          </a:p>
          <a:p>
            <a:pPr>
              <a:buFont typeface="Wingdings" panose="05000000000000000000" pitchFamily="2" charset="2"/>
              <a:buChar char="Ø"/>
            </a:pPr>
            <a:r>
              <a:rPr lang="en-IN" dirty="0" smtClean="0"/>
              <a:t> Involve </a:t>
            </a:r>
            <a:r>
              <a:rPr lang="en-IN" dirty="0"/>
              <a:t>measuring the absorption of oil by the carbon black and they indicate the internal void volume present in both the primary and secondary aggregate structure</a:t>
            </a:r>
            <a:r>
              <a:rPr lang="en-IN" dirty="0" smtClean="0"/>
              <a:t>.</a:t>
            </a:r>
          </a:p>
          <a:p>
            <a:pPr>
              <a:buFont typeface="Wingdings" panose="05000000000000000000" pitchFamily="2" charset="2"/>
              <a:buChar char="Ø"/>
            </a:pPr>
            <a:r>
              <a:rPr lang="en-IN" dirty="0"/>
              <a:t> </a:t>
            </a:r>
            <a:r>
              <a:rPr lang="en-IN" dirty="0" smtClean="0"/>
              <a:t>DBP </a:t>
            </a:r>
            <a:r>
              <a:rPr lang="en-IN" dirty="0"/>
              <a:t>is added by means </a:t>
            </a:r>
            <a:r>
              <a:rPr lang="en-IN" dirty="0" smtClean="0"/>
              <a:t>of </a:t>
            </a:r>
            <a:r>
              <a:rPr lang="en-IN" dirty="0"/>
              <a:t>a constant-rate burette to a sample of the Carbon Black in the mixer chamber of an </a:t>
            </a:r>
            <a:r>
              <a:rPr lang="en-IN" dirty="0" err="1"/>
              <a:t>absorptometer</a:t>
            </a:r>
            <a:r>
              <a:rPr lang="en-IN" dirty="0"/>
              <a:t>. </a:t>
            </a:r>
            <a:endParaRPr lang="en-IN" dirty="0" smtClean="0"/>
          </a:p>
          <a:p>
            <a:pPr>
              <a:buFont typeface="Wingdings" panose="05000000000000000000" pitchFamily="2" charset="2"/>
              <a:buChar char="Ø"/>
            </a:pPr>
            <a:r>
              <a:rPr lang="en-IN" dirty="0" smtClean="0"/>
              <a:t>As </a:t>
            </a:r>
            <a:r>
              <a:rPr lang="en-IN" dirty="0"/>
              <a:t>the sample absorbs the oil the mixture changes from a free-flowing powder to a semi-plastic continuous </a:t>
            </a:r>
            <a:r>
              <a:rPr lang="en-IN" dirty="0" smtClean="0"/>
              <a:t>mass, leading </a:t>
            </a:r>
            <a:r>
              <a:rPr lang="en-IN" dirty="0"/>
              <a:t>to a sharp increase in viscosity, which is transmitted to the torque-sensing system of the </a:t>
            </a:r>
            <a:r>
              <a:rPr lang="en-IN" dirty="0" err="1"/>
              <a:t>absorptometer</a:t>
            </a:r>
            <a:r>
              <a:rPr lang="en-IN" dirty="0"/>
              <a:t>. </a:t>
            </a:r>
            <a:endParaRPr lang="en-IN" dirty="0" smtClean="0"/>
          </a:p>
          <a:p>
            <a:pPr>
              <a:buFont typeface="Wingdings" panose="05000000000000000000" pitchFamily="2" charset="2"/>
              <a:buChar char="Ø"/>
            </a:pPr>
            <a:r>
              <a:rPr lang="en-IN" dirty="0" smtClean="0"/>
              <a:t>The </a:t>
            </a:r>
            <a:r>
              <a:rPr lang="en-IN" dirty="0"/>
              <a:t>endpoint of the test is given by a pre-defined torque level. </a:t>
            </a:r>
            <a:endParaRPr lang="en-IN" dirty="0" smtClean="0"/>
          </a:p>
          <a:p>
            <a:pPr>
              <a:buFont typeface="Wingdings" panose="05000000000000000000" pitchFamily="2" charset="2"/>
              <a:buChar char="Ø"/>
            </a:pPr>
            <a:r>
              <a:rPr lang="en-IN" dirty="0" smtClean="0"/>
              <a:t>The </a:t>
            </a:r>
            <a:r>
              <a:rPr lang="en-IN" dirty="0"/>
              <a:t>result is expressed as the oil absorption number (OAN), in ml/100 g</a:t>
            </a:r>
            <a:r>
              <a:rPr lang="en-IN" dirty="0" smtClean="0"/>
              <a:t>.</a:t>
            </a:r>
          </a:p>
          <a:p>
            <a:pPr>
              <a:buFont typeface="Wingdings" panose="05000000000000000000" pitchFamily="2" charset="2"/>
              <a:buChar char="Ø"/>
            </a:pPr>
            <a:r>
              <a:rPr lang="en-IN" dirty="0" smtClean="0"/>
              <a:t> </a:t>
            </a:r>
            <a:r>
              <a:rPr lang="en-IN" dirty="0"/>
              <a:t>A high OAN number corresponds to a high structure, i.e. a high degree of branching and clustering of the aggregates. </a:t>
            </a:r>
          </a:p>
        </p:txBody>
      </p:sp>
    </p:spTree>
    <p:extLst>
      <p:ext uri="{BB962C8B-B14F-4D97-AF65-F5344CB8AC3E}">
        <p14:creationId xmlns:p14="http://schemas.microsoft.com/office/powerpoint/2010/main" val="31638746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cabotcorp.com/-/media/images/interface/body-images/solutions/applications/chart-industrial-rubber-products-dispersion-1.gif?la=en&amp;rev=464f9fd572854b6dacb5819475f10df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609" y="859969"/>
            <a:ext cx="7946420" cy="5609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3019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00000"/>
                </a:solidFill>
              </a:rPr>
              <a:t>Physical nature of the particle surface</a:t>
            </a:r>
            <a:br>
              <a:rPr lang="en-US" b="1" dirty="0">
                <a:solidFill>
                  <a:srgbClr val="C00000"/>
                </a:solidFill>
              </a:rPr>
            </a:br>
            <a:endParaRPr lang="en-IN" dirty="0">
              <a:solidFill>
                <a:srgbClr val="C00000"/>
              </a:solidFill>
            </a:endParaRPr>
          </a:p>
        </p:txBody>
      </p:sp>
      <p:sp>
        <p:nvSpPr>
          <p:cNvPr id="3" name="Content Placeholder 2"/>
          <p:cNvSpPr>
            <a:spLocks noGrp="1"/>
          </p:cNvSpPr>
          <p:nvPr>
            <p:ph idx="1"/>
          </p:nvPr>
        </p:nvSpPr>
        <p:spPr/>
        <p:txBody>
          <a:bodyPr/>
          <a:lstStyle/>
          <a:p>
            <a:pPr>
              <a:spcBef>
                <a:spcPct val="50000"/>
              </a:spcBef>
            </a:pPr>
            <a:r>
              <a:rPr lang="en-IN" dirty="0"/>
              <a:t>The physical form (beads or powder) can affect the handling and mixing characteristics.</a:t>
            </a:r>
            <a:endParaRPr lang="en-US" dirty="0" smtClean="0"/>
          </a:p>
          <a:p>
            <a:pPr>
              <a:spcBef>
                <a:spcPct val="50000"/>
              </a:spcBef>
            </a:pPr>
            <a:r>
              <a:rPr lang="en-US" dirty="0" smtClean="0"/>
              <a:t>Highly </a:t>
            </a:r>
            <a:r>
              <a:rPr lang="en-US" dirty="0"/>
              <a:t>oriented layers – regular spacing- large layers -less reinforcement  </a:t>
            </a:r>
          </a:p>
          <a:p>
            <a:pPr>
              <a:spcBef>
                <a:spcPct val="50000"/>
              </a:spcBef>
            </a:pPr>
            <a:r>
              <a:rPr lang="en-US" dirty="0"/>
              <a:t>Less crystalline orientation – irregular spacing – small layers - high reinforcement</a:t>
            </a:r>
          </a:p>
          <a:p>
            <a:endParaRPr lang="en-IN" dirty="0"/>
          </a:p>
        </p:txBody>
      </p:sp>
    </p:spTree>
    <p:extLst>
      <p:ext uri="{BB962C8B-B14F-4D97-AF65-F5344CB8AC3E}">
        <p14:creationId xmlns:p14="http://schemas.microsoft.com/office/powerpoint/2010/main" val="36577131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Chemical nature of particle surface</a:t>
            </a:r>
            <a:endParaRPr lang="en-IN" dirty="0"/>
          </a:p>
        </p:txBody>
      </p:sp>
      <p:sp>
        <p:nvSpPr>
          <p:cNvPr id="3" name="Content Placeholder 2"/>
          <p:cNvSpPr>
            <a:spLocks noGrp="1"/>
          </p:cNvSpPr>
          <p:nvPr>
            <p:ph idx="1"/>
          </p:nvPr>
        </p:nvSpPr>
        <p:spPr/>
        <p:txBody>
          <a:bodyPr>
            <a:normAutofit fontScale="92500" lnSpcReduction="20000"/>
          </a:bodyPr>
          <a:lstStyle/>
          <a:p>
            <a:pPr algn="just">
              <a:spcBef>
                <a:spcPct val="50000"/>
              </a:spcBef>
            </a:pPr>
            <a:r>
              <a:rPr lang="en-IN" dirty="0" smtClean="0"/>
              <a:t>This </a:t>
            </a:r>
            <a:r>
              <a:rPr lang="en-IN" dirty="0"/>
              <a:t>is a function of the manufacturing process and the heat history of a carbon black and generally refers to the oxygen-containing groups present on a carbon black’s surface.</a:t>
            </a:r>
            <a:endParaRPr lang="en-US" dirty="0" smtClean="0"/>
          </a:p>
          <a:p>
            <a:pPr algn="just">
              <a:spcBef>
                <a:spcPct val="50000"/>
              </a:spcBef>
            </a:pPr>
            <a:r>
              <a:rPr lang="en-US" dirty="0" smtClean="0"/>
              <a:t>90-99</a:t>
            </a:r>
            <a:r>
              <a:rPr lang="en-US" dirty="0"/>
              <a:t>% elemental carbon</a:t>
            </a:r>
          </a:p>
          <a:p>
            <a:pPr algn="just">
              <a:spcBef>
                <a:spcPct val="50000"/>
              </a:spcBef>
            </a:pPr>
            <a:r>
              <a:rPr lang="en-US" dirty="0"/>
              <a:t>O</a:t>
            </a:r>
            <a:r>
              <a:rPr lang="en-US" dirty="0" smtClean="0"/>
              <a:t>ther </a:t>
            </a:r>
            <a:r>
              <a:rPr lang="en-US" dirty="0"/>
              <a:t>major constituents are (combined) </a:t>
            </a:r>
            <a:r>
              <a:rPr lang="en-US" dirty="0" smtClean="0"/>
              <a:t>hydrogen(from </a:t>
            </a:r>
            <a:r>
              <a:rPr lang="en-US" dirty="0"/>
              <a:t>original hydrocarbon) and oxygen (from reduced atmosphere during  manufacture).</a:t>
            </a:r>
          </a:p>
          <a:p>
            <a:pPr algn="just">
              <a:spcBef>
                <a:spcPct val="50000"/>
              </a:spcBef>
            </a:pPr>
            <a:r>
              <a:rPr lang="en-US" dirty="0"/>
              <a:t> The principal groups present are phenolic, </a:t>
            </a:r>
            <a:r>
              <a:rPr lang="en-US" dirty="0" err="1"/>
              <a:t>ketonic</a:t>
            </a:r>
            <a:r>
              <a:rPr lang="en-US" dirty="0"/>
              <a:t> and carboxylic together with lactones. These surface groups are not physically adsorbed but are chemically combined.</a:t>
            </a:r>
          </a:p>
          <a:p>
            <a:pPr algn="just">
              <a:spcBef>
                <a:spcPct val="50000"/>
              </a:spcBef>
            </a:pPr>
            <a:r>
              <a:rPr lang="en-US" dirty="0"/>
              <a:t>In addition to oxygen and hydrogen it contains very small amount of </a:t>
            </a:r>
            <a:r>
              <a:rPr lang="en-US" dirty="0" err="1"/>
              <a:t>sulphur</a:t>
            </a:r>
            <a:r>
              <a:rPr lang="en-US" dirty="0"/>
              <a:t> which do not cause cross linking of </a:t>
            </a:r>
            <a:r>
              <a:rPr lang="en-US" dirty="0" smtClean="0"/>
              <a:t>rubber.</a:t>
            </a:r>
            <a:endParaRPr lang="en-US" dirty="0"/>
          </a:p>
          <a:p>
            <a:pPr algn="just">
              <a:spcBef>
                <a:spcPct val="50000"/>
              </a:spcBef>
            </a:pPr>
            <a:endParaRPr lang="en-US" dirty="0"/>
          </a:p>
          <a:p>
            <a:endParaRPr lang="en-IN" dirty="0"/>
          </a:p>
        </p:txBody>
      </p:sp>
    </p:spTree>
    <p:extLst>
      <p:ext uri="{BB962C8B-B14F-4D97-AF65-F5344CB8AC3E}">
        <p14:creationId xmlns:p14="http://schemas.microsoft.com/office/powerpoint/2010/main" val="31274962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Particle porosity</a:t>
            </a:r>
            <a:endParaRPr lang="en-IN" dirty="0"/>
          </a:p>
        </p:txBody>
      </p:sp>
      <p:sp>
        <p:nvSpPr>
          <p:cNvPr id="3" name="Content Placeholder 2"/>
          <p:cNvSpPr>
            <a:spLocks noGrp="1"/>
          </p:cNvSpPr>
          <p:nvPr>
            <p:ph idx="1"/>
          </p:nvPr>
        </p:nvSpPr>
        <p:spPr/>
        <p:txBody>
          <a:bodyPr>
            <a:normAutofit/>
          </a:bodyPr>
          <a:lstStyle/>
          <a:p>
            <a:r>
              <a:rPr lang="en-IN" dirty="0" smtClean="0"/>
              <a:t>Fundamental </a:t>
            </a:r>
            <a:r>
              <a:rPr lang="en-IN" dirty="0"/>
              <a:t>property of carbon black that can be controlled during the production process</a:t>
            </a:r>
            <a:r>
              <a:rPr lang="en-IN" dirty="0" smtClean="0"/>
              <a:t>.</a:t>
            </a:r>
          </a:p>
          <a:p>
            <a:pPr>
              <a:spcBef>
                <a:spcPct val="50000"/>
              </a:spcBef>
            </a:pPr>
            <a:r>
              <a:rPr lang="en-US" dirty="0"/>
              <a:t>Surface of the carbon black is not </a:t>
            </a:r>
            <a:r>
              <a:rPr lang="en-US" dirty="0" smtClean="0"/>
              <a:t>smooth</a:t>
            </a:r>
            <a:endParaRPr lang="en-US" dirty="0"/>
          </a:p>
          <a:p>
            <a:pPr>
              <a:spcBef>
                <a:spcPct val="50000"/>
              </a:spcBef>
            </a:pPr>
            <a:r>
              <a:rPr lang="en-US" dirty="0"/>
              <a:t>Oxidation at the non graphitic atoms make them pores</a:t>
            </a:r>
            <a:r>
              <a:rPr lang="en-US" dirty="0" smtClean="0"/>
              <a:t>.</a:t>
            </a:r>
            <a:endParaRPr lang="en-IN" dirty="0" smtClean="0"/>
          </a:p>
          <a:p>
            <a:r>
              <a:rPr lang="en-IN" dirty="0" smtClean="0"/>
              <a:t> Porosity affect </a:t>
            </a:r>
            <a:r>
              <a:rPr lang="en-IN" dirty="0"/>
              <a:t>the measurement of surface area providing a total surface area (NSA) larger than the external value (STSA).</a:t>
            </a:r>
          </a:p>
          <a:p>
            <a:r>
              <a:rPr lang="en-IN" dirty="0" smtClean="0"/>
              <a:t>Increase </a:t>
            </a:r>
            <a:r>
              <a:rPr lang="en-IN" dirty="0"/>
              <a:t>in porosity also allows a rubber compounder to increase carbon black loading while maintaining compound specific gravity. </a:t>
            </a:r>
            <a:endParaRPr lang="en-US" dirty="0" smtClean="0"/>
          </a:p>
          <a:p>
            <a:pPr>
              <a:spcBef>
                <a:spcPct val="50000"/>
              </a:spcBef>
            </a:pPr>
            <a:endParaRPr lang="en-US" dirty="0"/>
          </a:p>
          <a:p>
            <a:endParaRPr lang="en-IN" dirty="0"/>
          </a:p>
        </p:txBody>
      </p:sp>
    </p:spTree>
    <p:extLst>
      <p:ext uri="{BB962C8B-B14F-4D97-AF65-F5344CB8AC3E}">
        <p14:creationId xmlns:p14="http://schemas.microsoft.com/office/powerpoint/2010/main" val="14230751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0143" y="693511"/>
            <a:ext cx="10515600" cy="4351338"/>
          </a:xfrm>
        </p:spPr>
        <p:txBody>
          <a:bodyPr/>
          <a:lstStyle/>
          <a:p>
            <a:pPr marL="0" indent="0" algn="just">
              <a:spcBef>
                <a:spcPct val="50000"/>
              </a:spcBef>
              <a:buNone/>
            </a:pPr>
            <a:r>
              <a:rPr lang="en-US" sz="3200" b="1" dirty="0" smtClean="0"/>
              <a:t>Classification of carbon black</a:t>
            </a:r>
            <a:endParaRPr lang="en-US" sz="3200" b="1" dirty="0"/>
          </a:p>
          <a:p>
            <a:pPr algn="just">
              <a:spcBef>
                <a:spcPct val="50000"/>
              </a:spcBef>
            </a:pPr>
            <a:r>
              <a:rPr lang="en-US" dirty="0"/>
              <a:t>ASTM system consists of one letter followed by three numerals.</a:t>
            </a:r>
          </a:p>
          <a:p>
            <a:pPr algn="just">
              <a:spcBef>
                <a:spcPct val="50000"/>
              </a:spcBef>
            </a:pPr>
            <a:r>
              <a:rPr lang="en-US" dirty="0"/>
              <a:t>The first letter indicates rate of cure, N and S being used for normal and slow respectively.</a:t>
            </a:r>
          </a:p>
          <a:p>
            <a:pPr algn="just">
              <a:spcBef>
                <a:spcPct val="50000"/>
              </a:spcBef>
            </a:pPr>
            <a:r>
              <a:rPr lang="en-US" dirty="0"/>
              <a:t>The first numeral – surface area of the carbon black.</a:t>
            </a:r>
          </a:p>
          <a:p>
            <a:pPr algn="just">
              <a:spcBef>
                <a:spcPct val="50000"/>
              </a:spcBef>
            </a:pPr>
            <a:r>
              <a:rPr lang="en-US" dirty="0"/>
              <a:t>The remaining two numerals are selected arbitrarily- the second always a repeat of first numeral and the last is zero.</a:t>
            </a:r>
          </a:p>
          <a:p>
            <a:pPr algn="just">
              <a:spcBef>
                <a:spcPct val="50000"/>
              </a:spcBef>
            </a:pPr>
            <a:endParaRPr lang="en-US" dirty="0"/>
          </a:p>
        </p:txBody>
      </p:sp>
    </p:spTree>
    <p:extLst>
      <p:ext uri="{BB962C8B-B14F-4D97-AF65-F5344CB8AC3E}">
        <p14:creationId xmlns:p14="http://schemas.microsoft.com/office/powerpoint/2010/main" val="31270155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838200" y="304800"/>
            <a:ext cx="7391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3600" dirty="0"/>
              <a:t>Commercially available carbon blacks</a:t>
            </a:r>
          </a:p>
        </p:txBody>
      </p:sp>
      <p:graphicFrame>
        <p:nvGraphicFramePr>
          <p:cNvPr id="5" name="Group 3"/>
          <p:cNvGraphicFramePr>
            <a:graphicFrameLocks noGrp="1"/>
          </p:cNvGraphicFramePr>
          <p:nvPr>
            <p:extLst>
              <p:ext uri="{D42A27DB-BD31-4B8C-83A1-F6EECF244321}">
                <p14:modId xmlns:p14="http://schemas.microsoft.com/office/powerpoint/2010/main" val="2945503403"/>
              </p:ext>
            </p:extLst>
          </p:nvPr>
        </p:nvGraphicFramePr>
        <p:xfrm>
          <a:off x="838199" y="1237343"/>
          <a:ext cx="9742714" cy="5261293"/>
        </p:xfrm>
        <a:graphic>
          <a:graphicData uri="http://schemas.openxmlformats.org/drawingml/2006/table">
            <a:tbl>
              <a:tblPr/>
              <a:tblGrid>
                <a:gridCol w="4161654"/>
                <a:gridCol w="1660799"/>
                <a:gridCol w="1854628"/>
                <a:gridCol w="2065633"/>
              </a:tblGrid>
              <a:tr h="90487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Name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Abbrev.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ASTM </a:t>
                      </a:r>
                      <a:r>
                        <a:rPr kumimoji="0" lang="en-US" sz="2000" b="0" i="0" u="none" strike="noStrike" cap="none" normalizeH="0" baseline="0" dirty="0" err="1" smtClean="0">
                          <a:ln>
                            <a:noFill/>
                          </a:ln>
                          <a:solidFill>
                            <a:schemeClr val="tx1"/>
                          </a:solidFill>
                          <a:effectLst/>
                          <a:latin typeface="Arial" panose="020B0604020202020204" pitchFamily="34" charset="0"/>
                        </a:rPr>
                        <a:t>desig</a:t>
                      </a:r>
                      <a:r>
                        <a:rPr kumimoji="0" lang="en-US" sz="2000" b="0" i="0" u="none" strike="noStrike" cap="none" normalizeH="0" baseline="0" dirty="0" smtClean="0">
                          <a:ln>
                            <a:noFill/>
                          </a:ln>
                          <a:solidFill>
                            <a:schemeClr val="tx1"/>
                          </a:solidFill>
                          <a:effectLst/>
                          <a:latin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Particle size (nm)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2138">
                <a:tc>
                  <a:txBody>
                    <a:bodyPr/>
                    <a:lstStyle/>
                    <a:p>
                      <a:pPr algn="just"/>
                      <a:r>
                        <a:rPr lang="en-IN" sz="2000" dirty="0" smtClean="0">
                          <a:latin typeface="Arial" panose="020B0604020202020204" pitchFamily="34" charset="0"/>
                          <a:cs typeface="Arial" panose="020B0604020202020204" pitchFamily="34" charset="0"/>
                        </a:rPr>
                        <a:t>Super Abrasion Furnace</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SAF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20-25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pPr algn="l"/>
                      <a:r>
                        <a:rPr lang="en-IN" sz="2000" dirty="0" smtClean="0">
                          <a:latin typeface="Arial" panose="020B0604020202020204" pitchFamily="34" charset="0"/>
                          <a:cs typeface="Arial" panose="020B0604020202020204" pitchFamily="34" charset="0"/>
                        </a:rPr>
                        <a:t>Intermediate</a:t>
                      </a:r>
                      <a:r>
                        <a:rPr lang="en-IN" sz="2000" baseline="0" dirty="0" smtClean="0">
                          <a:latin typeface="Arial" panose="020B0604020202020204" pitchFamily="34" charset="0"/>
                          <a:cs typeface="Arial" panose="020B0604020202020204" pitchFamily="34" charset="0"/>
                        </a:rPr>
                        <a:t> </a:t>
                      </a:r>
                      <a:r>
                        <a:rPr lang="en-IN" sz="2000" dirty="0" smtClean="0">
                          <a:latin typeface="Arial" panose="020B0604020202020204" pitchFamily="34" charset="0"/>
                          <a:cs typeface="Arial" panose="020B0604020202020204" pitchFamily="34" charset="0"/>
                        </a:rPr>
                        <a:t>Super Abrasion Furnace</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ISAF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N220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24-33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21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smtClean="0">
                          <a:latin typeface="Arial" panose="020B0604020202020204" pitchFamily="34" charset="0"/>
                          <a:cs typeface="Arial" panose="020B0604020202020204" pitchFamily="34" charset="0"/>
                        </a:rPr>
                        <a:t>High Abrasion Furnace</a:t>
                      </a:r>
                    </a:p>
                    <a:p>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HAF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N330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28-36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r>
                        <a:rPr lang="en-IN" sz="2000" dirty="0" smtClean="0">
                          <a:latin typeface="Arial" panose="020B0604020202020204" pitchFamily="34" charset="0"/>
                          <a:cs typeface="Arial" panose="020B0604020202020204" pitchFamily="34" charset="0"/>
                        </a:rPr>
                        <a:t>Fast Extruding Furnace</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FEF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N550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39-55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r>
                        <a:rPr lang="en-IN" sz="2000" dirty="0" smtClean="0">
                          <a:latin typeface="Arial" panose="020B0604020202020204" pitchFamily="34" charset="0"/>
                          <a:cs typeface="Arial" panose="020B0604020202020204" pitchFamily="34" charset="0"/>
                        </a:rPr>
                        <a:t>Semi reinforcing Furnace</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SRF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N770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70-96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r>
                        <a:rPr lang="en-IN" sz="2000" dirty="0" smtClean="0">
                          <a:latin typeface="Arial" panose="020B0604020202020204" pitchFamily="34" charset="0"/>
                          <a:cs typeface="Arial" panose="020B0604020202020204" pitchFamily="34" charset="0"/>
                        </a:rPr>
                        <a:t>Fine thermal</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FT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N880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180-200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0550">
                <a:tc>
                  <a:txBody>
                    <a:bodyPr/>
                    <a:lstStyle/>
                    <a:p>
                      <a:r>
                        <a:rPr lang="en-IN" sz="2000" dirty="0" smtClean="0">
                          <a:latin typeface="Arial" panose="020B0604020202020204" pitchFamily="34" charset="0"/>
                          <a:cs typeface="Arial" panose="020B0604020202020204" pitchFamily="34" charset="0"/>
                        </a:rPr>
                        <a:t>Medium thermal</a:t>
                      </a:r>
                      <a:endParaRPr lang="en-IN" sz="2000" dirty="0">
                        <a:latin typeface="Arial" panose="020B0604020202020204" pitchFamily="34"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MT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N990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250-350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702840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875972" y="214086"/>
            <a:ext cx="6629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3200" dirty="0"/>
              <a:t>Application of Carbon Black</a:t>
            </a:r>
          </a:p>
        </p:txBody>
      </p:sp>
      <p:graphicFrame>
        <p:nvGraphicFramePr>
          <p:cNvPr id="3" name="Group 3"/>
          <p:cNvGraphicFramePr>
            <a:graphicFrameLocks noGrp="1"/>
          </p:cNvGraphicFramePr>
          <p:nvPr>
            <p:extLst>
              <p:ext uri="{D42A27DB-BD31-4B8C-83A1-F6EECF244321}">
                <p14:modId xmlns:p14="http://schemas.microsoft.com/office/powerpoint/2010/main" val="1399202645"/>
              </p:ext>
            </p:extLst>
          </p:nvPr>
        </p:nvGraphicFramePr>
        <p:xfrm>
          <a:off x="624113" y="1063171"/>
          <a:ext cx="10813144" cy="5648326"/>
        </p:xfrm>
        <a:graphic>
          <a:graphicData uri="http://schemas.openxmlformats.org/drawingml/2006/table">
            <a:tbl>
              <a:tblPr/>
              <a:tblGrid>
                <a:gridCol w="1441752"/>
                <a:gridCol w="5286426"/>
                <a:gridCol w="4084966"/>
              </a:tblGrid>
              <a:tr h="18097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Nature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Field of Application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096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SAF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Highly reinforcing, gives maximum tensile and abrasion resistance. High heat generation during processing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Camel back, truck treads industrial beltings and in other heavy duty 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0968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ISAF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Highly reinforcing, imparts high tensile strength and abrasion resistance, better processing properties than SAF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high abrasion resistance applications like treads, camel backs, conveyer belt covers etc.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32207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HAF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Reinforcing black with good abrasion resistance and better processing properties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treads, camel backs, inner tubes, off-road treads and in mechanical goods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40749">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FEF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Reinforcing black with good abrasion resistance and better processing properties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carcass. side walls, wire and cables and in calendared and extruded items requiring good dimensional stability.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25181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
          <p:cNvGraphicFramePr>
            <a:graphicFrameLocks noGrp="1"/>
          </p:cNvGraphicFramePr>
          <p:nvPr>
            <p:extLst>
              <p:ext uri="{D42A27DB-BD31-4B8C-83A1-F6EECF244321}">
                <p14:modId xmlns:p14="http://schemas.microsoft.com/office/powerpoint/2010/main" val="705248815"/>
              </p:ext>
            </p:extLst>
          </p:nvPr>
        </p:nvGraphicFramePr>
        <p:xfrm>
          <a:off x="537027" y="319313"/>
          <a:ext cx="10508343" cy="3017520"/>
        </p:xfrm>
        <a:graphic>
          <a:graphicData uri="http://schemas.openxmlformats.org/drawingml/2006/table">
            <a:tbl>
              <a:tblPr/>
              <a:tblGrid>
                <a:gridCol w="1755797"/>
                <a:gridCol w="4790364"/>
                <a:gridCol w="3962182"/>
              </a:tblGrid>
              <a:tr h="38289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Name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Nature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Field of Application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6651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GPF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Moderately reinforcing, high loadings can be given, gives good processing and dynamic properties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carcass, side walls cushion under tread, inner liner compounds, motor mounts and in high speed beltings.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6651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SRF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Semi reinforcing, high loadings can be given gives good processing and dynamic properties.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bead, breaker, body ply, cushion squeeze compounds, in bicycle tires, wire and cables and in other extruded items.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566416228"/>
              </p:ext>
            </p:extLst>
          </p:nvPr>
        </p:nvGraphicFramePr>
        <p:xfrm>
          <a:off x="533399" y="3352800"/>
          <a:ext cx="10526487" cy="3284583"/>
        </p:xfrm>
        <a:graphic>
          <a:graphicData uri="http://schemas.openxmlformats.org/drawingml/2006/table">
            <a:tbl>
              <a:tblPr/>
              <a:tblGrid>
                <a:gridCol w="1754415"/>
                <a:gridCol w="4775906"/>
                <a:gridCol w="3996166"/>
              </a:tblGrid>
              <a:tr h="928914">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Thermal blacks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Low reinforcement, can be used in high loadings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V- belts, mats, sealing compounds and in mechanical goods.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5500">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Channel blacks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Highly reinforcing, processing is easy, retards cure.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bonding applications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2203">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Lamp blacks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Less reinforcing, gives high hardness compounds with high resilience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truck treads and engine mounts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anose="020B0604020202020204" pitchFamily="34" charset="0"/>
                        </a:rPr>
                        <a:t>Acetylene black</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Produce high hardness compounds, processing is easy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anose="020B0604020202020204" pitchFamily="34" charset="0"/>
                        </a:rPr>
                        <a:t>In compounds requiring electrical conductivity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1875935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IN" dirty="0" smtClean="0"/>
              <a:t>Silica </a:t>
            </a:r>
            <a:endParaRPr lang="en-IN" dirty="0"/>
          </a:p>
        </p:txBody>
      </p:sp>
      <p:sp>
        <p:nvSpPr>
          <p:cNvPr id="3" name="Content Placeholder 2"/>
          <p:cNvSpPr>
            <a:spLocks noGrp="1"/>
          </p:cNvSpPr>
          <p:nvPr>
            <p:ph idx="1"/>
          </p:nvPr>
        </p:nvSpPr>
        <p:spPr>
          <a:xfrm>
            <a:off x="838200" y="1146412"/>
            <a:ext cx="10515600" cy="5030551"/>
          </a:xfrm>
        </p:spPr>
        <p:txBody>
          <a:bodyPr>
            <a:normAutofit fontScale="70000" lnSpcReduction="20000"/>
          </a:bodyPr>
          <a:lstStyle/>
          <a:p>
            <a:pPr>
              <a:buFont typeface="Wingdings" panose="05000000000000000000" pitchFamily="2" charset="2"/>
              <a:buChar char="Ø"/>
            </a:pPr>
            <a:r>
              <a:rPr lang="en-IN" dirty="0"/>
              <a:t>Silica </a:t>
            </a:r>
            <a:r>
              <a:rPr lang="en-IN" dirty="0" smtClean="0"/>
              <a:t> </a:t>
            </a:r>
            <a:r>
              <a:rPr lang="en-IN" dirty="0"/>
              <a:t>is not quite reactive with rubber as carbon black. </a:t>
            </a:r>
            <a:endParaRPr lang="en-IN" dirty="0" smtClean="0"/>
          </a:p>
          <a:p>
            <a:pPr>
              <a:buFont typeface="Wingdings" panose="05000000000000000000" pitchFamily="2" charset="2"/>
              <a:buChar char="Ø"/>
            </a:pPr>
            <a:endParaRPr lang="en-IN" dirty="0" smtClean="0"/>
          </a:p>
          <a:p>
            <a:pPr>
              <a:buFont typeface="Wingdings" panose="05000000000000000000" pitchFamily="2" charset="2"/>
              <a:buChar char="Ø"/>
            </a:pPr>
            <a:r>
              <a:rPr lang="en-IN" dirty="0" smtClean="0"/>
              <a:t>Mostly used in tyre products due to reduction in rolling </a:t>
            </a:r>
            <a:r>
              <a:rPr lang="en-IN" dirty="0"/>
              <a:t>resistance and increasing </a:t>
            </a:r>
            <a:r>
              <a:rPr lang="en-IN" dirty="0" smtClean="0"/>
              <a:t>hardness.</a:t>
            </a:r>
          </a:p>
          <a:p>
            <a:pPr>
              <a:buFont typeface="Wingdings" panose="05000000000000000000" pitchFamily="2" charset="2"/>
              <a:buChar char="Ø"/>
            </a:pPr>
            <a:endParaRPr lang="en-IN" dirty="0" smtClean="0"/>
          </a:p>
          <a:p>
            <a:pPr>
              <a:buFont typeface="Wingdings" panose="05000000000000000000" pitchFamily="2" charset="2"/>
              <a:buChar char="Ø"/>
            </a:pPr>
            <a:r>
              <a:rPr lang="en-IN" dirty="0" smtClean="0"/>
              <a:t>Usually </a:t>
            </a:r>
            <a:r>
              <a:rPr lang="en-IN" dirty="0"/>
              <a:t>exists as aggregates and agglomerates, </a:t>
            </a:r>
            <a:r>
              <a:rPr lang="en-IN" dirty="0" smtClean="0"/>
              <a:t>acidic in nature, leads to poor </a:t>
            </a:r>
            <a:r>
              <a:rPr lang="en-IN" dirty="0"/>
              <a:t>dispersion of silica. </a:t>
            </a:r>
            <a:endParaRPr lang="en-IN" dirty="0" smtClean="0"/>
          </a:p>
          <a:p>
            <a:pPr>
              <a:buFont typeface="Wingdings" panose="05000000000000000000" pitchFamily="2" charset="2"/>
              <a:buChar char="Ø"/>
            </a:pPr>
            <a:endParaRPr lang="en-IN" dirty="0" smtClean="0"/>
          </a:p>
          <a:p>
            <a:pPr>
              <a:buFont typeface="Wingdings" panose="05000000000000000000" pitchFamily="2" charset="2"/>
              <a:buChar char="Ø"/>
            </a:pPr>
            <a:r>
              <a:rPr lang="en-IN" dirty="0" smtClean="0"/>
              <a:t>Addition of  </a:t>
            </a:r>
            <a:r>
              <a:rPr lang="en-IN" dirty="0" err="1"/>
              <a:t>silane</a:t>
            </a:r>
            <a:r>
              <a:rPr lang="en-IN" dirty="0"/>
              <a:t> coupling agents into rubber to modification of silica particles surface and increase the interaction between the silica and rubber. </a:t>
            </a:r>
            <a:endParaRPr lang="en-IN" dirty="0" smtClean="0"/>
          </a:p>
          <a:p>
            <a:pPr>
              <a:buFont typeface="Wingdings" panose="05000000000000000000" pitchFamily="2" charset="2"/>
              <a:buChar char="Ø"/>
            </a:pPr>
            <a:endParaRPr lang="en-IN" dirty="0" smtClean="0"/>
          </a:p>
          <a:p>
            <a:pPr>
              <a:buFont typeface="Wingdings" panose="05000000000000000000" pitchFamily="2" charset="2"/>
              <a:buChar char="Ø"/>
            </a:pPr>
            <a:r>
              <a:rPr lang="en-IN" dirty="0" smtClean="0"/>
              <a:t>Two types of silica -  precipitated silica &amp; fumed silica </a:t>
            </a:r>
          </a:p>
          <a:p>
            <a:pPr>
              <a:buFont typeface="Wingdings" panose="05000000000000000000" pitchFamily="2" charset="2"/>
              <a:buChar char="Ø"/>
            </a:pPr>
            <a:endParaRPr lang="en-IN" dirty="0" smtClean="0"/>
          </a:p>
          <a:p>
            <a:pPr marL="0" indent="0">
              <a:buNone/>
            </a:pPr>
            <a:r>
              <a:rPr lang="en-IN" dirty="0" smtClean="0"/>
              <a:t>	Precipitated </a:t>
            </a:r>
            <a:r>
              <a:rPr lang="en-IN" dirty="0"/>
              <a:t>silica is manufactured by acid precipitation from silicate solution</a:t>
            </a:r>
            <a:r>
              <a:rPr lang="en-IN" dirty="0" smtClean="0"/>
              <a:t>,, </a:t>
            </a:r>
            <a:r>
              <a:rPr lang="en-IN" dirty="0"/>
              <a:t>it has </a:t>
            </a:r>
            <a:r>
              <a:rPr lang="en-IN" dirty="0" smtClean="0"/>
              <a:t>	average </a:t>
            </a:r>
            <a:r>
              <a:rPr lang="en-IN" dirty="0"/>
              <a:t>particle size (10 to 100) nm and water contains is (10-14</a:t>
            </a:r>
            <a:r>
              <a:rPr lang="en-IN" dirty="0" smtClean="0"/>
              <a:t>%).</a:t>
            </a:r>
          </a:p>
          <a:p>
            <a:pPr>
              <a:buFont typeface="Wingdings" panose="05000000000000000000" pitchFamily="2" charset="2"/>
              <a:buChar char="Ø"/>
            </a:pPr>
            <a:endParaRPr lang="en-IN" dirty="0" smtClean="0"/>
          </a:p>
          <a:p>
            <a:pPr marL="0" indent="0">
              <a:buNone/>
            </a:pPr>
            <a:r>
              <a:rPr lang="en-IN" dirty="0" smtClean="0"/>
              <a:t>	Fumed </a:t>
            </a:r>
            <a:r>
              <a:rPr lang="en-IN" dirty="0"/>
              <a:t>silica is produced at a </a:t>
            </a:r>
            <a:r>
              <a:rPr lang="en-IN" dirty="0" smtClean="0"/>
              <a:t>higher temperature </a:t>
            </a:r>
            <a:r>
              <a:rPr lang="en-IN" dirty="0"/>
              <a:t>by a reaction of silicon tetrachloride with </a:t>
            </a:r>
            <a:r>
              <a:rPr lang="en-IN" dirty="0" smtClean="0"/>
              <a:t>	water </a:t>
            </a:r>
            <a:r>
              <a:rPr lang="en-IN" dirty="0" err="1"/>
              <a:t>vapor</a:t>
            </a:r>
            <a:r>
              <a:rPr lang="en-IN" dirty="0"/>
              <a:t>, it has average particle size (7-15) nm.</a:t>
            </a:r>
          </a:p>
        </p:txBody>
      </p:sp>
    </p:spTree>
    <p:extLst>
      <p:ext uri="{BB962C8B-B14F-4D97-AF65-F5344CB8AC3E}">
        <p14:creationId xmlns:p14="http://schemas.microsoft.com/office/powerpoint/2010/main" val="356471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Plasticisers and extenders</a:t>
            </a:r>
            <a:br>
              <a:rPr lang="en-IN" dirty="0"/>
            </a:br>
            <a:endParaRPr lang="en-IN" dirty="0"/>
          </a:p>
        </p:txBody>
      </p:sp>
      <p:sp>
        <p:nvSpPr>
          <p:cNvPr id="3" name="Content Placeholder 2"/>
          <p:cNvSpPr>
            <a:spLocks noGrp="1"/>
          </p:cNvSpPr>
          <p:nvPr>
            <p:ph idx="1"/>
          </p:nvPr>
        </p:nvSpPr>
        <p:spPr>
          <a:xfrm>
            <a:off x="838200" y="1364776"/>
            <a:ext cx="10515600" cy="4812187"/>
          </a:xfrm>
        </p:spPr>
        <p:txBody>
          <a:bodyPr>
            <a:normAutofit/>
          </a:bodyPr>
          <a:lstStyle/>
          <a:p>
            <a:pPr marL="0" indent="0">
              <a:buNone/>
            </a:pPr>
            <a:r>
              <a:rPr lang="en-IN" dirty="0" smtClean="0"/>
              <a:t>Functions of a plasticizer </a:t>
            </a:r>
          </a:p>
          <a:p>
            <a:pPr>
              <a:buFont typeface="Wingdings" panose="05000000000000000000" pitchFamily="2" charset="2"/>
              <a:buChar char="Ø"/>
            </a:pPr>
            <a:r>
              <a:rPr lang="en-IN" dirty="0" smtClean="0"/>
              <a:t> Increase </a:t>
            </a:r>
            <a:r>
              <a:rPr lang="en-IN" dirty="0"/>
              <a:t>plasticity and workability of the compound</a:t>
            </a:r>
          </a:p>
          <a:p>
            <a:pPr>
              <a:buFont typeface="Wingdings" panose="05000000000000000000" pitchFamily="2" charset="2"/>
              <a:buChar char="Ø"/>
            </a:pPr>
            <a:r>
              <a:rPr lang="en-IN" dirty="0" smtClean="0"/>
              <a:t> Aid </a:t>
            </a:r>
            <a:r>
              <a:rPr lang="en-IN" dirty="0"/>
              <a:t>in wetting and incorporation of fillers</a:t>
            </a:r>
          </a:p>
          <a:p>
            <a:pPr>
              <a:buFont typeface="Wingdings" panose="05000000000000000000" pitchFamily="2" charset="2"/>
              <a:buChar char="Ø"/>
            </a:pPr>
            <a:r>
              <a:rPr lang="en-IN" dirty="0" smtClean="0"/>
              <a:t> Provide </a:t>
            </a:r>
            <a:r>
              <a:rPr lang="en-IN" dirty="0"/>
              <a:t>lubrication to improve extrusion, moulding or other shaping operations</a:t>
            </a:r>
          </a:p>
          <a:p>
            <a:pPr>
              <a:buFont typeface="Wingdings" panose="05000000000000000000" pitchFamily="2" charset="2"/>
              <a:buChar char="Ø"/>
            </a:pPr>
            <a:r>
              <a:rPr lang="en-IN" dirty="0" smtClean="0"/>
              <a:t> Reduce </a:t>
            </a:r>
            <a:r>
              <a:rPr lang="en-IN" dirty="0"/>
              <a:t>batch temperature and </a:t>
            </a:r>
            <a:r>
              <a:rPr lang="en-IN" dirty="0" smtClean="0"/>
              <a:t>power consumption </a:t>
            </a:r>
            <a:r>
              <a:rPr lang="en-IN" dirty="0"/>
              <a:t>during mixing</a:t>
            </a:r>
          </a:p>
          <a:p>
            <a:pPr>
              <a:buFont typeface="Wingdings" panose="05000000000000000000" pitchFamily="2" charset="2"/>
              <a:buChar char="Ø"/>
            </a:pPr>
            <a:r>
              <a:rPr lang="en-IN" dirty="0" smtClean="0"/>
              <a:t> Modify </a:t>
            </a:r>
            <a:r>
              <a:rPr lang="en-IN" dirty="0"/>
              <a:t>the properties of the vulcanized products. </a:t>
            </a:r>
          </a:p>
        </p:txBody>
      </p:sp>
    </p:spTree>
    <p:extLst>
      <p:ext uri="{BB962C8B-B14F-4D97-AF65-F5344CB8AC3E}">
        <p14:creationId xmlns:p14="http://schemas.microsoft.com/office/powerpoint/2010/main" val="42900800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8614"/>
            <a:ext cx="10515600" cy="6127845"/>
          </a:xfrm>
        </p:spPr>
        <p:txBody>
          <a:bodyPr>
            <a:normAutofit fontScale="92500" lnSpcReduction="10000"/>
          </a:bodyPr>
          <a:lstStyle/>
          <a:p>
            <a:pPr>
              <a:buFont typeface="Wingdings" panose="05000000000000000000" pitchFamily="2" charset="2"/>
              <a:buChar char="Ø"/>
            </a:pPr>
            <a:r>
              <a:rPr lang="en-IN" dirty="0" smtClean="0"/>
              <a:t> Classified into :  </a:t>
            </a:r>
            <a:r>
              <a:rPr lang="en-IN" dirty="0"/>
              <a:t>chemical plasticisers and physical </a:t>
            </a:r>
            <a:r>
              <a:rPr lang="en-IN" dirty="0" smtClean="0"/>
              <a:t>plasticisers</a:t>
            </a:r>
            <a:endParaRPr lang="en-IN" dirty="0" smtClean="0"/>
          </a:p>
          <a:p>
            <a:pPr marL="0" indent="0">
              <a:buNone/>
            </a:pPr>
            <a:r>
              <a:rPr lang="en-IN" dirty="0" smtClean="0"/>
              <a:t>Softeners </a:t>
            </a:r>
            <a:r>
              <a:rPr lang="en-IN" dirty="0"/>
              <a:t>(Physical Plasticizers) </a:t>
            </a:r>
            <a:endParaRPr lang="en-IN" dirty="0" smtClean="0"/>
          </a:p>
          <a:p>
            <a:pPr lvl="1"/>
            <a:r>
              <a:rPr lang="en-IN" sz="2200" dirty="0" smtClean="0"/>
              <a:t>Do </a:t>
            </a:r>
            <a:r>
              <a:rPr lang="en-IN" sz="2200" dirty="0"/>
              <a:t>not react chemically with the rubbers involved, but function by modifying the physical characteristics of either the compounded rubber or the finished </a:t>
            </a:r>
            <a:r>
              <a:rPr lang="en-IN" sz="2200" dirty="0" smtClean="0"/>
              <a:t>vulcanizates. </a:t>
            </a:r>
          </a:p>
          <a:p>
            <a:pPr lvl="1"/>
            <a:r>
              <a:rPr lang="en-IN" sz="2200" dirty="0" smtClean="0"/>
              <a:t>Dosage : 2 to 10 </a:t>
            </a:r>
            <a:r>
              <a:rPr lang="en-IN" sz="2200" dirty="0" err="1" smtClean="0"/>
              <a:t>phr</a:t>
            </a:r>
            <a:r>
              <a:rPr lang="en-IN" sz="2200" dirty="0" smtClean="0"/>
              <a:t> </a:t>
            </a:r>
          </a:p>
          <a:p>
            <a:pPr lvl="1"/>
            <a:r>
              <a:rPr lang="en-IN" sz="2200" dirty="0"/>
              <a:t>M</a:t>
            </a:r>
            <a:r>
              <a:rPr lang="en-IN" sz="2200" dirty="0" smtClean="0"/>
              <a:t>ust </a:t>
            </a:r>
            <a:r>
              <a:rPr lang="en-IN" sz="2200" dirty="0"/>
              <a:t>be completely compatible with the rubber and the other compounding ingredients used in the recipe. </a:t>
            </a:r>
            <a:endParaRPr lang="en-IN" sz="2200" dirty="0" smtClean="0"/>
          </a:p>
          <a:p>
            <a:pPr lvl="1"/>
            <a:r>
              <a:rPr lang="en-IN" sz="2200" dirty="0" smtClean="0"/>
              <a:t>Incompatibility </a:t>
            </a:r>
            <a:r>
              <a:rPr lang="en-IN" sz="2200" dirty="0"/>
              <a:t>will result in poor processing characteristics or "bleeding" in the final </a:t>
            </a:r>
            <a:r>
              <a:rPr lang="en-IN" sz="2200" dirty="0" smtClean="0"/>
              <a:t>product</a:t>
            </a:r>
          </a:p>
          <a:p>
            <a:pPr marL="0" indent="0" algn="ctr">
              <a:buNone/>
            </a:pPr>
            <a:r>
              <a:rPr lang="en-US" sz="2200" dirty="0" smtClean="0"/>
              <a:t>Examples : Mineral </a:t>
            </a:r>
            <a:r>
              <a:rPr lang="en-US" sz="2200" dirty="0"/>
              <a:t>petroleum </a:t>
            </a:r>
            <a:r>
              <a:rPr lang="en-US" sz="2200" dirty="0" smtClean="0"/>
              <a:t>oils (paraffinic , naphthenic &amp; aromatic)</a:t>
            </a:r>
          </a:p>
          <a:p>
            <a:pPr marL="0" indent="0">
              <a:buNone/>
            </a:pPr>
            <a:r>
              <a:rPr lang="en-IN" sz="2600" dirty="0" smtClean="0"/>
              <a:t>Chemical </a:t>
            </a:r>
            <a:r>
              <a:rPr lang="en-IN" sz="2600" dirty="0"/>
              <a:t>plasticizers</a:t>
            </a:r>
            <a:endParaRPr lang="en-US" sz="2600" dirty="0"/>
          </a:p>
          <a:p>
            <a:pPr algn="just">
              <a:buNone/>
            </a:pPr>
            <a:r>
              <a:rPr lang="en-US" dirty="0"/>
              <a:t>	</a:t>
            </a:r>
            <a:r>
              <a:rPr lang="en-US" sz="2400" dirty="0"/>
              <a:t>Synthetic type  (ester based), used where mineral oils are not compatible with the rubber (polar rubbers) .</a:t>
            </a:r>
          </a:p>
          <a:p>
            <a:pPr algn="just">
              <a:buNone/>
            </a:pPr>
            <a:r>
              <a:rPr lang="en-US" sz="2400" dirty="0"/>
              <a:t>	</a:t>
            </a:r>
            <a:r>
              <a:rPr lang="en-IN" sz="2400" dirty="0"/>
              <a:t>Ester plasticizers are generally used in NBR and CR compounds because they impart good vulcanization properties</a:t>
            </a:r>
            <a:endParaRPr lang="en-US" sz="2400" dirty="0"/>
          </a:p>
          <a:p>
            <a:pPr>
              <a:buNone/>
            </a:pPr>
            <a:r>
              <a:rPr lang="en-US" sz="2400" dirty="0"/>
              <a:t>		</a:t>
            </a:r>
            <a:r>
              <a:rPr lang="en-US" sz="2400" dirty="0" err="1"/>
              <a:t>dibutyl</a:t>
            </a:r>
            <a:r>
              <a:rPr lang="en-US" sz="2400" dirty="0"/>
              <a:t> phthalate -DBP </a:t>
            </a:r>
          </a:p>
          <a:p>
            <a:pPr>
              <a:buNone/>
            </a:pPr>
            <a:r>
              <a:rPr lang="en-US" sz="2400" dirty="0"/>
              <a:t>		di isobutyl phthalate-DIB</a:t>
            </a:r>
          </a:p>
          <a:p>
            <a:pPr>
              <a:buNone/>
            </a:pPr>
            <a:r>
              <a:rPr lang="en-US" sz="2400" dirty="0"/>
              <a:t>		di </a:t>
            </a:r>
            <a:r>
              <a:rPr lang="en-US" sz="2400" dirty="0" err="1"/>
              <a:t>octyl</a:t>
            </a:r>
            <a:r>
              <a:rPr lang="en-US" sz="2400" dirty="0"/>
              <a:t> phthalate  - DOP</a:t>
            </a:r>
          </a:p>
          <a:p>
            <a:pPr marL="0" indent="0">
              <a:buNone/>
            </a:pPr>
            <a:endParaRPr lang="en-US" dirty="0"/>
          </a:p>
          <a:p>
            <a:pPr lvl="1"/>
            <a:endParaRPr lang="en-IN" dirty="0"/>
          </a:p>
          <a:p>
            <a:endParaRPr lang="en-IN" dirty="0"/>
          </a:p>
          <a:p>
            <a:endParaRPr lang="en-IN" dirty="0"/>
          </a:p>
        </p:txBody>
      </p:sp>
    </p:spTree>
    <p:extLst>
      <p:ext uri="{BB962C8B-B14F-4D97-AF65-F5344CB8AC3E}">
        <p14:creationId xmlns:p14="http://schemas.microsoft.com/office/powerpoint/2010/main" val="31657202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0251"/>
            <a:ext cx="10515600" cy="5876712"/>
          </a:xfrm>
        </p:spPr>
        <p:txBody>
          <a:bodyPr>
            <a:noAutofit/>
          </a:bodyPr>
          <a:lstStyle/>
          <a:p>
            <a:pPr marL="0">
              <a:lnSpc>
                <a:spcPct val="100000"/>
              </a:lnSpc>
              <a:spcBef>
                <a:spcPts val="0"/>
              </a:spcBef>
            </a:pPr>
            <a:r>
              <a:rPr lang="en-IN" sz="2000" dirty="0" smtClean="0"/>
              <a:t>Extenders</a:t>
            </a:r>
          </a:p>
          <a:p>
            <a:pPr marL="0" indent="0">
              <a:lnSpc>
                <a:spcPct val="100000"/>
              </a:lnSpc>
              <a:spcBef>
                <a:spcPts val="0"/>
              </a:spcBef>
              <a:buNone/>
            </a:pPr>
            <a:r>
              <a:rPr lang="en-IN" sz="2000" dirty="0" smtClean="0"/>
              <a:t>Added in </a:t>
            </a:r>
            <a:r>
              <a:rPr lang="en-IN" sz="2000" dirty="0"/>
              <a:t>large quantities so that the cost of the compound can be reduced, without seriously affecting the final properties. </a:t>
            </a:r>
            <a:r>
              <a:rPr lang="en-IN" sz="2000" dirty="0" smtClean="0"/>
              <a:t>E.g.: Reclaimed </a:t>
            </a:r>
            <a:r>
              <a:rPr lang="en-IN" sz="2000" dirty="0"/>
              <a:t>rubber, factice </a:t>
            </a:r>
            <a:r>
              <a:rPr lang="en-IN" sz="2000" dirty="0" smtClean="0"/>
              <a:t>.</a:t>
            </a:r>
          </a:p>
          <a:p>
            <a:pPr marL="0" indent="0">
              <a:lnSpc>
                <a:spcPct val="100000"/>
              </a:lnSpc>
              <a:spcBef>
                <a:spcPts val="0"/>
              </a:spcBef>
              <a:buNone/>
            </a:pPr>
            <a:endParaRPr lang="en-IN" sz="2000" dirty="0" smtClean="0"/>
          </a:p>
          <a:p>
            <a:pPr marL="0">
              <a:lnSpc>
                <a:spcPct val="100000"/>
              </a:lnSpc>
              <a:spcBef>
                <a:spcPts val="0"/>
              </a:spcBef>
            </a:pPr>
            <a:r>
              <a:rPr lang="en-US" sz="2000" dirty="0"/>
              <a:t>Factices  </a:t>
            </a:r>
          </a:p>
          <a:p>
            <a:pPr marL="0">
              <a:lnSpc>
                <a:spcPct val="100000"/>
              </a:lnSpc>
              <a:spcBef>
                <a:spcPts val="0"/>
              </a:spcBef>
              <a:buNone/>
            </a:pPr>
            <a:r>
              <a:rPr lang="en-US" sz="2000" dirty="0" smtClean="0"/>
              <a:t>Vulcanized </a:t>
            </a:r>
            <a:r>
              <a:rPr lang="en-US" sz="2000" dirty="0"/>
              <a:t>vegetable oils used as plasticizers to get smooth compound in extrusion (brown) &amp; to reduce abrasion resistance in products like erasers  (white) </a:t>
            </a:r>
            <a:endParaRPr lang="en-US" sz="2000" dirty="0" smtClean="0"/>
          </a:p>
          <a:p>
            <a:pPr marL="0">
              <a:lnSpc>
                <a:spcPct val="100000"/>
              </a:lnSpc>
              <a:spcBef>
                <a:spcPts val="0"/>
              </a:spcBef>
              <a:buNone/>
            </a:pPr>
            <a:endParaRPr lang="en-US" sz="2000" dirty="0" smtClean="0"/>
          </a:p>
          <a:p>
            <a:pPr marL="0">
              <a:lnSpc>
                <a:spcPct val="100000"/>
              </a:lnSpc>
              <a:spcBef>
                <a:spcPts val="0"/>
              </a:spcBef>
            </a:pPr>
            <a:r>
              <a:rPr lang="en-US" sz="2000" dirty="0"/>
              <a:t>Stiffeners </a:t>
            </a:r>
          </a:p>
          <a:p>
            <a:pPr marL="0" indent="0">
              <a:lnSpc>
                <a:spcPct val="100000"/>
              </a:lnSpc>
              <a:spcBef>
                <a:spcPts val="0"/>
              </a:spcBef>
              <a:buNone/>
            </a:pPr>
            <a:r>
              <a:rPr lang="en-US" sz="2000" dirty="0"/>
              <a:t> </a:t>
            </a:r>
            <a:r>
              <a:rPr lang="en-US" sz="2000" dirty="0" smtClean="0"/>
              <a:t>     Improve </a:t>
            </a:r>
            <a:r>
              <a:rPr lang="en-US" sz="2000" dirty="0"/>
              <a:t>the plasticity of the compound in very small </a:t>
            </a:r>
            <a:r>
              <a:rPr lang="en-US" sz="2000" dirty="0" smtClean="0"/>
              <a:t>quantities. E.g. </a:t>
            </a:r>
            <a:r>
              <a:rPr lang="en-US" sz="2000" dirty="0" err="1" smtClean="0"/>
              <a:t>dihydrazine</a:t>
            </a:r>
            <a:r>
              <a:rPr lang="en-US" sz="2000" dirty="0" smtClean="0"/>
              <a:t> sulfate</a:t>
            </a:r>
          </a:p>
          <a:p>
            <a:pPr marL="0" indent="0">
              <a:lnSpc>
                <a:spcPct val="100000"/>
              </a:lnSpc>
              <a:spcBef>
                <a:spcPts val="0"/>
              </a:spcBef>
              <a:buNone/>
            </a:pPr>
            <a:endParaRPr lang="en-US" sz="2000" dirty="0"/>
          </a:p>
          <a:p>
            <a:pPr>
              <a:lnSpc>
                <a:spcPct val="100000"/>
              </a:lnSpc>
              <a:spcBef>
                <a:spcPts val="0"/>
              </a:spcBef>
            </a:pPr>
            <a:r>
              <a:rPr lang="en-US" sz="2000" dirty="0" err="1"/>
              <a:t>Peptizers</a:t>
            </a:r>
            <a:r>
              <a:rPr lang="en-US" sz="2000" dirty="0"/>
              <a:t>  </a:t>
            </a:r>
          </a:p>
          <a:p>
            <a:pPr marL="0" indent="0">
              <a:lnSpc>
                <a:spcPct val="100000"/>
              </a:lnSpc>
              <a:spcBef>
                <a:spcPts val="0"/>
              </a:spcBef>
              <a:buNone/>
            </a:pPr>
            <a:r>
              <a:rPr lang="en-US" sz="2000" dirty="0" smtClean="0"/>
              <a:t>	They </a:t>
            </a:r>
            <a:r>
              <a:rPr lang="en-US" sz="2000" dirty="0"/>
              <a:t>speed up the rate of polymer break down and also control the speed of breakdown, </a:t>
            </a:r>
            <a:r>
              <a:rPr lang="en-US" sz="2000" dirty="0" smtClean="0"/>
              <a:t>	decreasing </a:t>
            </a:r>
            <a:r>
              <a:rPr lang="en-US" sz="2000" dirty="0"/>
              <a:t>nerve within the compound and shrinkage during subsequent processing.</a:t>
            </a:r>
          </a:p>
          <a:p>
            <a:pPr>
              <a:lnSpc>
                <a:spcPct val="100000"/>
              </a:lnSpc>
              <a:spcBef>
                <a:spcPts val="0"/>
              </a:spcBef>
              <a:buFont typeface="Wingdings" panose="05000000000000000000" pitchFamily="2" charset="2"/>
              <a:buNone/>
            </a:pPr>
            <a:r>
              <a:rPr lang="en-US" sz="2000" dirty="0"/>
              <a:t>		</a:t>
            </a:r>
            <a:r>
              <a:rPr lang="en-US" sz="2000" dirty="0" smtClean="0"/>
              <a:t>E.g. </a:t>
            </a:r>
            <a:r>
              <a:rPr lang="en-US" sz="2000" dirty="0" err="1" smtClean="0"/>
              <a:t>penta</a:t>
            </a:r>
            <a:r>
              <a:rPr lang="en-US" sz="2000" dirty="0" smtClean="0"/>
              <a:t> </a:t>
            </a:r>
            <a:r>
              <a:rPr lang="en-US" sz="2000" dirty="0" err="1"/>
              <a:t>chloro</a:t>
            </a:r>
            <a:r>
              <a:rPr lang="en-US" sz="2000" dirty="0"/>
              <a:t> </a:t>
            </a:r>
            <a:r>
              <a:rPr lang="en-US" sz="2000" dirty="0" err="1"/>
              <a:t>thiophenol</a:t>
            </a:r>
            <a:r>
              <a:rPr lang="en-US" sz="2000" dirty="0"/>
              <a:t>		</a:t>
            </a:r>
          </a:p>
        </p:txBody>
      </p:sp>
    </p:spTree>
    <p:extLst>
      <p:ext uri="{BB962C8B-B14F-4D97-AF65-F5344CB8AC3E}">
        <p14:creationId xmlns:p14="http://schemas.microsoft.com/office/powerpoint/2010/main" val="24919131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838200" y="163773"/>
            <a:ext cx="10515600" cy="6013190"/>
          </a:xfrm>
        </p:spPr>
        <p:txBody>
          <a:bodyPr>
            <a:noAutofit/>
          </a:bodyPr>
          <a:lstStyle/>
          <a:p>
            <a:pPr>
              <a:lnSpc>
                <a:spcPct val="100000"/>
              </a:lnSpc>
              <a:spcBef>
                <a:spcPts val="0"/>
              </a:spcBef>
            </a:pPr>
            <a:r>
              <a:rPr lang="en-US" sz="2000" dirty="0" smtClean="0"/>
              <a:t>Flame </a:t>
            </a:r>
            <a:r>
              <a:rPr lang="en-US" sz="2000" dirty="0"/>
              <a:t>retardants </a:t>
            </a:r>
          </a:p>
          <a:p>
            <a:pPr algn="just">
              <a:buFont typeface="Wingdings" panose="05000000000000000000" pitchFamily="2" charset="2"/>
              <a:buNone/>
            </a:pPr>
            <a:r>
              <a:rPr lang="en-US" sz="2000" dirty="0"/>
              <a:t>		Chemicals which can improve the flame </a:t>
            </a:r>
            <a:r>
              <a:rPr lang="en-US" sz="2000" dirty="0" err="1"/>
              <a:t>retardency</a:t>
            </a:r>
            <a:r>
              <a:rPr lang="en-US" sz="2000" dirty="0"/>
              <a:t> of the compound</a:t>
            </a:r>
          </a:p>
          <a:p>
            <a:pPr algn="just">
              <a:buFont typeface="Wingdings" panose="05000000000000000000" pitchFamily="2" charset="2"/>
              <a:buNone/>
            </a:pPr>
            <a:r>
              <a:rPr lang="en-US" sz="2000" dirty="0"/>
              <a:t>	</a:t>
            </a:r>
            <a:r>
              <a:rPr lang="en-US" sz="2000" dirty="0" smtClean="0"/>
              <a:t>	highly </a:t>
            </a:r>
            <a:r>
              <a:rPr lang="en-US" sz="2000" dirty="0"/>
              <a:t>chlorinated </a:t>
            </a:r>
            <a:r>
              <a:rPr lang="en-US" sz="2000" dirty="0" err="1"/>
              <a:t>paraffins</a:t>
            </a:r>
            <a:r>
              <a:rPr lang="en-US" sz="2000" dirty="0"/>
              <a:t> and waxes, antimony oxide, </a:t>
            </a:r>
            <a:r>
              <a:rPr lang="en-US" sz="2000" dirty="0" err="1"/>
              <a:t>aluminium</a:t>
            </a:r>
            <a:r>
              <a:rPr lang="en-US" sz="2000" dirty="0"/>
              <a:t> oxide and selenium </a:t>
            </a:r>
          </a:p>
          <a:p>
            <a:r>
              <a:rPr lang="en-US" sz="2000" dirty="0"/>
              <a:t>Colors and pigments</a:t>
            </a:r>
          </a:p>
          <a:p>
            <a:pPr marL="0" indent="0">
              <a:buNone/>
            </a:pPr>
            <a:r>
              <a:rPr lang="en-US" sz="2000" dirty="0" smtClean="0"/>
              <a:t>	They </a:t>
            </a:r>
            <a:r>
              <a:rPr lang="en-US" sz="2000" dirty="0"/>
              <a:t>provide esthetic look and appearance for the product [organic and inorganic] </a:t>
            </a:r>
          </a:p>
          <a:p>
            <a:r>
              <a:rPr lang="en-US" sz="2000" dirty="0" err="1"/>
              <a:t>Tackifying</a:t>
            </a:r>
            <a:r>
              <a:rPr lang="en-US" sz="2000" dirty="0"/>
              <a:t> agents </a:t>
            </a:r>
          </a:p>
          <a:p>
            <a:pPr lvl="1">
              <a:buFont typeface="Wingdings" panose="05000000000000000000" pitchFamily="2" charset="2"/>
              <a:buNone/>
            </a:pPr>
            <a:r>
              <a:rPr lang="en-US" sz="2000" dirty="0"/>
              <a:t>	They are useful in providing tackiness to the compound.</a:t>
            </a:r>
          </a:p>
          <a:p>
            <a:pPr lvl="1">
              <a:buFont typeface="Wingdings" panose="05000000000000000000" pitchFamily="2" charset="2"/>
              <a:buNone/>
            </a:pPr>
            <a:r>
              <a:rPr lang="en-US" sz="2000" dirty="0"/>
              <a:t>	</a:t>
            </a:r>
            <a:r>
              <a:rPr lang="en-US" sz="2000" dirty="0" smtClean="0"/>
              <a:t>			E.g. wood </a:t>
            </a:r>
            <a:r>
              <a:rPr lang="en-US" sz="2000" dirty="0"/>
              <a:t>rosin, coumarone resins, pine tar</a:t>
            </a:r>
            <a:r>
              <a:rPr lang="en-US" sz="2000" dirty="0" smtClean="0"/>
              <a:t>.</a:t>
            </a:r>
          </a:p>
          <a:p>
            <a:r>
              <a:rPr lang="en-US" sz="2000" dirty="0"/>
              <a:t>Blowing agents </a:t>
            </a:r>
          </a:p>
          <a:p>
            <a:pPr marL="0" indent="0">
              <a:buNone/>
            </a:pPr>
            <a:r>
              <a:rPr lang="en-US" sz="2000" dirty="0" smtClean="0"/>
              <a:t>	They </a:t>
            </a:r>
            <a:r>
              <a:rPr lang="en-US" sz="2000" dirty="0"/>
              <a:t>are materials which provide either open or closed cell structure by producing CO</a:t>
            </a:r>
            <a:r>
              <a:rPr lang="en-US" sz="2000" baseline="-25000" dirty="0"/>
              <a:t>2</a:t>
            </a:r>
            <a:r>
              <a:rPr lang="en-US" sz="2000" dirty="0"/>
              <a:t> or </a:t>
            </a:r>
            <a:r>
              <a:rPr lang="en-US" sz="2000" dirty="0" smtClean="0"/>
              <a:t>	nitrous </a:t>
            </a:r>
            <a:r>
              <a:rPr lang="en-US" sz="2000" dirty="0"/>
              <a:t>gases during vulcanization </a:t>
            </a:r>
          </a:p>
          <a:p>
            <a:pPr marL="0" indent="0">
              <a:buNone/>
            </a:pPr>
            <a:r>
              <a:rPr lang="en-US" sz="2000" dirty="0" smtClean="0"/>
              <a:t>		</a:t>
            </a:r>
            <a:r>
              <a:rPr lang="en-US" sz="2000" dirty="0" err="1" smtClean="0"/>
              <a:t>dinitroso</a:t>
            </a:r>
            <a:r>
              <a:rPr lang="en-US" sz="2000" dirty="0" smtClean="0"/>
              <a:t> </a:t>
            </a:r>
            <a:r>
              <a:rPr lang="en-US" sz="2000" dirty="0" err="1"/>
              <a:t>pentamethylene</a:t>
            </a:r>
            <a:r>
              <a:rPr lang="en-US" sz="2000" dirty="0"/>
              <a:t> </a:t>
            </a:r>
            <a:r>
              <a:rPr lang="en-US" sz="2000" dirty="0" err="1"/>
              <a:t>tetramene</a:t>
            </a:r>
            <a:r>
              <a:rPr lang="en-US" sz="2000" dirty="0"/>
              <a:t> (</a:t>
            </a:r>
            <a:r>
              <a:rPr lang="en-US" sz="2000" dirty="0" smtClean="0"/>
              <a:t>DNPT) , </a:t>
            </a:r>
            <a:r>
              <a:rPr lang="en-US" sz="2000" dirty="0" err="1" smtClean="0"/>
              <a:t>azocarbonamide</a:t>
            </a:r>
            <a:r>
              <a:rPr lang="en-US" sz="2000" dirty="0" smtClean="0"/>
              <a:t> </a:t>
            </a:r>
            <a:r>
              <a:rPr lang="en-US" sz="2000" dirty="0"/>
              <a:t>(</a:t>
            </a:r>
            <a:r>
              <a:rPr lang="en-US" sz="2000" dirty="0" smtClean="0"/>
              <a:t>ADC), baking </a:t>
            </a:r>
            <a:r>
              <a:rPr lang="en-US" sz="2000" dirty="0"/>
              <a:t>soda </a:t>
            </a:r>
            <a:r>
              <a:rPr lang="en-US" sz="2000" dirty="0" smtClean="0"/>
              <a:t>		(</a:t>
            </a:r>
            <a:r>
              <a:rPr lang="en-US" sz="2000" dirty="0" err="1"/>
              <a:t>sod.bicarbonate</a:t>
            </a:r>
            <a:r>
              <a:rPr lang="en-US" sz="2000" dirty="0" smtClean="0"/>
              <a:t>)</a:t>
            </a:r>
            <a:r>
              <a:rPr lang="en-US" sz="2000" dirty="0"/>
              <a:t>	</a:t>
            </a:r>
          </a:p>
          <a:p>
            <a:r>
              <a:rPr lang="en-US" sz="2000" dirty="0"/>
              <a:t>Bonding agents</a:t>
            </a:r>
          </a:p>
          <a:p>
            <a:pPr marL="0" indent="0">
              <a:buNone/>
            </a:pPr>
            <a:r>
              <a:rPr lang="en-US" sz="2000" dirty="0"/>
              <a:t>They facilitate adhesion between rubbers, fibers, fabrics, metals</a:t>
            </a:r>
          </a:p>
          <a:p>
            <a:pPr marL="0" indent="0">
              <a:buNone/>
            </a:pPr>
            <a:r>
              <a:rPr lang="en-US" sz="2000" dirty="0"/>
              <a:t>	</a:t>
            </a:r>
            <a:r>
              <a:rPr lang="en-US" sz="2000" dirty="0" err="1"/>
              <a:t>chemlok</a:t>
            </a:r>
            <a:r>
              <a:rPr lang="en-US" sz="2000" dirty="0"/>
              <a:t>,  resorcinol – formaldehyde- latex for dipping of nylon cords in </a:t>
            </a:r>
            <a:r>
              <a:rPr lang="en-US" sz="2000" dirty="0" err="1"/>
              <a:t>tyre</a:t>
            </a:r>
            <a:r>
              <a:rPr lang="en-US" sz="2000" dirty="0"/>
              <a:t> manufacture</a:t>
            </a:r>
          </a:p>
          <a:p>
            <a:pPr lvl="1">
              <a:buFont typeface="Wingdings" panose="05000000000000000000" pitchFamily="2" charset="2"/>
              <a:buNone/>
            </a:pPr>
            <a:endParaRPr lang="en-US" sz="2000" dirty="0"/>
          </a:p>
          <a:p>
            <a:pPr marL="0">
              <a:lnSpc>
                <a:spcPct val="100000"/>
              </a:lnSpc>
              <a:spcBef>
                <a:spcPts val="0"/>
              </a:spcBef>
            </a:pPr>
            <a:endParaRPr lang="en-US" sz="2000" dirty="0"/>
          </a:p>
          <a:p>
            <a:pPr marL="0" indent="0">
              <a:lnSpc>
                <a:spcPct val="100000"/>
              </a:lnSpc>
              <a:spcBef>
                <a:spcPts val="0"/>
              </a:spcBef>
              <a:buNone/>
            </a:pPr>
            <a:r>
              <a:rPr lang="en-IN" sz="2000" dirty="0"/>
              <a:t> </a:t>
            </a:r>
          </a:p>
          <a:p>
            <a:pPr lvl="1">
              <a:buFont typeface="Wingdings" panose="05000000000000000000" pitchFamily="2" charset="2"/>
              <a:buNone/>
            </a:pPr>
            <a:endParaRPr lang="en-US" sz="2000" dirty="0"/>
          </a:p>
          <a:p>
            <a:pPr marL="0">
              <a:lnSpc>
                <a:spcPct val="100000"/>
              </a:lnSpc>
              <a:spcBef>
                <a:spcPts val="0"/>
              </a:spcBef>
            </a:pPr>
            <a:endParaRPr lang="en-US" sz="2000" dirty="0"/>
          </a:p>
          <a:p>
            <a:pPr marL="0" indent="0">
              <a:lnSpc>
                <a:spcPct val="100000"/>
              </a:lnSpc>
              <a:spcBef>
                <a:spcPts val="0"/>
              </a:spcBef>
              <a:buNone/>
            </a:pPr>
            <a:r>
              <a:rPr lang="en-IN" sz="2000" dirty="0" smtClean="0"/>
              <a:t> </a:t>
            </a:r>
            <a:endParaRPr lang="en-IN" sz="2000" dirty="0"/>
          </a:p>
        </p:txBody>
      </p:sp>
    </p:spTree>
    <p:extLst>
      <p:ext uri="{BB962C8B-B14F-4D97-AF65-F5344CB8AC3E}">
        <p14:creationId xmlns:p14="http://schemas.microsoft.com/office/powerpoint/2010/main" val="9701010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1194"/>
            <a:ext cx="10515600" cy="5835769"/>
          </a:xfrm>
        </p:spPr>
        <p:txBody>
          <a:bodyPr>
            <a:normAutofit/>
          </a:bodyPr>
          <a:lstStyle/>
          <a:p>
            <a:pPr marL="0" indent="0">
              <a:buNone/>
            </a:pPr>
            <a:r>
              <a:rPr lang="en-IN" b="1" dirty="0" err="1" smtClean="0"/>
              <a:t>Silane</a:t>
            </a:r>
            <a:r>
              <a:rPr lang="en-IN" b="1" dirty="0" smtClean="0"/>
              <a:t> </a:t>
            </a:r>
            <a:r>
              <a:rPr lang="en-IN" b="1" dirty="0"/>
              <a:t>Coupling Agents </a:t>
            </a:r>
            <a:endParaRPr lang="en-IN" dirty="0"/>
          </a:p>
          <a:p>
            <a:r>
              <a:rPr lang="en-IN" sz="2400" dirty="0" smtClean="0"/>
              <a:t>improve </a:t>
            </a:r>
            <a:r>
              <a:rPr lang="en-IN" sz="2400" dirty="0"/>
              <a:t>properties of compounds containing silica and silicate fillers by forming chemical bonds across the filler and the rubber interface. </a:t>
            </a:r>
            <a:endParaRPr lang="en-IN" sz="2400" dirty="0" smtClean="0"/>
          </a:p>
          <a:p>
            <a:r>
              <a:rPr lang="en-IN" sz="2400" dirty="0" err="1" smtClean="0"/>
              <a:t>bis</a:t>
            </a:r>
            <a:r>
              <a:rPr lang="en-IN" sz="2400" dirty="0" smtClean="0"/>
              <a:t>-</a:t>
            </a:r>
            <a:r>
              <a:rPr lang="en-IN" sz="2400" dirty="0"/>
              <a:t>(3-triethoxysilylpropyl)</a:t>
            </a:r>
            <a:r>
              <a:rPr lang="en-IN" sz="2400" dirty="0" err="1"/>
              <a:t>tetrasulphane</a:t>
            </a:r>
            <a:r>
              <a:rPr lang="en-IN" sz="2400" dirty="0"/>
              <a:t> and 3-thio-cyanatopropyl </a:t>
            </a:r>
            <a:r>
              <a:rPr lang="en-IN" sz="2400" dirty="0" err="1"/>
              <a:t>triethoxy</a:t>
            </a:r>
            <a:r>
              <a:rPr lang="en-IN" sz="2400" dirty="0"/>
              <a:t> </a:t>
            </a:r>
            <a:r>
              <a:rPr lang="en-IN" sz="2400" dirty="0" err="1"/>
              <a:t>silane</a:t>
            </a:r>
            <a:r>
              <a:rPr lang="en-IN" sz="2400" dirty="0"/>
              <a:t>. </a:t>
            </a:r>
          </a:p>
          <a:p>
            <a:pPr marL="0" indent="0">
              <a:buNone/>
            </a:pPr>
            <a:r>
              <a:rPr lang="en-IN" sz="2400" dirty="0"/>
              <a:t>The effect of coupling agents on the physical properties of the compound is to: </a:t>
            </a:r>
          </a:p>
          <a:p>
            <a:pPr lvl="1"/>
            <a:r>
              <a:rPr lang="en-IN" dirty="0"/>
              <a:t>lower compression set</a:t>
            </a:r>
          </a:p>
          <a:p>
            <a:pPr lvl="1"/>
            <a:r>
              <a:rPr lang="en-IN" dirty="0"/>
              <a:t>reduce heat build-up under dynamic conditions,</a:t>
            </a:r>
          </a:p>
          <a:p>
            <a:pPr lvl="1"/>
            <a:r>
              <a:rPr lang="en-IN" dirty="0"/>
              <a:t>reduce tan delta, improve crosslink stability</a:t>
            </a:r>
          </a:p>
          <a:p>
            <a:pPr lvl="1"/>
            <a:r>
              <a:rPr lang="en-IN" dirty="0"/>
              <a:t>improve tear related characteristics</a:t>
            </a:r>
          </a:p>
          <a:p>
            <a:pPr lvl="1"/>
            <a:r>
              <a:rPr lang="en-IN" dirty="0"/>
              <a:t>improve resistance to swelling by water. </a:t>
            </a:r>
          </a:p>
          <a:p>
            <a:pPr lvl="1"/>
            <a:r>
              <a:rPr lang="en-IN" dirty="0" smtClean="0"/>
              <a:t>improve </a:t>
            </a:r>
            <a:r>
              <a:rPr lang="en-IN" dirty="0"/>
              <a:t>the abrasion resistance of compounds containing silica reinforcement. The effect is dependent on the surface area of the silica.</a:t>
            </a:r>
          </a:p>
        </p:txBody>
      </p:sp>
    </p:spTree>
    <p:extLst>
      <p:ext uri="{BB962C8B-B14F-4D97-AF65-F5344CB8AC3E}">
        <p14:creationId xmlns:p14="http://schemas.microsoft.com/office/powerpoint/2010/main" val="6254172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2513" y="804926"/>
            <a:ext cx="9280478" cy="5078313"/>
          </a:xfrm>
          <a:prstGeom prst="rect">
            <a:avLst/>
          </a:prstGeom>
        </p:spPr>
        <p:txBody>
          <a:bodyPr wrap="square">
            <a:spAutoFit/>
          </a:bodyPr>
          <a:lstStyle/>
          <a:p>
            <a:pPr algn="just">
              <a:lnSpc>
                <a:spcPct val="150000"/>
              </a:lnSpc>
              <a:spcAft>
                <a:spcPts val="0"/>
              </a:spcAft>
            </a:pPr>
            <a:r>
              <a:rPr lang="en-IN" b="1" dirty="0" err="1">
                <a:latin typeface="Calibri" panose="020F0502020204030204" pitchFamily="34" charset="0"/>
                <a:ea typeface="Calibri" panose="020F0502020204030204" pitchFamily="34" charset="0"/>
                <a:cs typeface="Times New Roman" panose="02020603050405020304" pitchFamily="18" charset="0"/>
              </a:rPr>
              <a:t>Tackifiers</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latin typeface="Calibri" panose="020F0502020204030204" pitchFamily="34" charset="0"/>
                <a:ea typeface="Calibri" panose="020F0502020204030204" pitchFamily="34" charset="0"/>
                <a:cs typeface="Times New Roman" panose="02020603050405020304" pitchFamily="18" charset="0"/>
              </a:rPr>
              <a:t>	</a:t>
            </a:r>
            <a:r>
              <a:rPr lang="en-IN" dirty="0" smtClean="0">
                <a:latin typeface="Calibri" panose="020F0502020204030204" pitchFamily="34" charset="0"/>
                <a:ea typeface="Calibri" panose="020F0502020204030204" pitchFamily="34" charset="0"/>
                <a:cs typeface="Times New Roman" panose="02020603050405020304" pitchFamily="18" charset="0"/>
              </a:rPr>
              <a:t>synthetic </a:t>
            </a:r>
            <a:r>
              <a:rPr lang="en-IN" dirty="0">
                <a:latin typeface="Calibri" panose="020F0502020204030204" pitchFamily="34" charset="0"/>
                <a:ea typeface="Calibri" panose="020F0502020204030204" pitchFamily="34" charset="0"/>
                <a:cs typeface="Times New Roman" panose="02020603050405020304" pitchFamily="18" charset="0"/>
              </a:rPr>
              <a:t>rubbers are less tacky than natural rubber, it is often necessary to add </a:t>
            </a:r>
            <a:r>
              <a:rPr lang="en-IN" dirty="0" err="1">
                <a:latin typeface="Calibri" panose="020F0502020204030204" pitchFamily="34" charset="0"/>
                <a:ea typeface="Calibri" panose="020F0502020204030204" pitchFamily="34" charset="0"/>
                <a:cs typeface="Times New Roman" panose="02020603050405020304" pitchFamily="18" charset="0"/>
              </a:rPr>
              <a:t>tackifying</a:t>
            </a:r>
            <a:r>
              <a:rPr lang="en-IN" dirty="0">
                <a:latin typeface="Calibri" panose="020F0502020204030204" pitchFamily="34" charset="0"/>
                <a:ea typeface="Calibri" panose="020F0502020204030204" pitchFamily="34" charset="0"/>
                <a:cs typeface="Times New Roman" panose="02020603050405020304" pitchFamily="18" charset="0"/>
              </a:rPr>
              <a:t> substances. These should lead to improved uncured ply adhesion on assembling.  Examples include CI resin, rosin derivatives, alkyl phenol-aldehyde resins etc.</a:t>
            </a:r>
          </a:p>
          <a:p>
            <a:pPr algn="just">
              <a:lnSpc>
                <a:spcPct val="150000"/>
              </a:lnSpc>
              <a:spcAft>
                <a:spcPts val="0"/>
              </a:spcAft>
            </a:pPr>
            <a:r>
              <a:rPr lang="en-IN" b="1" dirty="0">
                <a:latin typeface="Calibri" panose="020F0502020204030204" pitchFamily="34" charset="0"/>
                <a:ea typeface="Calibri" panose="020F0502020204030204" pitchFamily="34" charset="0"/>
                <a:cs typeface="Times New Roman" panose="02020603050405020304" pitchFamily="18" charset="0"/>
              </a:rPr>
              <a:t>Colours and Pigments</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a:latin typeface="Calibri" panose="020F0502020204030204" pitchFamily="34" charset="0"/>
                <a:ea typeface="Calibri" panose="020F0502020204030204" pitchFamily="34" charset="0"/>
                <a:cs typeface="Times New Roman" panose="02020603050405020304" pitchFamily="18" charset="0"/>
              </a:rPr>
              <a:t>Pigments can be classified as inorganic or organic. </a:t>
            </a:r>
            <a:endParaRPr lang="en-IN" dirty="0" smtClean="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smtClean="0">
                <a:latin typeface="Calibri" panose="020F0502020204030204" pitchFamily="34" charset="0"/>
                <a:ea typeface="Calibri" panose="020F0502020204030204" pitchFamily="34" charset="0"/>
                <a:cs typeface="Times New Roman" panose="02020603050405020304" pitchFamily="18" charset="0"/>
              </a:rPr>
              <a:t>Inorganic </a:t>
            </a:r>
            <a:r>
              <a:rPr lang="en-IN" dirty="0">
                <a:latin typeface="Calibri" panose="020F0502020204030204" pitchFamily="34" charset="0"/>
                <a:ea typeface="Calibri" panose="020F0502020204030204" pitchFamily="34" charset="0"/>
                <a:cs typeface="Times New Roman" panose="02020603050405020304" pitchFamily="18" charset="0"/>
              </a:rPr>
              <a:t>pigments are often dull and in some cases </a:t>
            </a:r>
            <a:r>
              <a:rPr lang="en-IN" dirty="0" smtClean="0">
                <a:latin typeface="Calibri" panose="020F0502020204030204" pitchFamily="34" charset="0"/>
                <a:ea typeface="Calibri" panose="020F0502020204030204" pitchFamily="34" charset="0"/>
                <a:cs typeface="Times New Roman" panose="02020603050405020304" pitchFamily="18" charset="0"/>
              </a:rPr>
              <a:t>too , insoluble </a:t>
            </a:r>
            <a:r>
              <a:rPr lang="en-IN" dirty="0">
                <a:latin typeface="Calibri" panose="020F0502020204030204" pitchFamily="34" charset="0"/>
                <a:ea typeface="Calibri" panose="020F0502020204030204" pitchFamily="34" charset="0"/>
                <a:cs typeface="Times New Roman" panose="02020603050405020304" pitchFamily="18" charset="0"/>
              </a:rPr>
              <a:t>and thus cannot bloom. Organic pigments </a:t>
            </a:r>
            <a:r>
              <a:rPr lang="en-IN" dirty="0" smtClean="0">
                <a:latin typeface="Calibri" panose="020F0502020204030204" pitchFamily="34" charset="0"/>
                <a:ea typeface="Calibri" panose="020F0502020204030204" pitchFamily="34" charset="0"/>
                <a:cs typeface="Times New Roman" panose="02020603050405020304" pitchFamily="18" charset="0"/>
              </a:rPr>
              <a:t>- brighter shades, more </a:t>
            </a:r>
            <a:r>
              <a:rPr lang="en-IN" dirty="0">
                <a:latin typeface="Calibri" panose="020F0502020204030204" pitchFamily="34" charset="0"/>
                <a:ea typeface="Calibri" panose="020F0502020204030204" pitchFamily="34" charset="0"/>
                <a:cs typeface="Times New Roman" panose="02020603050405020304" pitchFamily="18" charset="0"/>
              </a:rPr>
              <a:t>sensitive to heat and other chemicals. On long term exposure to sunlight they can fade badly. </a:t>
            </a:r>
            <a:endParaRPr lang="en-IN" dirty="0" smtClean="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smtClean="0">
                <a:latin typeface="Calibri" panose="020F0502020204030204" pitchFamily="34" charset="0"/>
                <a:ea typeface="Calibri" panose="020F0502020204030204" pitchFamily="34" charset="0"/>
                <a:cs typeface="Times New Roman" panose="02020603050405020304" pitchFamily="18" charset="0"/>
              </a:rPr>
              <a:t>Inorganic colours : iron </a:t>
            </a:r>
            <a:r>
              <a:rPr lang="en-IN" dirty="0">
                <a:latin typeface="Calibri" panose="020F0502020204030204" pitchFamily="34" charset="0"/>
                <a:ea typeface="Calibri" panose="020F0502020204030204" pitchFamily="34" charset="0"/>
                <a:cs typeface="Times New Roman" panose="02020603050405020304" pitchFamily="18" charset="0"/>
              </a:rPr>
              <a:t>oxide, chromium oxide </a:t>
            </a:r>
            <a:endParaRPr lang="en-IN" dirty="0" smtClean="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0"/>
              </a:spcAft>
            </a:pPr>
            <a:r>
              <a:rPr lang="en-IN" dirty="0" smtClean="0">
                <a:latin typeface="Calibri" panose="020F0502020204030204" pitchFamily="34" charset="0"/>
                <a:ea typeface="Calibri" panose="020F0502020204030204" pitchFamily="34" charset="0"/>
                <a:cs typeface="Times New Roman" panose="02020603050405020304" pitchFamily="18" charset="0"/>
              </a:rPr>
              <a:t>Organic </a:t>
            </a:r>
            <a:r>
              <a:rPr lang="en-IN" dirty="0">
                <a:latin typeface="Calibri" panose="020F0502020204030204" pitchFamily="34" charset="0"/>
                <a:ea typeface="Calibri" panose="020F0502020204030204" pitchFamily="34" charset="0"/>
                <a:cs typeface="Times New Roman" panose="02020603050405020304" pitchFamily="18" charset="0"/>
              </a:rPr>
              <a:t>pigments contains different </a:t>
            </a:r>
            <a:r>
              <a:rPr lang="en-IN" dirty="0" err="1">
                <a:latin typeface="Calibri" panose="020F0502020204030204" pitchFamily="34" charset="0"/>
                <a:ea typeface="Calibri" panose="020F0502020204030204" pitchFamily="34" charset="0"/>
                <a:cs typeface="Times New Roman" panose="02020603050405020304" pitchFamily="18" charset="0"/>
              </a:rPr>
              <a:t>chromophore</a:t>
            </a:r>
            <a:r>
              <a:rPr lang="en-IN" dirty="0">
                <a:latin typeface="Calibri" panose="020F0502020204030204" pitchFamily="34" charset="0"/>
                <a:ea typeface="Calibri" panose="020F0502020204030204" pitchFamily="34" charset="0"/>
                <a:cs typeface="Times New Roman" panose="02020603050405020304" pitchFamily="18" charset="0"/>
              </a:rPr>
              <a:t> groups, these are mainly amines and </a:t>
            </a:r>
            <a:r>
              <a:rPr lang="en-IN" dirty="0" err="1">
                <a:latin typeface="Calibri" panose="020F0502020204030204" pitchFamily="34" charset="0"/>
                <a:ea typeface="Calibri" panose="020F0502020204030204" pitchFamily="34" charset="0"/>
                <a:cs typeface="Times New Roman" panose="02020603050405020304" pitchFamily="18" charset="0"/>
              </a:rPr>
              <a:t>azo</a:t>
            </a:r>
            <a:r>
              <a:rPr lang="en-IN" dirty="0">
                <a:latin typeface="Calibri" panose="020F0502020204030204" pitchFamily="34" charset="0"/>
                <a:ea typeface="Calibri" panose="020F0502020204030204" pitchFamily="34" charset="0"/>
                <a:cs typeface="Times New Roman" panose="02020603050405020304" pitchFamily="18" charset="0"/>
              </a:rPr>
              <a:t>-compounds such as </a:t>
            </a:r>
            <a:r>
              <a:rPr lang="en-IN" dirty="0" err="1">
                <a:latin typeface="Calibri" panose="020F0502020204030204" pitchFamily="34" charset="0"/>
                <a:ea typeface="Calibri" panose="020F0502020204030204" pitchFamily="34" charset="0"/>
                <a:cs typeface="Times New Roman" panose="02020603050405020304" pitchFamily="18" charset="0"/>
              </a:rPr>
              <a:t>phthalocyanines</a:t>
            </a:r>
            <a:r>
              <a:rPr lang="en-IN" dirty="0">
                <a:latin typeface="Calibri" panose="020F0502020204030204" pitchFamily="34"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2096522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2603</TotalTime>
  <Words>4308</Words>
  <Application>Microsoft Office PowerPoint</Application>
  <PresentationFormat>Widescreen</PresentationFormat>
  <Paragraphs>666</Paragraphs>
  <Slides>67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Calibri Light</vt:lpstr>
      <vt:lpstr>Times New Roman</vt:lpstr>
      <vt:lpstr>Wingdings</vt:lpstr>
      <vt:lpstr>Office Theme</vt:lpstr>
      <vt:lpstr>TECHNOLOGY OF ELASTOMERS  Module I Compounding Ingredients</vt:lpstr>
      <vt:lpstr>To Comprehend the preparation , properties and applications of compounding ingredients</vt:lpstr>
      <vt:lpstr>PowerPoint Presentation</vt:lpstr>
      <vt:lpstr>Rubber Compounding</vt:lpstr>
      <vt:lpstr>Classification of Compounding Ingredients</vt:lpstr>
      <vt:lpstr>Elastomers/ Rubber</vt:lpstr>
      <vt:lpstr>PowerPoint Presentation</vt:lpstr>
      <vt:lpstr>Vulcanizing Agents/Curatives</vt:lpstr>
      <vt:lpstr>History of Vulcanization</vt:lpstr>
      <vt:lpstr>PowerPoint Presentation</vt:lpstr>
      <vt:lpstr>PowerPoint Presentation</vt:lpstr>
      <vt:lpstr>Sulphur Curing</vt:lpstr>
      <vt:lpstr>PowerPoint Presentation</vt:lpstr>
      <vt:lpstr>Accelerators</vt:lpstr>
      <vt:lpstr>Characteristics of an accelerator</vt:lpstr>
      <vt:lpstr>Activators</vt:lpstr>
      <vt:lpstr>Classification of accelerators</vt:lpstr>
      <vt:lpstr>PowerPoint Presentation</vt:lpstr>
      <vt:lpstr>Thiazole Accelerators</vt:lpstr>
      <vt:lpstr>Sulphenamide accelerators</vt:lpstr>
      <vt:lpstr>Thiuram accelerators</vt:lpstr>
      <vt:lpstr>Dithiocarbamate Accelerators</vt:lpstr>
      <vt:lpstr>Guanidines</vt:lpstr>
      <vt:lpstr>Xanthates</vt:lpstr>
      <vt:lpstr>Thioureas</vt:lpstr>
      <vt:lpstr>Sulphur donors</vt:lpstr>
      <vt:lpstr>Retarders/ Prevulcanization inhibitors (PVI)</vt:lpstr>
      <vt:lpstr>Non- Sulphur Vulcanization</vt:lpstr>
      <vt:lpstr>Peroxide Curing</vt:lpstr>
      <vt:lpstr>PowerPoint Presentation</vt:lpstr>
      <vt:lpstr>Metal Oxide Curing</vt:lpstr>
      <vt:lpstr>Resin Curing</vt:lpstr>
      <vt:lpstr>PowerPoint Presentation</vt:lpstr>
      <vt:lpstr>Radiation Induced Crosslinking  </vt:lpstr>
      <vt:lpstr>Antidegradants</vt:lpstr>
      <vt:lpstr>Factors contributing to degradation</vt:lpstr>
      <vt:lpstr>PowerPoint Presentation</vt:lpstr>
      <vt:lpstr>PowerPoint Presentation</vt:lpstr>
      <vt:lpstr>PowerPoint Presentation</vt:lpstr>
      <vt:lpstr>PowerPoint Presentation</vt:lpstr>
      <vt:lpstr>PowerPoint Presentation</vt:lpstr>
      <vt:lpstr>Reinforcement by fillers</vt:lpstr>
      <vt:lpstr>Factors influencing elastomer reinforcement</vt:lpstr>
      <vt:lpstr>Carbon black </vt:lpstr>
      <vt:lpstr>Depending on the process adopted for the preparation, carbon blacks are classified as</vt:lpstr>
      <vt:lpstr>Properties of Carbon black</vt:lpstr>
      <vt:lpstr>Important properties of carbon black</vt:lpstr>
      <vt:lpstr>Particle size</vt:lpstr>
      <vt:lpstr>Determination of particle size</vt:lpstr>
      <vt:lpstr>Structure</vt:lpstr>
      <vt:lpstr>Structure</vt:lpstr>
      <vt:lpstr>Determination of structure</vt:lpstr>
      <vt:lpstr>PowerPoint Presentation</vt:lpstr>
      <vt:lpstr>Physical nature of the particle surface </vt:lpstr>
      <vt:lpstr>Chemical nature of particle surface</vt:lpstr>
      <vt:lpstr>Particle porosity</vt:lpstr>
      <vt:lpstr>PowerPoint Presentation</vt:lpstr>
      <vt:lpstr>PowerPoint Presentation</vt:lpstr>
      <vt:lpstr>PowerPoint Presentation</vt:lpstr>
      <vt:lpstr>PowerPoint Presentation</vt:lpstr>
      <vt:lpstr>Silica </vt:lpstr>
      <vt:lpstr>Plasticisers and extenders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241</cp:revision>
  <dcterms:created xsi:type="dcterms:W3CDTF">2020-05-26T08:46:11Z</dcterms:created>
  <dcterms:modified xsi:type="dcterms:W3CDTF">2020-06-25T18:18:10Z</dcterms:modified>
</cp:coreProperties>
</file>